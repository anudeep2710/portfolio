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Play"/>
      <p:bold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schemas.openxmlformats.org/officeDocument/2006/relationships/font" Target="fonts/Play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g3f0b75ed909_2_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g3f0b75ed909_2_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" name="Google Shape;10;g3f0b75ed909_2_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f0b75ed909_2_6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4" name="Google Shape;64;g3f0b75ed909_2_6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g3f0b75ed909_2_6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f0b75ed909_2_10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9" name="Google Shape;109;g3f0b75ed909_2_10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g3f0b75ed909_2_10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f0b75ed909_2_16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0" name="Google Shape;170;g3f0b75ed909_2_16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g3f0b75ed909_2_16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f0b75ed909_2_26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3" name="Google Shape;273;g3f0b75ed909_2_26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g3f0b75ed909_2_26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3f0b75ed909_2_32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3" name="Google Shape;333;g3f0b75ed909_2_32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g3f0b75ed909_2_32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3f0b75ed909_2_39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05" name="Google Shape;405;g3f0b75ed909_2_39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g3f0b75ed909_2_39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g3f0b75ed909_2_50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08" name="Google Shape;508;g3f0b75ed909_2_50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g3f0b75ed909_2_50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g3f0b75ed909_2_57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84" name="Google Shape;584;g3f0b75ed909_2_57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g3f0b75ed909_2_57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2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g3f0b75ed909_2_67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84" name="Google Shape;684;g3f0b75ed909_2_67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5" name="Google Shape;685;g3f0b75ed909_2_67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3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1000" y="428625"/>
            <a:ext cx="528600" cy="5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3"/>
          <p:cNvSpPr txBox="1"/>
          <p:nvPr/>
        </p:nvSpPr>
        <p:spPr>
          <a:xfrm>
            <a:off x="1047750" y="381000"/>
            <a:ext cx="4286400" cy="80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600">
                <a:solidFill>
                  <a:srgbClr val="0B1220"/>
                </a:solidFill>
                <a:latin typeface="Play"/>
                <a:ea typeface="Play"/>
                <a:cs typeface="Play"/>
                <a:sym typeface="Play"/>
              </a:rPr>
              <a:t>Rapido Privacy Shield</a:t>
            </a:r>
            <a:endParaRPr b="1" sz="2600">
              <a:solidFill>
                <a:srgbClr val="0B1220"/>
              </a:solidFill>
              <a:latin typeface="Play"/>
              <a:ea typeface="Play"/>
              <a:cs typeface="Play"/>
              <a:sym typeface="Play"/>
            </a:endParaRPr>
          </a:p>
          <a:p>
            <a:pPr indent="0" lvl="0" marL="0" rtl="0" algn="l">
              <a:spcBef>
                <a:spcPts val="15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rgbClr val="536170"/>
                </a:solidFill>
                <a:latin typeface="Arial"/>
                <a:ea typeface="Arial"/>
                <a:cs typeface="Arial"/>
                <a:sym typeface="Arial"/>
              </a:rPr>
              <a:t>Purpose-Bound Ride Data</a:t>
            </a:r>
            <a:endParaRPr b="1" sz="1300">
              <a:solidFill>
                <a:srgbClr val="53617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" name="Google Shape;14;p3"/>
          <p:cNvGrpSpPr/>
          <p:nvPr/>
        </p:nvGrpSpPr>
        <p:grpSpPr>
          <a:xfrm>
            <a:off x="6381750" y="457200"/>
            <a:ext cx="2381400" cy="304800"/>
            <a:chOff x="6381750" y="457200"/>
            <a:chExt cx="2381400" cy="304800"/>
          </a:xfrm>
        </p:grpSpPr>
        <p:sp>
          <p:nvSpPr>
            <p:cNvPr id="15" name="Google Shape;15;p3"/>
            <p:cNvSpPr/>
            <p:nvPr/>
          </p:nvSpPr>
          <p:spPr>
            <a:xfrm>
              <a:off x="6381750" y="457200"/>
              <a:ext cx="2381400" cy="304800"/>
            </a:xfrm>
            <a:prstGeom prst="roundRect">
              <a:avLst>
                <a:gd fmla="val 50000" name="adj"/>
              </a:avLst>
            </a:prstGeom>
            <a:solidFill>
              <a:srgbClr val="FFFFFF"/>
            </a:solidFill>
            <a:ln cap="flat" cmpd="sng" w="14300">
              <a:solidFill>
                <a:srgbClr val="DCE4E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3"/>
            <p:cNvSpPr txBox="1"/>
            <p:nvPr/>
          </p:nvSpPr>
          <p:spPr>
            <a:xfrm>
              <a:off x="6477000" y="457200"/>
              <a:ext cx="21909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850">
                  <a:solidFill>
                    <a:srgbClr val="075E4C"/>
                  </a:solidFill>
                  <a:latin typeface="Arial"/>
                  <a:ea typeface="Arial"/>
                  <a:cs typeface="Arial"/>
                  <a:sym typeface="Arial"/>
                </a:rPr>
                <a:t>DPDP Case Study PM Assignment</a:t>
              </a:r>
              <a:endParaRPr b="1" sz="850">
                <a:solidFill>
                  <a:srgbClr val="075E4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" name="Google Shape;17;p3"/>
          <p:cNvGrpSpPr/>
          <p:nvPr/>
        </p:nvGrpSpPr>
        <p:grpSpPr>
          <a:xfrm>
            <a:off x="381000" y="1409700"/>
            <a:ext cx="3905400" cy="2647950"/>
            <a:chOff x="381000" y="1409700"/>
            <a:chExt cx="3905400" cy="2647950"/>
          </a:xfrm>
        </p:grpSpPr>
        <p:pic>
          <p:nvPicPr>
            <p:cNvPr id="18" name="Google Shape;18;p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09600" y="1666875"/>
              <a:ext cx="19200" cy="2019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" name="Google Shape;19;p3"/>
            <p:cNvSpPr/>
            <p:nvPr/>
          </p:nvSpPr>
          <p:spPr>
            <a:xfrm>
              <a:off x="466725" y="1466850"/>
              <a:ext cx="304800" cy="304800"/>
            </a:xfrm>
            <a:prstGeom prst="ellipse">
              <a:avLst/>
            </a:prstGeom>
            <a:solidFill>
              <a:srgbClr val="FFF6D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 txBox="1"/>
            <p:nvPr/>
          </p:nvSpPr>
          <p:spPr>
            <a:xfrm>
              <a:off x="466725" y="1466850"/>
              <a:ext cx="3048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100">
                  <a:solidFill>
                    <a:srgbClr val="D97706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1" sz="1100">
                <a:solidFill>
                  <a:srgbClr val="D9770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21;p3"/>
            <p:cNvSpPr txBox="1"/>
            <p:nvPr/>
          </p:nvSpPr>
          <p:spPr>
            <a:xfrm>
              <a:off x="904875" y="1409700"/>
              <a:ext cx="3333900" cy="4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50">
                  <a:solidFill>
                    <a:srgbClr val="536170"/>
                  </a:solidFill>
                  <a:latin typeface="Arial"/>
                  <a:ea typeface="Arial"/>
                  <a:cs typeface="Arial"/>
                  <a:sym typeface="Arial"/>
                </a:rPr>
                <a:t>Product</a:t>
              </a:r>
              <a:endParaRPr b="1" sz="950">
                <a:solidFill>
                  <a:srgbClr val="53617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50">
                  <a:solidFill>
                    <a:srgbClr val="0B1220"/>
                  </a:solidFill>
                  <a:latin typeface="Arial"/>
                  <a:ea typeface="Arial"/>
                  <a:cs typeface="Arial"/>
                  <a:sym typeface="Arial"/>
                </a:rPr>
                <a:t>Rapido customer app</a:t>
              </a:r>
              <a:endParaRPr sz="1150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22;p3"/>
            <p:cNvSpPr/>
            <p:nvPr/>
          </p:nvSpPr>
          <p:spPr>
            <a:xfrm>
              <a:off x="466725" y="2152650"/>
              <a:ext cx="304800" cy="304800"/>
            </a:xfrm>
            <a:prstGeom prst="ellipse">
              <a:avLst/>
            </a:prstGeom>
            <a:solidFill>
              <a:srgbClr val="FFF6D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 txBox="1"/>
            <p:nvPr/>
          </p:nvSpPr>
          <p:spPr>
            <a:xfrm>
              <a:off x="466725" y="2152650"/>
              <a:ext cx="3048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100">
                  <a:solidFill>
                    <a:srgbClr val="D97706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1" sz="1100">
                <a:solidFill>
                  <a:srgbClr val="D9770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" name="Google Shape;24;p3"/>
            <p:cNvSpPr txBox="1"/>
            <p:nvPr/>
          </p:nvSpPr>
          <p:spPr>
            <a:xfrm>
              <a:off x="904875" y="2095500"/>
              <a:ext cx="3333900" cy="4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50">
                  <a:solidFill>
                    <a:srgbClr val="536170"/>
                  </a:solidFill>
                  <a:latin typeface="Arial"/>
                  <a:ea typeface="Arial"/>
                  <a:cs typeface="Arial"/>
                  <a:sym typeface="Arial"/>
                </a:rPr>
                <a:t>Focus</a:t>
              </a:r>
              <a:endParaRPr b="1" sz="950">
                <a:solidFill>
                  <a:srgbClr val="53617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50">
                  <a:solidFill>
                    <a:srgbClr val="0B1220"/>
                  </a:solidFill>
                  <a:latin typeface="Arial"/>
                  <a:ea typeface="Arial"/>
                  <a:cs typeface="Arial"/>
                  <a:sym typeface="Arial"/>
                </a:rPr>
                <a:t>Data shared during rider-Captain coordination</a:t>
              </a:r>
              <a:endParaRPr sz="1150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" name="Google Shape;25;p3"/>
            <p:cNvSpPr/>
            <p:nvPr/>
          </p:nvSpPr>
          <p:spPr>
            <a:xfrm>
              <a:off x="466725" y="2838450"/>
              <a:ext cx="304800" cy="304800"/>
            </a:xfrm>
            <a:prstGeom prst="ellipse">
              <a:avLst/>
            </a:prstGeom>
            <a:solidFill>
              <a:srgbClr val="FFF6D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 txBox="1"/>
            <p:nvPr/>
          </p:nvSpPr>
          <p:spPr>
            <a:xfrm>
              <a:off x="466725" y="2838450"/>
              <a:ext cx="3048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100">
                  <a:solidFill>
                    <a:srgbClr val="D97706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1" sz="1100">
                <a:solidFill>
                  <a:srgbClr val="D9770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27;p3"/>
            <p:cNvSpPr txBox="1"/>
            <p:nvPr/>
          </p:nvSpPr>
          <p:spPr>
            <a:xfrm>
              <a:off x="904875" y="2781300"/>
              <a:ext cx="3333900" cy="4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879">
                  <a:solidFill>
                    <a:srgbClr val="536170"/>
                  </a:solidFill>
                  <a:latin typeface="Arial"/>
                  <a:ea typeface="Arial"/>
                  <a:cs typeface="Arial"/>
                  <a:sym typeface="Arial"/>
                </a:rPr>
                <a:t>Bet</a:t>
              </a:r>
              <a:endParaRPr b="1" sz="879">
                <a:solidFill>
                  <a:srgbClr val="53617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064">
                  <a:solidFill>
                    <a:srgbClr val="0B1220"/>
                  </a:solidFill>
                  <a:latin typeface="Arial"/>
                  <a:ea typeface="Arial"/>
                  <a:cs typeface="Arial"/>
                  <a:sym typeface="Arial"/>
                </a:rPr>
                <a:t>Complete rides without exposing persistent identifiers</a:t>
              </a:r>
              <a:endParaRPr sz="1064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" name="Google Shape;28;p3"/>
            <p:cNvSpPr/>
            <p:nvPr/>
          </p:nvSpPr>
          <p:spPr>
            <a:xfrm>
              <a:off x="381000" y="3409950"/>
              <a:ext cx="3905400" cy="647700"/>
            </a:xfrm>
            <a:prstGeom prst="roundRect">
              <a:avLst>
                <a:gd fmla="val 14705" name="adj"/>
              </a:avLst>
            </a:prstGeom>
            <a:solidFill>
              <a:srgbClr val="E7F6EF"/>
            </a:solidFill>
            <a:ln cap="flat" cmpd="sng" w="14300">
              <a:solidFill>
                <a:srgbClr val="007A5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>
              <a:off x="466725" y="3581400"/>
              <a:ext cx="304800" cy="304800"/>
            </a:xfrm>
            <a:prstGeom prst="ellipse">
              <a:avLst/>
            </a:prstGeom>
            <a:solidFill>
              <a:srgbClr val="007A5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 txBox="1"/>
            <p:nvPr/>
          </p:nvSpPr>
          <p:spPr>
            <a:xfrm>
              <a:off x="466725" y="3581400"/>
              <a:ext cx="3048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1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" name="Google Shape;31;p3"/>
            <p:cNvSpPr txBox="1"/>
            <p:nvPr/>
          </p:nvSpPr>
          <p:spPr>
            <a:xfrm>
              <a:off x="904875" y="3505200"/>
              <a:ext cx="32385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50">
                  <a:solidFill>
                    <a:srgbClr val="075E4C"/>
                  </a:solidFill>
                  <a:latin typeface="Arial"/>
                  <a:ea typeface="Arial"/>
                  <a:cs typeface="Arial"/>
                  <a:sym typeface="Arial"/>
                </a:rPr>
                <a:t>Solution</a:t>
              </a:r>
              <a:endParaRPr b="1" sz="950">
                <a:solidFill>
                  <a:srgbClr val="075E4C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250">
                  <a:solidFill>
                    <a:srgbClr val="007A5A"/>
                  </a:solidFill>
                  <a:latin typeface="Arial"/>
                  <a:ea typeface="Arial"/>
                  <a:cs typeface="Arial"/>
                  <a:sym typeface="Arial"/>
                </a:rPr>
                <a:t>Purpose-Bound Ride Data</a:t>
              </a:r>
              <a:endParaRPr b="1" sz="1250">
                <a:solidFill>
                  <a:srgbClr val="007A5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2" name="Google Shape;32;p3"/>
          <p:cNvGrpSpPr/>
          <p:nvPr/>
        </p:nvGrpSpPr>
        <p:grpSpPr>
          <a:xfrm>
            <a:off x="4667250" y="1333500"/>
            <a:ext cx="4095900" cy="2724300"/>
            <a:chOff x="4667250" y="1333500"/>
            <a:chExt cx="4095900" cy="2724300"/>
          </a:xfrm>
        </p:grpSpPr>
        <p:sp>
          <p:nvSpPr>
            <p:cNvPr id="33" name="Google Shape;33;p3"/>
            <p:cNvSpPr/>
            <p:nvPr/>
          </p:nvSpPr>
          <p:spPr>
            <a:xfrm>
              <a:off x="4667250" y="1333500"/>
              <a:ext cx="4095900" cy="2724300"/>
            </a:xfrm>
            <a:prstGeom prst="roundRect">
              <a:avLst>
                <a:gd fmla="val 5594" name="adj"/>
              </a:avLst>
            </a:prstGeom>
            <a:solidFill>
              <a:srgbClr val="FFFFFF"/>
            </a:solidFill>
            <a:ln cap="flat" cmpd="sng" w="14300">
              <a:solidFill>
                <a:srgbClr val="DCE4E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 txBox="1"/>
            <p:nvPr/>
          </p:nvSpPr>
          <p:spPr>
            <a:xfrm>
              <a:off x="4905375" y="1476375"/>
              <a:ext cx="36195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150">
                  <a:solidFill>
                    <a:srgbClr val="0B1220"/>
                  </a:solidFill>
                  <a:latin typeface="Arial"/>
                  <a:ea typeface="Arial"/>
                  <a:cs typeface="Arial"/>
                  <a:sym typeface="Arial"/>
                </a:rPr>
                <a:t>Active Temporary Leases (Scoped)</a:t>
              </a:r>
              <a:endParaRPr b="1" sz="1150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" name="Google Shape;35;p3"/>
            <p:cNvSpPr/>
            <p:nvPr/>
          </p:nvSpPr>
          <p:spPr>
            <a:xfrm>
              <a:off x="4905375" y="1809750"/>
              <a:ext cx="3619500" cy="400200"/>
            </a:xfrm>
            <a:prstGeom prst="roundRect">
              <a:avLst>
                <a:gd fmla="val 19047" name="adj"/>
              </a:avLst>
            </a:prstGeom>
            <a:solidFill>
              <a:srgbClr val="F8FAF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>
              <a:off x="5010150" y="1895475"/>
              <a:ext cx="228600" cy="228600"/>
            </a:xfrm>
            <a:prstGeom prst="ellipse">
              <a:avLst/>
            </a:prstGeom>
            <a:solidFill>
              <a:srgbClr val="E7F6E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 txBox="1"/>
            <p:nvPr/>
          </p:nvSpPr>
          <p:spPr>
            <a:xfrm>
              <a:off x="5010150" y="1895475"/>
              <a:ext cx="2286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50">
                  <a:solidFill>
                    <a:srgbClr val="075E4C"/>
                  </a:solidFill>
                  <a:latin typeface="Arial"/>
                  <a:ea typeface="Arial"/>
                  <a:cs typeface="Arial"/>
                  <a:sym typeface="Arial"/>
                </a:rPr>
                <a:t>P</a:t>
              </a:r>
              <a:endParaRPr b="1" sz="950">
                <a:solidFill>
                  <a:srgbClr val="075E4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" name="Google Shape;38;p3"/>
            <p:cNvSpPr txBox="1"/>
            <p:nvPr/>
          </p:nvSpPr>
          <p:spPr>
            <a:xfrm>
              <a:off x="5353050" y="1809750"/>
              <a:ext cx="19050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100">
                  <a:solidFill>
                    <a:srgbClr val="0B1220"/>
                  </a:solidFill>
                  <a:latin typeface="Arial"/>
                  <a:ea typeface="Arial"/>
                  <a:cs typeface="Arial"/>
                  <a:sym typeface="Arial"/>
                </a:rPr>
                <a:t>Phone</a:t>
              </a:r>
              <a:endParaRPr b="1" sz="1100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" name="Google Shape;39;p3"/>
            <p:cNvSpPr/>
            <p:nvPr/>
          </p:nvSpPr>
          <p:spPr>
            <a:xfrm>
              <a:off x="7762875" y="1905000"/>
              <a:ext cx="647700" cy="209700"/>
            </a:xfrm>
            <a:prstGeom prst="roundRect">
              <a:avLst>
                <a:gd fmla="val 18181" name="adj"/>
              </a:avLst>
            </a:prstGeom>
            <a:solidFill>
              <a:srgbClr val="FFF6D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" name="Google Shape;40;p3"/>
            <p:cNvSpPr txBox="1"/>
            <p:nvPr/>
          </p:nvSpPr>
          <p:spPr>
            <a:xfrm>
              <a:off x="7762875" y="1905000"/>
              <a:ext cx="647700" cy="2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850">
                  <a:solidFill>
                    <a:srgbClr val="D97706"/>
                  </a:solidFill>
                  <a:latin typeface="Arial"/>
                  <a:ea typeface="Arial"/>
                  <a:cs typeface="Arial"/>
                  <a:sym typeface="Arial"/>
                </a:rPr>
                <a:t>lease</a:t>
              </a:r>
              <a:endParaRPr b="1" sz="850">
                <a:solidFill>
                  <a:srgbClr val="D9770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4905375" y="2266950"/>
              <a:ext cx="3619500" cy="400200"/>
            </a:xfrm>
            <a:prstGeom prst="roundRect">
              <a:avLst>
                <a:gd fmla="val 19047" name="adj"/>
              </a:avLst>
            </a:prstGeom>
            <a:solidFill>
              <a:srgbClr val="F8FAF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5010150" y="2352675"/>
              <a:ext cx="228600" cy="228600"/>
            </a:xfrm>
            <a:prstGeom prst="ellipse">
              <a:avLst/>
            </a:prstGeom>
            <a:solidFill>
              <a:srgbClr val="EAF2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3"/>
            <p:cNvSpPr txBox="1"/>
            <p:nvPr/>
          </p:nvSpPr>
          <p:spPr>
            <a:xfrm>
              <a:off x="5010150" y="2352675"/>
              <a:ext cx="2286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50">
                  <a:solidFill>
                    <a:srgbClr val="2563EB"/>
                  </a:solidFill>
                  <a:latin typeface="Arial"/>
                  <a:ea typeface="Arial"/>
                  <a:cs typeface="Arial"/>
                  <a:sym typeface="Arial"/>
                </a:rPr>
                <a:t>L</a:t>
              </a:r>
              <a:endParaRPr b="1" sz="950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" name="Google Shape;44;p3"/>
            <p:cNvSpPr txBox="1"/>
            <p:nvPr/>
          </p:nvSpPr>
          <p:spPr>
            <a:xfrm>
              <a:off x="5353050" y="2266950"/>
              <a:ext cx="19050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100">
                  <a:solidFill>
                    <a:srgbClr val="0B1220"/>
                  </a:solidFill>
                  <a:latin typeface="Arial"/>
                  <a:ea typeface="Arial"/>
                  <a:cs typeface="Arial"/>
                  <a:sym typeface="Arial"/>
                </a:rPr>
                <a:t>Live location</a:t>
              </a:r>
              <a:endParaRPr b="1" sz="1100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7762875" y="2362200"/>
              <a:ext cx="647700" cy="209700"/>
            </a:xfrm>
            <a:prstGeom prst="roundRect">
              <a:avLst>
                <a:gd fmla="val 18181" name="adj"/>
              </a:avLst>
            </a:prstGeom>
            <a:solidFill>
              <a:srgbClr val="FFF6D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3"/>
            <p:cNvSpPr txBox="1"/>
            <p:nvPr/>
          </p:nvSpPr>
          <p:spPr>
            <a:xfrm>
              <a:off x="7762875" y="2362200"/>
              <a:ext cx="647700" cy="2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850">
                  <a:solidFill>
                    <a:srgbClr val="D97706"/>
                  </a:solidFill>
                  <a:latin typeface="Arial"/>
                  <a:ea typeface="Arial"/>
                  <a:cs typeface="Arial"/>
                  <a:sym typeface="Arial"/>
                </a:rPr>
                <a:t>lease</a:t>
              </a:r>
              <a:endParaRPr b="1" sz="850">
                <a:solidFill>
                  <a:srgbClr val="D9770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" name="Google Shape;47;p3"/>
            <p:cNvSpPr/>
            <p:nvPr/>
          </p:nvSpPr>
          <p:spPr>
            <a:xfrm>
              <a:off x="4905375" y="2724150"/>
              <a:ext cx="3619500" cy="400200"/>
            </a:xfrm>
            <a:prstGeom prst="roundRect">
              <a:avLst>
                <a:gd fmla="val 19047" name="adj"/>
              </a:avLst>
            </a:prstGeom>
            <a:solidFill>
              <a:srgbClr val="F8FAF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" name="Google Shape;48;p3"/>
            <p:cNvSpPr/>
            <p:nvPr/>
          </p:nvSpPr>
          <p:spPr>
            <a:xfrm>
              <a:off x="5010150" y="2809875"/>
              <a:ext cx="228600" cy="228600"/>
            </a:xfrm>
            <a:prstGeom prst="ellipse">
              <a:avLst/>
            </a:prstGeom>
            <a:solidFill>
              <a:srgbClr val="F1EA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" name="Google Shape;49;p3"/>
            <p:cNvSpPr txBox="1"/>
            <p:nvPr/>
          </p:nvSpPr>
          <p:spPr>
            <a:xfrm>
              <a:off x="5010150" y="2809875"/>
              <a:ext cx="2286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50">
                  <a:solidFill>
                    <a:srgbClr val="7C3AED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endParaRPr b="1" sz="950">
                <a:solidFill>
                  <a:srgbClr val="7C3AE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" name="Google Shape;50;p3"/>
            <p:cNvSpPr txBox="1"/>
            <p:nvPr/>
          </p:nvSpPr>
          <p:spPr>
            <a:xfrm>
              <a:off x="5353050" y="2724150"/>
              <a:ext cx="19050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100">
                  <a:solidFill>
                    <a:srgbClr val="0B1220"/>
                  </a:solidFill>
                  <a:latin typeface="Arial"/>
                  <a:ea typeface="Arial"/>
                  <a:cs typeface="Arial"/>
                  <a:sym typeface="Arial"/>
                </a:rPr>
                <a:t>Trip context</a:t>
              </a:r>
              <a:endParaRPr b="1" sz="1100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51;p3"/>
            <p:cNvSpPr/>
            <p:nvPr/>
          </p:nvSpPr>
          <p:spPr>
            <a:xfrm>
              <a:off x="7762875" y="2819400"/>
              <a:ext cx="647700" cy="209700"/>
            </a:xfrm>
            <a:prstGeom prst="roundRect">
              <a:avLst>
                <a:gd fmla="val 18181" name="adj"/>
              </a:avLst>
            </a:prstGeom>
            <a:solidFill>
              <a:srgbClr val="FFF6D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" name="Google Shape;52;p3"/>
            <p:cNvSpPr txBox="1"/>
            <p:nvPr/>
          </p:nvSpPr>
          <p:spPr>
            <a:xfrm>
              <a:off x="7762875" y="2819400"/>
              <a:ext cx="647700" cy="2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850">
                  <a:solidFill>
                    <a:srgbClr val="D97706"/>
                  </a:solidFill>
                  <a:latin typeface="Arial"/>
                  <a:ea typeface="Arial"/>
                  <a:cs typeface="Arial"/>
                  <a:sym typeface="Arial"/>
                </a:rPr>
                <a:t>lease</a:t>
              </a:r>
              <a:endParaRPr b="1" sz="850">
                <a:solidFill>
                  <a:srgbClr val="D9770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3" name="Google Shape;53;p3"/>
            <p:cNvCxnSpPr/>
            <p:nvPr/>
          </p:nvCxnSpPr>
          <p:spPr>
            <a:xfrm>
              <a:off x="5000625" y="3638550"/>
              <a:ext cx="3429000" cy="0"/>
            </a:xfrm>
            <a:prstGeom prst="straightConnector1">
              <a:avLst/>
            </a:prstGeom>
            <a:solidFill>
              <a:srgbClr val="FFFFFF"/>
            </a:solidFill>
            <a:ln cap="rnd" cmpd="sng" w="57150">
              <a:solidFill>
                <a:srgbClr val="EEF2F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4" name="Google Shape;54;p3"/>
            <p:cNvCxnSpPr/>
            <p:nvPr/>
          </p:nvCxnSpPr>
          <p:spPr>
            <a:xfrm>
              <a:off x="5000625" y="3638550"/>
              <a:ext cx="2476500" cy="0"/>
            </a:xfrm>
            <a:prstGeom prst="straightConnector1">
              <a:avLst/>
            </a:prstGeom>
            <a:solidFill>
              <a:srgbClr val="FFFFFF"/>
            </a:solidFill>
            <a:ln cap="rnd" cmpd="sng" w="57150">
              <a:solidFill>
                <a:srgbClr val="FFC4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55" name="Google Shape;55;p3"/>
            <p:cNvSpPr/>
            <p:nvPr/>
          </p:nvSpPr>
          <p:spPr>
            <a:xfrm>
              <a:off x="4933950" y="3571875"/>
              <a:ext cx="133500" cy="133500"/>
            </a:xfrm>
            <a:prstGeom prst="ellipse">
              <a:avLst/>
            </a:prstGeom>
            <a:solidFill>
              <a:srgbClr val="FFFFFF"/>
            </a:solidFill>
            <a:ln cap="flat" cmpd="sng" w="38100">
              <a:solidFill>
                <a:srgbClr val="007A5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3"/>
            <p:cNvSpPr/>
            <p:nvPr/>
          </p:nvSpPr>
          <p:spPr>
            <a:xfrm>
              <a:off x="7391400" y="3552825"/>
              <a:ext cx="171600" cy="171600"/>
            </a:xfrm>
            <a:prstGeom prst="ellipse">
              <a:avLst/>
            </a:prstGeom>
            <a:solidFill>
              <a:srgbClr val="FFC40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" name="Google Shape;57;p3"/>
            <p:cNvSpPr txBox="1"/>
            <p:nvPr/>
          </p:nvSpPr>
          <p:spPr>
            <a:xfrm>
              <a:off x="7191375" y="3314700"/>
              <a:ext cx="571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50">
                  <a:solidFill>
                    <a:srgbClr val="075E4C"/>
                  </a:solidFill>
                  <a:latin typeface="Arial"/>
                  <a:ea typeface="Arial"/>
                  <a:cs typeface="Arial"/>
                  <a:sym typeface="Arial"/>
                </a:rPr>
                <a:t>ride</a:t>
              </a:r>
              <a:endParaRPr b="1" sz="950">
                <a:solidFill>
                  <a:srgbClr val="075E4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8" name="Google Shape;58;p3"/>
          <p:cNvSpPr/>
          <p:nvPr/>
        </p:nvSpPr>
        <p:spPr>
          <a:xfrm>
            <a:off x="381000" y="4333875"/>
            <a:ext cx="83820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05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Designing rider data sharing and consent under India's DPDP Act with smooth UX.</a:t>
            </a:r>
            <a:endParaRPr i="1" sz="1050">
              <a:solidFill>
                <a:srgbClr val="4755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300038" y="4750594"/>
            <a:ext cx="8544000" cy="7200"/>
          </a:xfrm>
          <a:prstGeom prst="rect">
            <a:avLst/>
          </a:prstGeom>
          <a:solidFill>
            <a:srgbClr val="EEF2F6"/>
          </a:solidFill>
          <a:ln cap="flat" cmpd="sng" w="9525">
            <a:solidFill>
              <a:srgbClr val="EEF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3"/>
          <p:cNvSpPr/>
          <p:nvPr/>
        </p:nvSpPr>
        <p:spPr>
          <a:xfrm>
            <a:off x="314325" y="4843463"/>
            <a:ext cx="4000500" cy="1716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700">
                <a:solidFill>
                  <a:srgbClr val="536170"/>
                </a:solidFill>
                <a:latin typeface="Arial"/>
                <a:ea typeface="Arial"/>
                <a:cs typeface="Arial"/>
                <a:sym typeface="Arial"/>
              </a:rPr>
              <a:t>Purpose-bound ride data  |  DPDP product thinking case</a:t>
            </a:r>
            <a:endParaRPr sz="1100"/>
          </a:p>
        </p:txBody>
      </p:sp>
      <p:sp>
        <p:nvSpPr>
          <p:cNvPr id="61" name="Google Shape;61;p3"/>
          <p:cNvSpPr/>
          <p:nvPr/>
        </p:nvSpPr>
        <p:spPr>
          <a:xfrm>
            <a:off x="8572500" y="4843463"/>
            <a:ext cx="285900" cy="1572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700">
                <a:solidFill>
                  <a:srgbClr val="536170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1463" y="214313"/>
            <a:ext cx="271463" cy="271463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4"/>
          <p:cNvSpPr/>
          <p:nvPr/>
        </p:nvSpPr>
        <p:spPr>
          <a:xfrm>
            <a:off x="657225" y="271463"/>
            <a:ext cx="51435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100">
                <a:solidFill>
                  <a:srgbClr val="0B1220"/>
                </a:solidFill>
                <a:latin typeface="Play"/>
                <a:ea typeface="Play"/>
                <a:cs typeface="Play"/>
                <a:sym typeface="Play"/>
              </a:rPr>
              <a:t>The real gap is proof, not just masking</a:t>
            </a:r>
            <a:endParaRPr sz="1100"/>
          </a:p>
        </p:txBody>
      </p:sp>
      <p:sp>
        <p:nvSpPr>
          <p:cNvPr id="69" name="Google Shape;69;p4"/>
          <p:cNvSpPr/>
          <p:nvPr/>
        </p:nvSpPr>
        <p:spPr>
          <a:xfrm>
            <a:off x="671513" y="657225"/>
            <a:ext cx="5857875" cy="214313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100">
                <a:solidFill>
                  <a:srgbClr val="536170"/>
                </a:solidFill>
                <a:latin typeface="Arial"/>
                <a:ea typeface="Arial"/>
                <a:cs typeface="Arial"/>
                <a:sym typeface="Arial"/>
              </a:rPr>
              <a:t>Riders need coordination that is useful during the ride and unable to linger after it.</a:t>
            </a:r>
            <a:endParaRPr sz="1100"/>
          </a:p>
        </p:txBody>
      </p:sp>
      <p:sp>
        <p:nvSpPr>
          <p:cNvPr id="70" name="Google Shape;70;p4"/>
          <p:cNvSpPr/>
          <p:nvPr/>
        </p:nvSpPr>
        <p:spPr>
          <a:xfrm>
            <a:off x="5965031" y="531495"/>
            <a:ext cx="581501" cy="35719"/>
          </a:xfrm>
          <a:prstGeom prst="rect">
            <a:avLst/>
          </a:prstGeom>
          <a:solidFill>
            <a:srgbClr val="FFC400"/>
          </a:solidFill>
          <a:ln cap="flat" cmpd="sng" w="9525">
            <a:solidFill>
              <a:srgbClr val="FFC4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4"/>
          <p:cNvSpPr/>
          <p:nvPr/>
        </p:nvSpPr>
        <p:spPr>
          <a:xfrm>
            <a:off x="6546533" y="436340"/>
            <a:ext cx="581501" cy="35719"/>
          </a:xfrm>
          <a:prstGeom prst="rect">
            <a:avLst/>
          </a:prstGeom>
          <a:solidFill>
            <a:srgbClr val="FFC400"/>
          </a:solidFill>
          <a:ln cap="flat" cmpd="sng" w="9525">
            <a:solidFill>
              <a:srgbClr val="FFC4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4"/>
          <p:cNvSpPr/>
          <p:nvPr/>
        </p:nvSpPr>
        <p:spPr>
          <a:xfrm>
            <a:off x="7128034" y="499777"/>
            <a:ext cx="581501" cy="35719"/>
          </a:xfrm>
          <a:prstGeom prst="rect">
            <a:avLst/>
          </a:prstGeom>
          <a:solidFill>
            <a:srgbClr val="FFC400"/>
          </a:solidFill>
          <a:ln cap="flat" cmpd="sng" w="9525">
            <a:solidFill>
              <a:srgbClr val="FFC4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4"/>
          <p:cNvSpPr/>
          <p:nvPr/>
        </p:nvSpPr>
        <p:spPr>
          <a:xfrm>
            <a:off x="7709535" y="383477"/>
            <a:ext cx="740093" cy="35719"/>
          </a:xfrm>
          <a:prstGeom prst="rect">
            <a:avLst/>
          </a:prstGeom>
          <a:solidFill>
            <a:srgbClr val="FFC400"/>
          </a:solidFill>
          <a:ln cap="flat" cmpd="sng" w="9525">
            <a:solidFill>
              <a:srgbClr val="FFC4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4"/>
          <p:cNvSpPr/>
          <p:nvPr/>
        </p:nvSpPr>
        <p:spPr>
          <a:xfrm>
            <a:off x="5893594" y="494491"/>
            <a:ext cx="142875" cy="142875"/>
          </a:xfrm>
          <a:prstGeom prst="ellipse">
            <a:avLst/>
          </a:prstGeom>
          <a:solidFill>
            <a:srgbClr val="FFFFFF"/>
          </a:solidFill>
          <a:ln cap="flat" cmpd="sng" w="38100">
            <a:solidFill>
              <a:srgbClr val="007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4"/>
          <p:cNvSpPr/>
          <p:nvPr/>
        </p:nvSpPr>
        <p:spPr>
          <a:xfrm>
            <a:off x="8423196" y="325327"/>
            <a:ext cx="214313" cy="214313"/>
          </a:xfrm>
          <a:prstGeom prst="ellipse">
            <a:avLst/>
          </a:prstGeom>
          <a:solidFill>
            <a:srgbClr val="FFC400"/>
          </a:solidFill>
          <a:ln cap="flat" cmpd="sng" w="9525">
            <a:solidFill>
              <a:srgbClr val="FFC4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4"/>
          <p:cNvSpPr/>
          <p:nvPr/>
        </p:nvSpPr>
        <p:spPr>
          <a:xfrm>
            <a:off x="6995875" y="309467"/>
            <a:ext cx="571500" cy="214313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075E4C"/>
                </a:solidFill>
                <a:latin typeface="Arial"/>
                <a:ea typeface="Arial"/>
                <a:cs typeface="Arial"/>
                <a:sym typeface="Arial"/>
              </a:rPr>
              <a:t>ride</a:t>
            </a:r>
            <a:endParaRPr sz="1100"/>
          </a:p>
        </p:txBody>
      </p:sp>
      <p:sp>
        <p:nvSpPr>
          <p:cNvPr id="77" name="Google Shape;77;p4"/>
          <p:cNvSpPr/>
          <p:nvPr/>
        </p:nvSpPr>
        <p:spPr>
          <a:xfrm>
            <a:off x="471488" y="1171575"/>
            <a:ext cx="2457450" cy="2071688"/>
          </a:xfrm>
          <a:prstGeom prst="roundRect">
            <a:avLst>
              <a:gd fmla="val 4138" name="adj"/>
            </a:avLst>
          </a:prstGeom>
          <a:solidFill>
            <a:srgbClr val="FFFFFF"/>
          </a:solidFill>
          <a:ln cap="flat" cmpd="sng" w="9525">
            <a:solidFill>
              <a:srgbClr val="DCE4EC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dir="5400000" dist="9525">
              <a:srgbClr val="000000">
                <a:alpha val="5882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4"/>
          <p:cNvSpPr/>
          <p:nvPr/>
        </p:nvSpPr>
        <p:spPr>
          <a:xfrm>
            <a:off x="642938" y="1343025"/>
            <a:ext cx="414338" cy="414338"/>
          </a:xfrm>
          <a:prstGeom prst="ellipse">
            <a:avLst/>
          </a:prstGeom>
          <a:solidFill>
            <a:srgbClr val="FDECEC"/>
          </a:solidFill>
          <a:ln cap="flat" cmpd="sng" w="9525">
            <a:solidFill>
              <a:srgbClr val="FDEC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4"/>
          <p:cNvSpPr/>
          <p:nvPr/>
        </p:nvSpPr>
        <p:spPr>
          <a:xfrm>
            <a:off x="642938" y="1421606"/>
            <a:ext cx="414338" cy="3429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D92D2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500"/>
          </a:p>
        </p:txBody>
      </p:sp>
      <p:sp>
        <p:nvSpPr>
          <p:cNvPr id="80" name="Google Shape;80;p4"/>
          <p:cNvSpPr/>
          <p:nvPr/>
        </p:nvSpPr>
        <p:spPr>
          <a:xfrm>
            <a:off x="1157288" y="1357313"/>
            <a:ext cx="1500188" cy="257175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400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rPr>
              <a:t>User fear</a:t>
            </a:r>
            <a:endParaRPr sz="1100"/>
          </a:p>
        </p:txBody>
      </p:sp>
      <p:sp>
        <p:nvSpPr>
          <p:cNvPr id="81" name="Google Shape;81;p4"/>
          <p:cNvSpPr/>
          <p:nvPr/>
        </p:nvSpPr>
        <p:spPr>
          <a:xfrm>
            <a:off x="800100" y="1821656"/>
            <a:ext cx="1857375" cy="728663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000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rPr>
              <a:t>- Can the Captain call me later?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000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rPr>
              <a:t>- Will my number stay saved?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000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rPr>
              <a:t>- Can pickup or drop be tracked?</a:t>
            </a:r>
            <a:endParaRPr sz="1100"/>
          </a:p>
        </p:txBody>
      </p:sp>
      <p:sp>
        <p:nvSpPr>
          <p:cNvPr id="82" name="Google Shape;82;p4"/>
          <p:cNvSpPr/>
          <p:nvPr/>
        </p:nvSpPr>
        <p:spPr>
          <a:xfrm>
            <a:off x="685800" y="2750344"/>
            <a:ext cx="2028825" cy="300038"/>
          </a:xfrm>
          <a:prstGeom prst="roundRect">
            <a:avLst>
              <a:gd fmla="val 19048" name="adj"/>
            </a:avLst>
          </a:prstGeom>
          <a:solidFill>
            <a:srgbClr val="FDECEC"/>
          </a:solidFill>
          <a:ln cap="flat" cmpd="sng" w="9525">
            <a:solidFill>
              <a:srgbClr val="FDEC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4"/>
          <p:cNvSpPr/>
          <p:nvPr/>
        </p:nvSpPr>
        <p:spPr>
          <a:xfrm>
            <a:off x="771525" y="2786063"/>
            <a:ext cx="1857375" cy="242888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D92D20"/>
                </a:solidFill>
                <a:latin typeface="Arial"/>
                <a:ea typeface="Arial"/>
                <a:cs typeface="Arial"/>
                <a:sym typeface="Arial"/>
              </a:rPr>
              <a:t>Trust risk lowers repeat usage</a:t>
            </a:r>
            <a:endParaRPr sz="1100"/>
          </a:p>
        </p:txBody>
      </p:sp>
      <p:sp>
        <p:nvSpPr>
          <p:cNvPr id="84" name="Google Shape;84;p4"/>
          <p:cNvSpPr/>
          <p:nvPr/>
        </p:nvSpPr>
        <p:spPr>
          <a:xfrm>
            <a:off x="3314700" y="1171575"/>
            <a:ext cx="2457450" cy="2071688"/>
          </a:xfrm>
          <a:prstGeom prst="roundRect">
            <a:avLst>
              <a:gd fmla="val 4138" name="adj"/>
            </a:avLst>
          </a:prstGeom>
          <a:solidFill>
            <a:srgbClr val="FFFFFF"/>
          </a:solidFill>
          <a:ln cap="flat" cmpd="sng" w="9525">
            <a:solidFill>
              <a:srgbClr val="DCE4EC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dir="5400000" dist="9525">
              <a:srgbClr val="000000">
                <a:alpha val="5882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4"/>
          <p:cNvSpPr/>
          <p:nvPr/>
        </p:nvSpPr>
        <p:spPr>
          <a:xfrm>
            <a:off x="3486150" y="1343025"/>
            <a:ext cx="414338" cy="414338"/>
          </a:xfrm>
          <a:prstGeom prst="ellipse">
            <a:avLst/>
          </a:prstGeom>
          <a:solidFill>
            <a:srgbClr val="FFF4DE"/>
          </a:solidFill>
          <a:ln cap="flat" cmpd="sng" w="9525">
            <a:solidFill>
              <a:srgbClr val="FFF4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4"/>
          <p:cNvSpPr/>
          <p:nvPr/>
        </p:nvSpPr>
        <p:spPr>
          <a:xfrm>
            <a:off x="3486150" y="1393031"/>
            <a:ext cx="414338" cy="3429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D97706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500"/>
          </a:p>
        </p:txBody>
      </p:sp>
      <p:sp>
        <p:nvSpPr>
          <p:cNvPr id="87" name="Google Shape;87;p4"/>
          <p:cNvSpPr/>
          <p:nvPr/>
        </p:nvSpPr>
        <p:spPr>
          <a:xfrm>
            <a:off x="4000500" y="1357313"/>
            <a:ext cx="1500188" cy="257175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400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rPr>
              <a:t>Policy ambiguity</a:t>
            </a:r>
            <a:endParaRPr sz="1100"/>
          </a:p>
        </p:txBody>
      </p:sp>
      <p:sp>
        <p:nvSpPr>
          <p:cNvPr id="88" name="Google Shape;88;p4"/>
          <p:cNvSpPr/>
          <p:nvPr/>
        </p:nvSpPr>
        <p:spPr>
          <a:xfrm>
            <a:off x="3643313" y="1821656"/>
            <a:ext cx="1857375" cy="728663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000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rPr>
              <a:t>- Notice is long and hard to scan.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000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rPr>
              <a:t>- Retention is not visible.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000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rPr>
              <a:t>- Misuse recourse is unclear.</a:t>
            </a:r>
            <a:endParaRPr sz="1100"/>
          </a:p>
        </p:txBody>
      </p:sp>
      <p:sp>
        <p:nvSpPr>
          <p:cNvPr id="89" name="Google Shape;89;p4"/>
          <p:cNvSpPr/>
          <p:nvPr/>
        </p:nvSpPr>
        <p:spPr>
          <a:xfrm>
            <a:off x="3529013" y="2750344"/>
            <a:ext cx="2028825" cy="300038"/>
          </a:xfrm>
          <a:prstGeom prst="roundRect">
            <a:avLst>
              <a:gd fmla="val 19048" name="adj"/>
            </a:avLst>
          </a:prstGeom>
          <a:solidFill>
            <a:srgbClr val="FFF4DE"/>
          </a:solidFill>
          <a:ln cap="flat" cmpd="sng" w="9525">
            <a:solidFill>
              <a:srgbClr val="FFF4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4"/>
          <p:cNvSpPr/>
          <p:nvPr/>
        </p:nvSpPr>
        <p:spPr>
          <a:xfrm>
            <a:off x="3614738" y="2786063"/>
            <a:ext cx="1857375" cy="242888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D97706"/>
                </a:solidFill>
                <a:latin typeface="Arial"/>
                <a:ea typeface="Arial"/>
                <a:cs typeface="Arial"/>
                <a:sym typeface="Arial"/>
              </a:rPr>
              <a:t>Ambiguity lowers confidence</a:t>
            </a:r>
            <a:endParaRPr sz="1100"/>
          </a:p>
        </p:txBody>
      </p:sp>
      <p:sp>
        <p:nvSpPr>
          <p:cNvPr id="91" name="Google Shape;91;p4"/>
          <p:cNvSpPr/>
          <p:nvPr/>
        </p:nvSpPr>
        <p:spPr>
          <a:xfrm>
            <a:off x="6157913" y="1171575"/>
            <a:ext cx="2457450" cy="2071688"/>
          </a:xfrm>
          <a:prstGeom prst="roundRect">
            <a:avLst>
              <a:gd fmla="val 4138" name="adj"/>
            </a:avLst>
          </a:prstGeom>
          <a:solidFill>
            <a:srgbClr val="FFFFFF"/>
          </a:solidFill>
          <a:ln cap="flat" cmpd="sng" w="9525">
            <a:solidFill>
              <a:srgbClr val="DCE4EC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dir="5400000" dist="9525">
              <a:srgbClr val="000000">
                <a:alpha val="5882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4"/>
          <p:cNvSpPr/>
          <p:nvPr/>
        </p:nvSpPr>
        <p:spPr>
          <a:xfrm>
            <a:off x="6329363" y="1343025"/>
            <a:ext cx="414338" cy="414338"/>
          </a:xfrm>
          <a:prstGeom prst="ellipse">
            <a:avLst/>
          </a:prstGeom>
          <a:solidFill>
            <a:srgbClr val="E7F6EF"/>
          </a:solidFill>
          <a:ln cap="flat" cmpd="sng" w="9525">
            <a:solidFill>
              <a:srgbClr val="E7F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4"/>
          <p:cNvSpPr/>
          <p:nvPr/>
        </p:nvSpPr>
        <p:spPr>
          <a:xfrm>
            <a:off x="6329363" y="1393031"/>
            <a:ext cx="414338" cy="221456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075E4C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500"/>
          </a:p>
        </p:txBody>
      </p:sp>
      <p:sp>
        <p:nvSpPr>
          <p:cNvPr id="94" name="Google Shape;94;p4"/>
          <p:cNvSpPr/>
          <p:nvPr/>
        </p:nvSpPr>
        <p:spPr>
          <a:xfrm>
            <a:off x="6843713" y="1357313"/>
            <a:ext cx="1500188" cy="257175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400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rPr>
              <a:t>Product guarantee</a:t>
            </a:r>
            <a:endParaRPr sz="1100"/>
          </a:p>
        </p:txBody>
      </p:sp>
      <p:sp>
        <p:nvSpPr>
          <p:cNvPr id="95" name="Google Shape;95;p4"/>
          <p:cNvSpPr/>
          <p:nvPr/>
        </p:nvSpPr>
        <p:spPr>
          <a:xfrm>
            <a:off x="6486525" y="1821656"/>
            <a:ext cx="1857375" cy="728663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000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rPr>
              <a:t>- Share only what is needed.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000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rPr>
              <a:t>- Expire access by default.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000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rPr>
              <a:t>- Show proof and recourse.</a:t>
            </a:r>
            <a:endParaRPr sz="1100"/>
          </a:p>
        </p:txBody>
      </p:sp>
      <p:sp>
        <p:nvSpPr>
          <p:cNvPr id="96" name="Google Shape;96;p4"/>
          <p:cNvSpPr/>
          <p:nvPr/>
        </p:nvSpPr>
        <p:spPr>
          <a:xfrm>
            <a:off x="6372225" y="2750344"/>
            <a:ext cx="2028825" cy="300038"/>
          </a:xfrm>
          <a:prstGeom prst="roundRect">
            <a:avLst>
              <a:gd fmla="val 19048" name="adj"/>
            </a:avLst>
          </a:prstGeom>
          <a:solidFill>
            <a:srgbClr val="E7F6EF"/>
          </a:solidFill>
          <a:ln cap="flat" cmpd="sng" w="9525">
            <a:solidFill>
              <a:srgbClr val="E7F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4"/>
          <p:cNvSpPr/>
          <p:nvPr/>
        </p:nvSpPr>
        <p:spPr>
          <a:xfrm>
            <a:off x="6457950" y="2786063"/>
            <a:ext cx="1857375" cy="242888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075E4C"/>
                </a:solidFill>
                <a:latin typeface="Arial"/>
                <a:ea typeface="Arial"/>
                <a:cs typeface="Arial"/>
                <a:sym typeface="Arial"/>
              </a:rPr>
              <a:t>Clarity builds trust</a:t>
            </a:r>
            <a:endParaRPr sz="1100"/>
          </a:p>
        </p:txBody>
      </p:sp>
      <p:sp>
        <p:nvSpPr>
          <p:cNvPr id="98" name="Google Shape;98;p4"/>
          <p:cNvSpPr/>
          <p:nvPr/>
        </p:nvSpPr>
        <p:spPr>
          <a:xfrm>
            <a:off x="514349" y="3543299"/>
            <a:ext cx="8194573" cy="814385"/>
          </a:xfrm>
          <a:prstGeom prst="roundRect">
            <a:avLst>
              <a:gd fmla="val 13043" name="adj"/>
            </a:avLst>
          </a:prstGeom>
          <a:solidFill>
            <a:srgbClr val="FDECEC"/>
          </a:solidFill>
          <a:ln cap="flat" cmpd="sng" w="9525">
            <a:solidFill>
              <a:srgbClr val="F3B5AE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dir="5400000" dist="9525">
              <a:srgbClr val="000000">
                <a:alpha val="5882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4"/>
          <p:cNvSpPr/>
          <p:nvPr/>
        </p:nvSpPr>
        <p:spPr>
          <a:xfrm>
            <a:off x="685800" y="3664744"/>
            <a:ext cx="371475" cy="371475"/>
          </a:xfrm>
          <a:prstGeom prst="ellipse">
            <a:avLst/>
          </a:prstGeom>
          <a:solidFill>
            <a:srgbClr val="D92D20"/>
          </a:solidFill>
          <a:ln cap="flat" cmpd="sng" w="9525">
            <a:solidFill>
              <a:srgbClr val="D92D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"/>
          <p:cNvSpPr/>
          <p:nvPr/>
        </p:nvSpPr>
        <p:spPr>
          <a:xfrm>
            <a:off x="685800" y="3714750"/>
            <a:ext cx="371475" cy="300038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!</a:t>
            </a:r>
            <a:endParaRPr sz="1100"/>
          </a:p>
        </p:txBody>
      </p:sp>
      <p:sp>
        <p:nvSpPr>
          <p:cNvPr id="101" name="Google Shape;101;p4"/>
          <p:cNvSpPr/>
          <p:nvPr/>
        </p:nvSpPr>
        <p:spPr>
          <a:xfrm>
            <a:off x="1178719" y="3686175"/>
            <a:ext cx="1357313" cy="242888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rgbClr val="D92D20"/>
                </a:solidFill>
                <a:latin typeface="Arial"/>
                <a:ea typeface="Arial"/>
                <a:cs typeface="Arial"/>
                <a:sym typeface="Arial"/>
              </a:rPr>
              <a:t>Sharp problem</a:t>
            </a:r>
            <a:endParaRPr sz="1100"/>
          </a:p>
        </p:txBody>
      </p:sp>
      <p:sp>
        <p:nvSpPr>
          <p:cNvPr id="102" name="Google Shape;102;p4"/>
          <p:cNvSpPr/>
          <p:nvPr/>
        </p:nvSpPr>
        <p:spPr>
          <a:xfrm>
            <a:off x="2714625" y="3671888"/>
            <a:ext cx="4572000" cy="314325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rPr>
              <a:t>Riders cannot easily know what data was shared, for how long, or how to act after misuse.</a:t>
            </a:r>
            <a:endParaRPr sz="1100"/>
          </a:p>
        </p:txBody>
      </p:sp>
      <p:sp>
        <p:nvSpPr>
          <p:cNvPr id="103" name="Google Shape;103;p4"/>
          <p:cNvSpPr/>
          <p:nvPr/>
        </p:nvSpPr>
        <p:spPr>
          <a:xfrm>
            <a:off x="7358063" y="3657600"/>
            <a:ext cx="985838" cy="357188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800">
                <a:solidFill>
                  <a:srgbClr val="536170"/>
                </a:solidFill>
                <a:latin typeface="Arial"/>
                <a:ea typeface="Arial"/>
                <a:cs typeface="Arial"/>
                <a:sym typeface="Arial"/>
              </a:rPr>
              <a:t>Assumption: public research and product observation only, no internal Rapido telemetry.</a:t>
            </a:r>
            <a:endParaRPr sz="1100"/>
          </a:p>
        </p:txBody>
      </p:sp>
      <p:sp>
        <p:nvSpPr>
          <p:cNvPr id="104" name="Google Shape;104;p4"/>
          <p:cNvSpPr/>
          <p:nvPr/>
        </p:nvSpPr>
        <p:spPr>
          <a:xfrm>
            <a:off x="300038" y="4750594"/>
            <a:ext cx="8543925" cy="7144"/>
          </a:xfrm>
          <a:prstGeom prst="rect">
            <a:avLst/>
          </a:prstGeom>
          <a:solidFill>
            <a:srgbClr val="EEF2F6"/>
          </a:solidFill>
          <a:ln cap="flat" cmpd="sng" w="9525">
            <a:solidFill>
              <a:srgbClr val="EEF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4"/>
          <p:cNvSpPr/>
          <p:nvPr/>
        </p:nvSpPr>
        <p:spPr>
          <a:xfrm>
            <a:off x="314325" y="4843463"/>
            <a:ext cx="400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700">
                <a:solidFill>
                  <a:srgbClr val="536170"/>
                </a:solidFill>
                <a:latin typeface="Arial"/>
                <a:ea typeface="Arial"/>
                <a:cs typeface="Arial"/>
                <a:sym typeface="Arial"/>
              </a:rPr>
              <a:t>Purpose-bound ride data  |  DPDP product thinking case</a:t>
            </a:r>
            <a:endParaRPr sz="1100"/>
          </a:p>
        </p:txBody>
      </p:sp>
      <p:sp>
        <p:nvSpPr>
          <p:cNvPr id="106" name="Google Shape;106;p4"/>
          <p:cNvSpPr/>
          <p:nvPr/>
        </p:nvSpPr>
        <p:spPr>
          <a:xfrm>
            <a:off x="8572500" y="4843463"/>
            <a:ext cx="285750" cy="157163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700">
                <a:solidFill>
                  <a:srgbClr val="536170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1463" y="214313"/>
            <a:ext cx="271463" cy="271463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5"/>
          <p:cNvSpPr/>
          <p:nvPr/>
        </p:nvSpPr>
        <p:spPr>
          <a:xfrm>
            <a:off x="657225" y="271463"/>
            <a:ext cx="51435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100">
                <a:solidFill>
                  <a:srgbClr val="0B1220"/>
                </a:solidFill>
                <a:latin typeface="Play"/>
                <a:ea typeface="Play"/>
                <a:cs typeface="Play"/>
                <a:sym typeface="Play"/>
              </a:rPr>
              <a:t>Riders want speed without after-ride exposure</a:t>
            </a:r>
            <a:endParaRPr sz="1100"/>
          </a:p>
        </p:txBody>
      </p:sp>
      <p:sp>
        <p:nvSpPr>
          <p:cNvPr id="114" name="Google Shape;114;p5"/>
          <p:cNvSpPr/>
          <p:nvPr/>
        </p:nvSpPr>
        <p:spPr>
          <a:xfrm>
            <a:off x="671513" y="865992"/>
            <a:ext cx="5857800" cy="2142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100">
                <a:solidFill>
                  <a:srgbClr val="536170"/>
                </a:solidFill>
                <a:latin typeface="Arial"/>
                <a:ea typeface="Arial"/>
                <a:cs typeface="Arial"/>
                <a:sym typeface="Arial"/>
              </a:rPr>
              <a:t>A narrow persona keeps the solution practical and the prototype focused.</a:t>
            </a:r>
            <a:endParaRPr sz="1100"/>
          </a:p>
        </p:txBody>
      </p:sp>
      <p:sp>
        <p:nvSpPr>
          <p:cNvPr id="115" name="Google Shape;115;p5"/>
          <p:cNvSpPr/>
          <p:nvPr/>
        </p:nvSpPr>
        <p:spPr>
          <a:xfrm>
            <a:off x="5965031" y="531495"/>
            <a:ext cx="581501" cy="35719"/>
          </a:xfrm>
          <a:prstGeom prst="rect">
            <a:avLst/>
          </a:prstGeom>
          <a:solidFill>
            <a:srgbClr val="FFC400"/>
          </a:solidFill>
          <a:ln cap="flat" cmpd="sng" w="9525">
            <a:solidFill>
              <a:srgbClr val="FFC4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5"/>
          <p:cNvSpPr/>
          <p:nvPr/>
        </p:nvSpPr>
        <p:spPr>
          <a:xfrm>
            <a:off x="6546533" y="436340"/>
            <a:ext cx="581501" cy="35719"/>
          </a:xfrm>
          <a:prstGeom prst="rect">
            <a:avLst/>
          </a:prstGeom>
          <a:solidFill>
            <a:srgbClr val="FFC400"/>
          </a:solidFill>
          <a:ln cap="flat" cmpd="sng" w="9525">
            <a:solidFill>
              <a:srgbClr val="FFC4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5"/>
          <p:cNvSpPr/>
          <p:nvPr/>
        </p:nvSpPr>
        <p:spPr>
          <a:xfrm>
            <a:off x="7128034" y="499777"/>
            <a:ext cx="581501" cy="35719"/>
          </a:xfrm>
          <a:prstGeom prst="rect">
            <a:avLst/>
          </a:prstGeom>
          <a:solidFill>
            <a:srgbClr val="FFC400"/>
          </a:solidFill>
          <a:ln cap="flat" cmpd="sng" w="9525">
            <a:solidFill>
              <a:srgbClr val="FFC4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5"/>
          <p:cNvSpPr/>
          <p:nvPr/>
        </p:nvSpPr>
        <p:spPr>
          <a:xfrm>
            <a:off x="7709535" y="383477"/>
            <a:ext cx="740093" cy="35719"/>
          </a:xfrm>
          <a:prstGeom prst="rect">
            <a:avLst/>
          </a:prstGeom>
          <a:solidFill>
            <a:srgbClr val="FFC400"/>
          </a:solidFill>
          <a:ln cap="flat" cmpd="sng" w="9525">
            <a:solidFill>
              <a:srgbClr val="FFC4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5"/>
          <p:cNvSpPr/>
          <p:nvPr/>
        </p:nvSpPr>
        <p:spPr>
          <a:xfrm>
            <a:off x="5893594" y="494491"/>
            <a:ext cx="142875" cy="142875"/>
          </a:xfrm>
          <a:prstGeom prst="ellipse">
            <a:avLst/>
          </a:prstGeom>
          <a:solidFill>
            <a:srgbClr val="FFFFFF"/>
          </a:solidFill>
          <a:ln cap="flat" cmpd="sng" w="38100">
            <a:solidFill>
              <a:srgbClr val="007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5"/>
          <p:cNvSpPr/>
          <p:nvPr/>
        </p:nvSpPr>
        <p:spPr>
          <a:xfrm>
            <a:off x="8423196" y="325327"/>
            <a:ext cx="214313" cy="214313"/>
          </a:xfrm>
          <a:prstGeom prst="ellipse">
            <a:avLst/>
          </a:prstGeom>
          <a:solidFill>
            <a:srgbClr val="FFC400"/>
          </a:solidFill>
          <a:ln cap="flat" cmpd="sng" w="9525">
            <a:solidFill>
              <a:srgbClr val="FFC4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5"/>
          <p:cNvSpPr/>
          <p:nvPr/>
        </p:nvSpPr>
        <p:spPr>
          <a:xfrm>
            <a:off x="6995875" y="309467"/>
            <a:ext cx="571500" cy="214313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075E4C"/>
                </a:solidFill>
                <a:latin typeface="Arial"/>
                <a:ea typeface="Arial"/>
                <a:cs typeface="Arial"/>
                <a:sym typeface="Arial"/>
              </a:rPr>
              <a:t>ride</a:t>
            </a:r>
            <a:endParaRPr sz="1100"/>
          </a:p>
        </p:txBody>
      </p:sp>
      <p:sp>
        <p:nvSpPr>
          <p:cNvPr id="122" name="Google Shape;122;p5"/>
          <p:cNvSpPr/>
          <p:nvPr/>
        </p:nvSpPr>
        <p:spPr>
          <a:xfrm>
            <a:off x="385763" y="1157288"/>
            <a:ext cx="3714750" cy="2300288"/>
          </a:xfrm>
          <a:prstGeom prst="roundRect">
            <a:avLst>
              <a:gd fmla="val 3727" name="adj"/>
            </a:avLst>
          </a:prstGeom>
          <a:solidFill>
            <a:srgbClr val="FFFFFF"/>
          </a:solidFill>
          <a:ln cap="flat" cmpd="sng" w="9525">
            <a:solidFill>
              <a:srgbClr val="DCE4EC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dir="5400000" dist="9525">
              <a:srgbClr val="000000">
                <a:alpha val="5882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5"/>
          <p:cNvSpPr/>
          <p:nvPr/>
        </p:nvSpPr>
        <p:spPr>
          <a:xfrm>
            <a:off x="628650" y="1385888"/>
            <a:ext cx="914400" cy="914400"/>
          </a:xfrm>
          <a:prstGeom prst="ellipse">
            <a:avLst/>
          </a:prstGeom>
          <a:solidFill>
            <a:srgbClr val="E7F6EF"/>
          </a:solidFill>
          <a:ln cap="flat" cmpd="sng" w="9525">
            <a:solidFill>
              <a:srgbClr val="E7F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5"/>
          <p:cNvSpPr/>
          <p:nvPr/>
        </p:nvSpPr>
        <p:spPr>
          <a:xfrm>
            <a:off x="628650" y="1535906"/>
            <a:ext cx="914400" cy="528638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300">
                <a:solidFill>
                  <a:srgbClr val="075E4C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sz="1100"/>
          </a:p>
        </p:txBody>
      </p:sp>
      <p:sp>
        <p:nvSpPr>
          <p:cNvPr id="125" name="Google Shape;125;p5"/>
          <p:cNvSpPr/>
          <p:nvPr/>
        </p:nvSpPr>
        <p:spPr>
          <a:xfrm>
            <a:off x="1714500" y="1385888"/>
            <a:ext cx="1857375" cy="2857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00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rPr>
              <a:t>Shruti, 21</a:t>
            </a:r>
            <a:endParaRPr sz="1100"/>
          </a:p>
        </p:txBody>
      </p:sp>
      <p:sp>
        <p:nvSpPr>
          <p:cNvPr id="126" name="Google Shape;126;p5"/>
          <p:cNvSpPr/>
          <p:nvPr/>
        </p:nvSpPr>
        <p:spPr>
          <a:xfrm>
            <a:off x="1728788" y="1700213"/>
            <a:ext cx="1928813" cy="200025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000">
                <a:solidFill>
                  <a:srgbClr val="075E4C"/>
                </a:solidFill>
                <a:latin typeface="Arial"/>
                <a:ea typeface="Arial"/>
                <a:cs typeface="Arial"/>
                <a:sym typeface="Arial"/>
              </a:rPr>
              <a:t>College student, Bengaluru</a:t>
            </a:r>
            <a:endParaRPr sz="1100"/>
          </a:p>
        </p:txBody>
      </p:sp>
      <p:sp>
        <p:nvSpPr>
          <p:cNvPr id="127" name="Google Shape;127;p5"/>
          <p:cNvSpPr/>
          <p:nvPr/>
        </p:nvSpPr>
        <p:spPr>
          <a:xfrm>
            <a:off x="1728788" y="2014538"/>
            <a:ext cx="2043113" cy="714375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000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rPr>
              <a:t>- Uses Rapido 4-5 times a week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000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rPr>
              <a:t>- Shares location, phone, and route context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000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rPr>
              <a:t>- Needs reliable pickup but dislikes lingering contact</a:t>
            </a:r>
            <a:endParaRPr sz="1100"/>
          </a:p>
        </p:txBody>
      </p:sp>
      <p:sp>
        <p:nvSpPr>
          <p:cNvPr id="128" name="Google Shape;128;p5"/>
          <p:cNvSpPr/>
          <p:nvPr/>
        </p:nvSpPr>
        <p:spPr>
          <a:xfrm>
            <a:off x="614363" y="2814638"/>
            <a:ext cx="3186113" cy="471488"/>
          </a:xfrm>
          <a:prstGeom prst="roundRect">
            <a:avLst>
              <a:gd fmla="val 18182" name="adj"/>
            </a:avLst>
          </a:prstGeom>
          <a:solidFill>
            <a:srgbClr val="E7F6EF"/>
          </a:solidFill>
          <a:ln cap="flat" cmpd="sng" w="9525">
            <a:solidFill>
              <a:srgbClr val="E7F6EF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dir="5400000" dist="9525">
              <a:srgbClr val="000000">
                <a:alpha val="5882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5"/>
          <p:cNvSpPr/>
          <p:nvPr/>
        </p:nvSpPr>
        <p:spPr>
          <a:xfrm>
            <a:off x="757238" y="2936081"/>
            <a:ext cx="2814638" cy="2286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rgbClr val="075E4C"/>
                </a:solidFill>
                <a:latin typeface="Arial"/>
                <a:ea typeface="Arial"/>
                <a:cs typeface="Arial"/>
                <a:sym typeface="Arial"/>
              </a:rPr>
              <a:t>Expectation: data access should stop when the ride purpose is complete.</a:t>
            </a:r>
            <a:endParaRPr sz="1100"/>
          </a:p>
        </p:txBody>
      </p:sp>
      <p:sp>
        <p:nvSpPr>
          <p:cNvPr id="130" name="Google Shape;130;p5"/>
          <p:cNvSpPr/>
          <p:nvPr/>
        </p:nvSpPr>
        <p:spPr>
          <a:xfrm>
            <a:off x="4329113" y="1157288"/>
            <a:ext cx="4429125" cy="2300288"/>
          </a:xfrm>
          <a:prstGeom prst="roundRect">
            <a:avLst>
              <a:gd fmla="val 3727" name="adj"/>
            </a:avLst>
          </a:prstGeom>
          <a:solidFill>
            <a:srgbClr val="FFFFFF"/>
          </a:solidFill>
          <a:ln cap="flat" cmpd="sng" w="9525">
            <a:solidFill>
              <a:srgbClr val="DCE4EC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dir="5400000" dist="9525">
              <a:srgbClr val="000000">
                <a:alpha val="5882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5"/>
          <p:cNvSpPr/>
          <p:nvPr/>
        </p:nvSpPr>
        <p:spPr>
          <a:xfrm>
            <a:off x="4557713" y="1335881"/>
            <a:ext cx="3571875" cy="242888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rPr>
              <a:t>Jobs Shruti needs Rapido to handle</a:t>
            </a:r>
            <a:endParaRPr sz="1100"/>
          </a:p>
        </p:txBody>
      </p:sp>
      <p:sp>
        <p:nvSpPr>
          <p:cNvPr id="132" name="Google Shape;132;p5"/>
          <p:cNvSpPr/>
          <p:nvPr/>
        </p:nvSpPr>
        <p:spPr>
          <a:xfrm>
            <a:off x="4600575" y="1750219"/>
            <a:ext cx="300038" cy="300038"/>
          </a:xfrm>
          <a:prstGeom prst="ellipse">
            <a:avLst/>
          </a:prstGeom>
          <a:solidFill>
            <a:srgbClr val="E7F6EF"/>
          </a:solidFill>
          <a:ln cap="flat" cmpd="sng" w="9525">
            <a:solidFill>
              <a:srgbClr val="E7F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5"/>
          <p:cNvSpPr/>
          <p:nvPr/>
        </p:nvSpPr>
        <p:spPr>
          <a:xfrm>
            <a:off x="4600575" y="1800225"/>
            <a:ext cx="300038" cy="2286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rgbClr val="075E4C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100"/>
          </a:p>
        </p:txBody>
      </p:sp>
      <p:sp>
        <p:nvSpPr>
          <p:cNvPr id="134" name="Google Shape;134;p5"/>
          <p:cNvSpPr/>
          <p:nvPr/>
        </p:nvSpPr>
        <p:spPr>
          <a:xfrm>
            <a:off x="5000625" y="1757363"/>
            <a:ext cx="942975" cy="185738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075E4C"/>
                </a:solidFill>
                <a:latin typeface="Arial"/>
                <a:ea typeface="Arial"/>
                <a:cs typeface="Arial"/>
                <a:sym typeface="Arial"/>
              </a:rPr>
              <a:t>Functional</a:t>
            </a:r>
            <a:endParaRPr sz="1100"/>
          </a:p>
        </p:txBody>
      </p:sp>
      <p:sp>
        <p:nvSpPr>
          <p:cNvPr id="135" name="Google Shape;135;p5"/>
          <p:cNvSpPr/>
          <p:nvPr/>
        </p:nvSpPr>
        <p:spPr>
          <a:xfrm>
            <a:off x="6036469" y="1778794"/>
            <a:ext cx="1443038" cy="257175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000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rPr>
              <a:t>Quick pickup and safe arrival.</a:t>
            </a:r>
            <a:endParaRPr sz="1100"/>
          </a:p>
        </p:txBody>
      </p:sp>
      <p:sp>
        <p:nvSpPr>
          <p:cNvPr id="136" name="Google Shape;136;p5"/>
          <p:cNvSpPr/>
          <p:nvPr/>
        </p:nvSpPr>
        <p:spPr>
          <a:xfrm>
            <a:off x="7658100" y="1764506"/>
            <a:ext cx="871538" cy="228600"/>
          </a:xfrm>
          <a:prstGeom prst="roundRect">
            <a:avLst>
              <a:gd fmla="val 25000" name="adj"/>
            </a:avLst>
          </a:prstGeom>
          <a:solidFill>
            <a:srgbClr val="E7F6EF"/>
          </a:solidFill>
          <a:ln cap="flat" cmpd="sng" w="9525">
            <a:solidFill>
              <a:srgbClr val="E7F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5"/>
          <p:cNvSpPr/>
          <p:nvPr/>
        </p:nvSpPr>
        <p:spPr>
          <a:xfrm>
            <a:off x="7743825" y="1800225"/>
            <a:ext cx="700088" cy="1714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700">
                <a:solidFill>
                  <a:srgbClr val="075E4C"/>
                </a:solidFill>
                <a:latin typeface="Arial"/>
                <a:ea typeface="Arial"/>
                <a:cs typeface="Arial"/>
                <a:sym typeface="Arial"/>
              </a:rPr>
              <a:t>purpose-limited</a:t>
            </a:r>
            <a:endParaRPr sz="1100"/>
          </a:p>
        </p:txBody>
      </p:sp>
      <p:sp>
        <p:nvSpPr>
          <p:cNvPr id="138" name="Google Shape;138;p5"/>
          <p:cNvSpPr/>
          <p:nvPr/>
        </p:nvSpPr>
        <p:spPr>
          <a:xfrm>
            <a:off x="4600575" y="2235994"/>
            <a:ext cx="300038" cy="300038"/>
          </a:xfrm>
          <a:prstGeom prst="ellipse">
            <a:avLst/>
          </a:prstGeom>
          <a:solidFill>
            <a:srgbClr val="FFF4DE"/>
          </a:solidFill>
          <a:ln cap="flat" cmpd="sng" w="9525">
            <a:solidFill>
              <a:srgbClr val="FFF4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5"/>
          <p:cNvSpPr/>
          <p:nvPr/>
        </p:nvSpPr>
        <p:spPr>
          <a:xfrm>
            <a:off x="4600575" y="2286000"/>
            <a:ext cx="300038" cy="2286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rgbClr val="D97706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100"/>
          </a:p>
        </p:txBody>
      </p:sp>
      <p:sp>
        <p:nvSpPr>
          <p:cNvPr id="140" name="Google Shape;140;p5"/>
          <p:cNvSpPr/>
          <p:nvPr/>
        </p:nvSpPr>
        <p:spPr>
          <a:xfrm>
            <a:off x="5000625" y="2243138"/>
            <a:ext cx="942975" cy="185738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D97706"/>
                </a:solidFill>
                <a:latin typeface="Arial"/>
                <a:ea typeface="Arial"/>
                <a:cs typeface="Arial"/>
                <a:sym typeface="Arial"/>
              </a:rPr>
              <a:t>Emotional</a:t>
            </a:r>
            <a:endParaRPr sz="1100"/>
          </a:p>
        </p:txBody>
      </p:sp>
      <p:sp>
        <p:nvSpPr>
          <p:cNvPr id="141" name="Google Shape;141;p5"/>
          <p:cNvSpPr/>
          <p:nvPr/>
        </p:nvSpPr>
        <p:spPr>
          <a:xfrm>
            <a:off x="6036469" y="2264569"/>
            <a:ext cx="1443038" cy="257175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000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rPr>
              <a:t>No post-ride contact or tracking.</a:t>
            </a:r>
            <a:endParaRPr sz="1100"/>
          </a:p>
        </p:txBody>
      </p:sp>
      <p:sp>
        <p:nvSpPr>
          <p:cNvPr id="142" name="Google Shape;142;p5"/>
          <p:cNvSpPr/>
          <p:nvPr/>
        </p:nvSpPr>
        <p:spPr>
          <a:xfrm>
            <a:off x="7658100" y="2250281"/>
            <a:ext cx="871538" cy="228600"/>
          </a:xfrm>
          <a:prstGeom prst="roundRect">
            <a:avLst>
              <a:gd fmla="val 25000" name="adj"/>
            </a:avLst>
          </a:prstGeom>
          <a:solidFill>
            <a:srgbClr val="E7F6EF"/>
          </a:solidFill>
          <a:ln cap="flat" cmpd="sng" w="9525">
            <a:solidFill>
              <a:srgbClr val="E7F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5"/>
          <p:cNvSpPr/>
          <p:nvPr/>
        </p:nvSpPr>
        <p:spPr>
          <a:xfrm>
            <a:off x="7743825" y="2286000"/>
            <a:ext cx="700088" cy="1714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700">
                <a:solidFill>
                  <a:srgbClr val="075E4C"/>
                </a:solidFill>
                <a:latin typeface="Arial"/>
                <a:ea typeface="Arial"/>
                <a:cs typeface="Arial"/>
                <a:sym typeface="Arial"/>
              </a:rPr>
              <a:t>purpose-limited</a:t>
            </a:r>
            <a:endParaRPr sz="1100"/>
          </a:p>
        </p:txBody>
      </p:sp>
      <p:sp>
        <p:nvSpPr>
          <p:cNvPr id="144" name="Google Shape;144;p5"/>
          <p:cNvSpPr/>
          <p:nvPr/>
        </p:nvSpPr>
        <p:spPr>
          <a:xfrm>
            <a:off x="4600575" y="2721769"/>
            <a:ext cx="300038" cy="300038"/>
          </a:xfrm>
          <a:prstGeom prst="ellipse">
            <a:avLst/>
          </a:prstGeom>
          <a:solidFill>
            <a:srgbClr val="EAF2FF"/>
          </a:solidFill>
          <a:ln cap="flat" cmpd="sng" w="9525">
            <a:solidFill>
              <a:srgbClr val="EAF2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5"/>
          <p:cNvSpPr/>
          <p:nvPr/>
        </p:nvSpPr>
        <p:spPr>
          <a:xfrm>
            <a:off x="4600575" y="2771775"/>
            <a:ext cx="300038" cy="2286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100"/>
          </a:p>
        </p:txBody>
      </p:sp>
      <p:sp>
        <p:nvSpPr>
          <p:cNvPr id="146" name="Google Shape;146;p5"/>
          <p:cNvSpPr/>
          <p:nvPr/>
        </p:nvSpPr>
        <p:spPr>
          <a:xfrm>
            <a:off x="5000625" y="2728913"/>
            <a:ext cx="942975" cy="185738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Social</a:t>
            </a:r>
            <a:endParaRPr sz="1100"/>
          </a:p>
        </p:txBody>
      </p:sp>
      <p:sp>
        <p:nvSpPr>
          <p:cNvPr id="147" name="Google Shape;147;p5"/>
          <p:cNvSpPr/>
          <p:nvPr/>
        </p:nvSpPr>
        <p:spPr>
          <a:xfrm>
            <a:off x="6036469" y="2750344"/>
            <a:ext cx="1443038" cy="257175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000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rPr>
              <a:t>Control over personal data.</a:t>
            </a:r>
            <a:endParaRPr sz="1100"/>
          </a:p>
        </p:txBody>
      </p:sp>
      <p:sp>
        <p:nvSpPr>
          <p:cNvPr id="148" name="Google Shape;148;p5"/>
          <p:cNvSpPr/>
          <p:nvPr/>
        </p:nvSpPr>
        <p:spPr>
          <a:xfrm>
            <a:off x="7658100" y="2736056"/>
            <a:ext cx="871538" cy="228600"/>
          </a:xfrm>
          <a:prstGeom prst="roundRect">
            <a:avLst>
              <a:gd fmla="val 25000" name="adj"/>
            </a:avLst>
          </a:prstGeom>
          <a:solidFill>
            <a:srgbClr val="E7F6EF"/>
          </a:solidFill>
          <a:ln cap="flat" cmpd="sng" w="9525">
            <a:solidFill>
              <a:srgbClr val="E7F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5"/>
          <p:cNvSpPr/>
          <p:nvPr/>
        </p:nvSpPr>
        <p:spPr>
          <a:xfrm>
            <a:off x="7743825" y="2771775"/>
            <a:ext cx="700088" cy="1714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700">
                <a:solidFill>
                  <a:srgbClr val="075E4C"/>
                </a:solidFill>
                <a:latin typeface="Arial"/>
                <a:ea typeface="Arial"/>
                <a:cs typeface="Arial"/>
                <a:sym typeface="Arial"/>
              </a:rPr>
              <a:t>purpose-limited</a:t>
            </a:r>
            <a:endParaRPr sz="1100"/>
          </a:p>
        </p:txBody>
      </p:sp>
      <p:sp>
        <p:nvSpPr>
          <p:cNvPr id="150" name="Google Shape;150;p5"/>
          <p:cNvSpPr/>
          <p:nvPr/>
        </p:nvSpPr>
        <p:spPr>
          <a:xfrm>
            <a:off x="385763" y="3700463"/>
            <a:ext cx="5457825" cy="900113"/>
          </a:xfrm>
          <a:prstGeom prst="roundRect">
            <a:avLst>
              <a:gd fmla="val 15000" name="adj"/>
            </a:avLst>
          </a:prstGeom>
          <a:solidFill>
            <a:srgbClr val="FFFFFF"/>
          </a:solidFill>
          <a:ln cap="flat" cmpd="sng" w="9525">
            <a:solidFill>
              <a:srgbClr val="DCE4EC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dir="5400000" dist="9525">
              <a:srgbClr val="000000">
                <a:alpha val="5882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5"/>
          <p:cNvSpPr/>
          <p:nvPr/>
        </p:nvSpPr>
        <p:spPr>
          <a:xfrm>
            <a:off x="585788" y="3821906"/>
            <a:ext cx="1571625" cy="200025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rPr>
              <a:t>Current workarounds</a:t>
            </a:r>
            <a:endParaRPr sz="1100"/>
          </a:p>
        </p:txBody>
      </p:sp>
      <p:sp>
        <p:nvSpPr>
          <p:cNvPr id="152" name="Google Shape;152;p5"/>
          <p:cNvSpPr/>
          <p:nvPr/>
        </p:nvSpPr>
        <p:spPr>
          <a:xfrm>
            <a:off x="628650" y="4057650"/>
            <a:ext cx="914400" cy="300000"/>
          </a:xfrm>
          <a:prstGeom prst="roundRect">
            <a:avLst>
              <a:gd fmla="val 26667" name="adj"/>
            </a:avLst>
          </a:prstGeom>
          <a:solidFill>
            <a:srgbClr val="F1F5F9"/>
          </a:solidFill>
          <a:ln cap="flat" cmpd="sng" w="9525">
            <a:solidFill>
              <a:srgbClr val="F1F5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5"/>
          <p:cNvSpPr/>
          <p:nvPr/>
        </p:nvSpPr>
        <p:spPr>
          <a:xfrm>
            <a:off x="714375" y="4093376"/>
            <a:ext cx="743100" cy="3000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700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rPr>
              <a:t>Ignore unknown calls</a:t>
            </a:r>
            <a:endParaRPr sz="1100"/>
          </a:p>
        </p:txBody>
      </p:sp>
      <p:sp>
        <p:nvSpPr>
          <p:cNvPr id="154" name="Google Shape;154;p5"/>
          <p:cNvSpPr/>
          <p:nvPr/>
        </p:nvSpPr>
        <p:spPr>
          <a:xfrm>
            <a:off x="1628775" y="4057650"/>
            <a:ext cx="914400" cy="300000"/>
          </a:xfrm>
          <a:prstGeom prst="roundRect">
            <a:avLst>
              <a:gd fmla="val 26667" name="adj"/>
            </a:avLst>
          </a:prstGeom>
          <a:solidFill>
            <a:srgbClr val="F1F5F9"/>
          </a:solidFill>
          <a:ln cap="flat" cmpd="sng" w="9525">
            <a:solidFill>
              <a:srgbClr val="F1F5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5"/>
          <p:cNvSpPr/>
          <p:nvPr/>
        </p:nvSpPr>
        <p:spPr>
          <a:xfrm>
            <a:off x="1714500" y="4136200"/>
            <a:ext cx="743100" cy="1428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700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rPr>
              <a:t>Ask for chat</a:t>
            </a:r>
            <a:endParaRPr sz="1100"/>
          </a:p>
        </p:txBody>
      </p:sp>
      <p:sp>
        <p:nvSpPr>
          <p:cNvPr id="156" name="Google Shape;156;p5"/>
          <p:cNvSpPr/>
          <p:nvPr/>
        </p:nvSpPr>
        <p:spPr>
          <a:xfrm>
            <a:off x="2628900" y="4057650"/>
            <a:ext cx="914400" cy="314400"/>
          </a:xfrm>
          <a:prstGeom prst="roundRect">
            <a:avLst>
              <a:gd fmla="val 26667" name="adj"/>
            </a:avLst>
          </a:prstGeom>
          <a:solidFill>
            <a:srgbClr val="F1F5F9"/>
          </a:solidFill>
          <a:ln cap="flat" cmpd="sng" w="9525">
            <a:solidFill>
              <a:srgbClr val="F1F5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5"/>
          <p:cNvSpPr/>
          <p:nvPr/>
        </p:nvSpPr>
        <p:spPr>
          <a:xfrm>
            <a:off x="2714625" y="4093369"/>
            <a:ext cx="742950" cy="157163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700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rPr>
              <a:t>Keep phone on silent</a:t>
            </a:r>
            <a:endParaRPr sz="1100"/>
          </a:p>
        </p:txBody>
      </p:sp>
      <p:sp>
        <p:nvSpPr>
          <p:cNvPr id="158" name="Google Shape;158;p5"/>
          <p:cNvSpPr/>
          <p:nvPr/>
        </p:nvSpPr>
        <p:spPr>
          <a:xfrm>
            <a:off x="3629025" y="4057650"/>
            <a:ext cx="914400" cy="285600"/>
          </a:xfrm>
          <a:prstGeom prst="roundRect">
            <a:avLst>
              <a:gd fmla="val 26667" name="adj"/>
            </a:avLst>
          </a:prstGeom>
          <a:solidFill>
            <a:srgbClr val="F1F5F9"/>
          </a:solidFill>
          <a:ln cap="flat" cmpd="sng" w="9525">
            <a:solidFill>
              <a:srgbClr val="F1F5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5"/>
          <p:cNvSpPr/>
          <p:nvPr/>
        </p:nvSpPr>
        <p:spPr>
          <a:xfrm>
            <a:off x="3714750" y="4093369"/>
            <a:ext cx="742950" cy="157163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700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rPr>
              <a:t>Share nearby landmark</a:t>
            </a:r>
            <a:endParaRPr sz="1100"/>
          </a:p>
        </p:txBody>
      </p:sp>
      <p:sp>
        <p:nvSpPr>
          <p:cNvPr id="160" name="Google Shape;160;p5"/>
          <p:cNvSpPr/>
          <p:nvPr/>
        </p:nvSpPr>
        <p:spPr>
          <a:xfrm>
            <a:off x="4629150" y="4057650"/>
            <a:ext cx="914400" cy="300000"/>
          </a:xfrm>
          <a:prstGeom prst="roundRect">
            <a:avLst>
              <a:gd fmla="val 26667" name="adj"/>
            </a:avLst>
          </a:prstGeom>
          <a:solidFill>
            <a:srgbClr val="F1F5F9"/>
          </a:solidFill>
          <a:ln cap="flat" cmpd="sng" w="9525">
            <a:solidFill>
              <a:srgbClr val="F1F5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5"/>
          <p:cNvSpPr/>
          <p:nvPr/>
        </p:nvSpPr>
        <p:spPr>
          <a:xfrm>
            <a:off x="4714875" y="4093369"/>
            <a:ext cx="742950" cy="157163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700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rPr>
              <a:t>Request no future contact</a:t>
            </a:r>
            <a:endParaRPr sz="1100"/>
          </a:p>
        </p:txBody>
      </p:sp>
      <p:sp>
        <p:nvSpPr>
          <p:cNvPr id="162" name="Google Shape;162;p5"/>
          <p:cNvSpPr/>
          <p:nvPr/>
        </p:nvSpPr>
        <p:spPr>
          <a:xfrm>
            <a:off x="6000750" y="3700480"/>
            <a:ext cx="2757600" cy="805500"/>
          </a:xfrm>
          <a:prstGeom prst="roundRect">
            <a:avLst>
              <a:gd fmla="val 15000" name="adj"/>
            </a:avLst>
          </a:prstGeom>
          <a:solidFill>
            <a:srgbClr val="FFF6D8"/>
          </a:solidFill>
          <a:ln cap="flat" cmpd="sng" w="9525">
            <a:solidFill>
              <a:srgbClr val="F3D477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dir="5400000" dist="9525">
              <a:srgbClr val="000000">
                <a:alpha val="5882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5"/>
          <p:cNvSpPr/>
          <p:nvPr/>
        </p:nvSpPr>
        <p:spPr>
          <a:xfrm>
            <a:off x="6215063" y="3814763"/>
            <a:ext cx="1571625" cy="200025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D97706"/>
                </a:solidFill>
                <a:latin typeface="Arial"/>
                <a:ea typeface="Arial"/>
                <a:cs typeface="Arial"/>
                <a:sym typeface="Arial"/>
              </a:rPr>
              <a:t>Child-user boundary</a:t>
            </a:r>
            <a:endParaRPr sz="1100"/>
          </a:p>
        </p:txBody>
      </p:sp>
      <p:sp>
        <p:nvSpPr>
          <p:cNvPr id="164" name="Google Shape;164;p5"/>
          <p:cNvSpPr/>
          <p:nvPr/>
        </p:nvSpPr>
        <p:spPr>
          <a:xfrm>
            <a:off x="6215063" y="4014788"/>
            <a:ext cx="2185988" cy="314325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800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rPr>
              <a:t>Minors are not the primary persona; add age signals and verifiable parent consent later.</a:t>
            </a:r>
            <a:endParaRPr sz="1100"/>
          </a:p>
        </p:txBody>
      </p:sp>
      <p:sp>
        <p:nvSpPr>
          <p:cNvPr id="165" name="Google Shape;165;p5"/>
          <p:cNvSpPr/>
          <p:nvPr/>
        </p:nvSpPr>
        <p:spPr>
          <a:xfrm>
            <a:off x="300038" y="4750594"/>
            <a:ext cx="8543925" cy="7144"/>
          </a:xfrm>
          <a:prstGeom prst="rect">
            <a:avLst/>
          </a:prstGeom>
          <a:solidFill>
            <a:srgbClr val="EEF2F6"/>
          </a:solidFill>
          <a:ln cap="flat" cmpd="sng" w="9525">
            <a:solidFill>
              <a:srgbClr val="EEF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5"/>
          <p:cNvSpPr/>
          <p:nvPr/>
        </p:nvSpPr>
        <p:spPr>
          <a:xfrm>
            <a:off x="314325" y="4843463"/>
            <a:ext cx="400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700">
                <a:solidFill>
                  <a:srgbClr val="536170"/>
                </a:solidFill>
                <a:latin typeface="Arial"/>
                <a:ea typeface="Arial"/>
                <a:cs typeface="Arial"/>
                <a:sym typeface="Arial"/>
              </a:rPr>
              <a:t>Purpose-bound ride data  |  DPDP product thinking case</a:t>
            </a:r>
            <a:endParaRPr sz="1100"/>
          </a:p>
        </p:txBody>
      </p:sp>
      <p:sp>
        <p:nvSpPr>
          <p:cNvPr id="167" name="Google Shape;167;p5"/>
          <p:cNvSpPr/>
          <p:nvPr/>
        </p:nvSpPr>
        <p:spPr>
          <a:xfrm>
            <a:off x="8572500" y="4843463"/>
            <a:ext cx="285750" cy="157163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700">
                <a:solidFill>
                  <a:srgbClr val="536170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Google Shape;17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1463" y="214313"/>
            <a:ext cx="271463" cy="271463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6"/>
          <p:cNvSpPr/>
          <p:nvPr/>
        </p:nvSpPr>
        <p:spPr>
          <a:xfrm>
            <a:off x="657225" y="271463"/>
            <a:ext cx="51435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100">
                <a:solidFill>
                  <a:srgbClr val="0B1220"/>
                </a:solidFill>
                <a:latin typeface="Play"/>
                <a:ea typeface="Play"/>
                <a:cs typeface="Play"/>
                <a:sym typeface="Play"/>
              </a:rPr>
              <a:t>Today's ride flow creates five privacy risk points</a:t>
            </a:r>
            <a:endParaRPr sz="1100"/>
          </a:p>
        </p:txBody>
      </p:sp>
      <p:sp>
        <p:nvSpPr>
          <p:cNvPr id="175" name="Google Shape;175;p6"/>
          <p:cNvSpPr/>
          <p:nvPr/>
        </p:nvSpPr>
        <p:spPr>
          <a:xfrm>
            <a:off x="585788" y="621506"/>
            <a:ext cx="5857875" cy="214313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100">
              <a:solidFill>
                <a:srgbClr val="53617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6"/>
          <p:cNvSpPr/>
          <p:nvPr/>
        </p:nvSpPr>
        <p:spPr>
          <a:xfrm>
            <a:off x="5965031" y="531495"/>
            <a:ext cx="581501" cy="35719"/>
          </a:xfrm>
          <a:prstGeom prst="rect">
            <a:avLst/>
          </a:prstGeom>
          <a:solidFill>
            <a:srgbClr val="FFC400"/>
          </a:solidFill>
          <a:ln cap="flat" cmpd="sng" w="9525">
            <a:solidFill>
              <a:srgbClr val="FFC4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6"/>
          <p:cNvSpPr/>
          <p:nvPr/>
        </p:nvSpPr>
        <p:spPr>
          <a:xfrm>
            <a:off x="6546533" y="436340"/>
            <a:ext cx="581501" cy="35719"/>
          </a:xfrm>
          <a:prstGeom prst="rect">
            <a:avLst/>
          </a:prstGeom>
          <a:solidFill>
            <a:srgbClr val="FFC400"/>
          </a:solidFill>
          <a:ln cap="flat" cmpd="sng" w="9525">
            <a:solidFill>
              <a:srgbClr val="FFC4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6"/>
          <p:cNvSpPr/>
          <p:nvPr/>
        </p:nvSpPr>
        <p:spPr>
          <a:xfrm>
            <a:off x="7128034" y="499777"/>
            <a:ext cx="581501" cy="35719"/>
          </a:xfrm>
          <a:prstGeom prst="rect">
            <a:avLst/>
          </a:prstGeom>
          <a:solidFill>
            <a:srgbClr val="FFC400"/>
          </a:solidFill>
          <a:ln cap="flat" cmpd="sng" w="9525">
            <a:solidFill>
              <a:srgbClr val="FFC4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6"/>
          <p:cNvSpPr/>
          <p:nvPr/>
        </p:nvSpPr>
        <p:spPr>
          <a:xfrm>
            <a:off x="7709535" y="383477"/>
            <a:ext cx="740093" cy="35719"/>
          </a:xfrm>
          <a:prstGeom prst="rect">
            <a:avLst/>
          </a:prstGeom>
          <a:solidFill>
            <a:srgbClr val="FFC400"/>
          </a:solidFill>
          <a:ln cap="flat" cmpd="sng" w="9525">
            <a:solidFill>
              <a:srgbClr val="FFC4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6"/>
          <p:cNvSpPr/>
          <p:nvPr/>
        </p:nvSpPr>
        <p:spPr>
          <a:xfrm>
            <a:off x="5893594" y="494491"/>
            <a:ext cx="142875" cy="142875"/>
          </a:xfrm>
          <a:prstGeom prst="ellipse">
            <a:avLst/>
          </a:prstGeom>
          <a:solidFill>
            <a:srgbClr val="FFFFFF"/>
          </a:solidFill>
          <a:ln cap="flat" cmpd="sng" w="38100">
            <a:solidFill>
              <a:srgbClr val="007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6"/>
          <p:cNvSpPr/>
          <p:nvPr/>
        </p:nvSpPr>
        <p:spPr>
          <a:xfrm>
            <a:off x="8423196" y="325327"/>
            <a:ext cx="214313" cy="214313"/>
          </a:xfrm>
          <a:prstGeom prst="ellipse">
            <a:avLst/>
          </a:prstGeom>
          <a:solidFill>
            <a:srgbClr val="FFC400"/>
          </a:solidFill>
          <a:ln cap="flat" cmpd="sng" w="9525">
            <a:solidFill>
              <a:srgbClr val="FFC4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6"/>
          <p:cNvSpPr/>
          <p:nvPr/>
        </p:nvSpPr>
        <p:spPr>
          <a:xfrm>
            <a:off x="6995875" y="309467"/>
            <a:ext cx="571500" cy="214313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075E4C"/>
                </a:solidFill>
                <a:latin typeface="Arial"/>
                <a:ea typeface="Arial"/>
                <a:cs typeface="Arial"/>
                <a:sym typeface="Arial"/>
              </a:rPr>
              <a:t>ride</a:t>
            </a:r>
            <a:endParaRPr sz="1100"/>
          </a:p>
        </p:txBody>
      </p:sp>
      <p:sp>
        <p:nvSpPr>
          <p:cNvPr id="183" name="Google Shape;183;p6"/>
          <p:cNvSpPr/>
          <p:nvPr/>
        </p:nvSpPr>
        <p:spPr>
          <a:xfrm>
            <a:off x="400050" y="1200150"/>
            <a:ext cx="257175" cy="257175"/>
          </a:xfrm>
          <a:prstGeom prst="ellipse">
            <a:avLst/>
          </a:prstGeom>
          <a:solidFill>
            <a:srgbClr val="FFC400"/>
          </a:solidFill>
          <a:ln cap="flat" cmpd="sng" w="9525">
            <a:solidFill>
              <a:srgbClr val="FFC4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6"/>
          <p:cNvSpPr/>
          <p:nvPr/>
        </p:nvSpPr>
        <p:spPr>
          <a:xfrm>
            <a:off x="400050" y="1250156"/>
            <a:ext cx="257175" cy="185738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100"/>
          </a:p>
        </p:txBody>
      </p:sp>
      <p:sp>
        <p:nvSpPr>
          <p:cNvPr id="185" name="Google Shape;185;p6"/>
          <p:cNvSpPr/>
          <p:nvPr/>
        </p:nvSpPr>
        <p:spPr>
          <a:xfrm>
            <a:off x="714375" y="1214438"/>
            <a:ext cx="1014413" cy="200025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rPr>
              <a:t>Booking</a:t>
            </a:r>
            <a:endParaRPr sz="1100"/>
          </a:p>
        </p:txBody>
      </p:sp>
      <p:sp>
        <p:nvSpPr>
          <p:cNvPr id="186" name="Google Shape;186;p6"/>
          <p:cNvSpPr/>
          <p:nvPr/>
        </p:nvSpPr>
        <p:spPr>
          <a:xfrm>
            <a:off x="542925" y="1514475"/>
            <a:ext cx="1185863" cy="1414463"/>
          </a:xfrm>
          <a:prstGeom prst="roundRect">
            <a:avLst>
              <a:gd fmla="val 9639" name="adj"/>
            </a:avLst>
          </a:prstGeom>
          <a:solidFill>
            <a:srgbClr val="111827"/>
          </a:solidFill>
          <a:ln cap="flat" cmpd="sng" w="9525">
            <a:solidFill>
              <a:srgbClr val="1118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6"/>
          <p:cNvSpPr/>
          <p:nvPr/>
        </p:nvSpPr>
        <p:spPr>
          <a:xfrm>
            <a:off x="600075" y="1571625"/>
            <a:ext cx="1071563" cy="1300163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6"/>
          <p:cNvSpPr/>
          <p:nvPr/>
        </p:nvSpPr>
        <p:spPr>
          <a:xfrm>
            <a:off x="993553" y="1607344"/>
            <a:ext cx="284607" cy="50006"/>
          </a:xfrm>
          <a:prstGeom prst="roundRect">
            <a:avLst>
              <a:gd fmla="val 50000" name="adj"/>
            </a:avLst>
          </a:prstGeom>
          <a:solidFill>
            <a:srgbClr val="111827"/>
          </a:solidFill>
          <a:ln cap="flat" cmpd="sng" w="9525">
            <a:solidFill>
              <a:srgbClr val="1118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6"/>
          <p:cNvSpPr/>
          <p:nvPr/>
        </p:nvSpPr>
        <p:spPr>
          <a:xfrm>
            <a:off x="671513" y="1693069"/>
            <a:ext cx="314325" cy="128588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600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rPr>
              <a:t>9:41</a:t>
            </a:r>
            <a:endParaRPr sz="1100"/>
          </a:p>
        </p:txBody>
      </p:sp>
      <p:sp>
        <p:nvSpPr>
          <p:cNvPr id="190" name="Google Shape;190;p6"/>
          <p:cNvSpPr/>
          <p:nvPr/>
        </p:nvSpPr>
        <p:spPr>
          <a:xfrm>
            <a:off x="671513" y="1885950"/>
            <a:ext cx="928688" cy="185738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700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rPr>
              <a:t>Booking</a:t>
            </a:r>
            <a:endParaRPr sz="1100"/>
          </a:p>
        </p:txBody>
      </p:sp>
      <p:sp>
        <p:nvSpPr>
          <p:cNvPr id="191" name="Google Shape;191;p6"/>
          <p:cNvSpPr/>
          <p:nvPr/>
        </p:nvSpPr>
        <p:spPr>
          <a:xfrm>
            <a:off x="685800" y="2143125"/>
            <a:ext cx="900113" cy="242888"/>
          </a:xfrm>
          <a:prstGeom prst="roundRect">
            <a:avLst>
              <a:gd fmla="val 23529" name="adj"/>
            </a:avLst>
          </a:prstGeom>
          <a:solidFill>
            <a:srgbClr val="E7F6EF"/>
          </a:solidFill>
          <a:ln cap="flat" cmpd="sng" w="9525">
            <a:solidFill>
              <a:srgbClr val="E7F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6"/>
          <p:cNvSpPr/>
          <p:nvPr/>
        </p:nvSpPr>
        <p:spPr>
          <a:xfrm>
            <a:off x="771525" y="2193131"/>
            <a:ext cx="728663" cy="157163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600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rPr>
              <a:t>phone, pickup/drop</a:t>
            </a:r>
            <a:endParaRPr sz="1100"/>
          </a:p>
        </p:txBody>
      </p:sp>
      <p:sp>
        <p:nvSpPr>
          <p:cNvPr id="193" name="Google Shape;193;p6"/>
          <p:cNvSpPr/>
          <p:nvPr/>
        </p:nvSpPr>
        <p:spPr>
          <a:xfrm>
            <a:off x="685800" y="2457450"/>
            <a:ext cx="900113" cy="242888"/>
          </a:xfrm>
          <a:prstGeom prst="roundRect">
            <a:avLst>
              <a:gd fmla="val 23529" name="adj"/>
            </a:avLst>
          </a:prstGeom>
          <a:solidFill>
            <a:srgbClr val="FFF6D8"/>
          </a:solidFill>
          <a:ln cap="flat" cmpd="sng" w="9525">
            <a:solidFill>
              <a:srgbClr val="FFF6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6"/>
          <p:cNvSpPr/>
          <p:nvPr/>
        </p:nvSpPr>
        <p:spPr>
          <a:xfrm>
            <a:off x="771525" y="2507456"/>
            <a:ext cx="728663" cy="157163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600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rPr>
              <a:t>OTP + booking</a:t>
            </a:r>
            <a:endParaRPr sz="1100"/>
          </a:p>
        </p:txBody>
      </p:sp>
      <p:sp>
        <p:nvSpPr>
          <p:cNvPr id="195" name="Google Shape;195;p6"/>
          <p:cNvSpPr/>
          <p:nvPr/>
        </p:nvSpPr>
        <p:spPr>
          <a:xfrm>
            <a:off x="685800" y="2771775"/>
            <a:ext cx="900113" cy="242888"/>
          </a:xfrm>
          <a:prstGeom prst="roundRect">
            <a:avLst>
              <a:gd fmla="val 23529" name="adj"/>
            </a:avLst>
          </a:prstGeom>
          <a:solidFill>
            <a:srgbClr val="FDECEC"/>
          </a:solidFill>
          <a:ln cap="flat" cmpd="sng" w="9525">
            <a:solidFill>
              <a:srgbClr val="FDEC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6"/>
          <p:cNvSpPr/>
          <p:nvPr/>
        </p:nvSpPr>
        <p:spPr>
          <a:xfrm>
            <a:off x="771525" y="2821781"/>
            <a:ext cx="728663" cy="157163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600">
                <a:solidFill>
                  <a:srgbClr val="D92D20"/>
                </a:solidFill>
                <a:latin typeface="Arial"/>
                <a:ea typeface="Arial"/>
                <a:cs typeface="Arial"/>
                <a:sym typeface="Arial"/>
              </a:rPr>
              <a:t>Notice not prominent</a:t>
            </a:r>
            <a:endParaRPr sz="1100"/>
          </a:p>
        </p:txBody>
      </p:sp>
      <p:sp>
        <p:nvSpPr>
          <p:cNvPr id="197" name="Google Shape;197;p6"/>
          <p:cNvSpPr/>
          <p:nvPr/>
        </p:nvSpPr>
        <p:spPr>
          <a:xfrm>
            <a:off x="1814513" y="1985963"/>
            <a:ext cx="200025" cy="257175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C400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 sz="1100"/>
          </a:p>
        </p:txBody>
      </p:sp>
      <p:sp>
        <p:nvSpPr>
          <p:cNvPr id="198" name="Google Shape;198;p6"/>
          <p:cNvSpPr/>
          <p:nvPr/>
        </p:nvSpPr>
        <p:spPr>
          <a:xfrm>
            <a:off x="2100263" y="1200150"/>
            <a:ext cx="257175" cy="257175"/>
          </a:xfrm>
          <a:prstGeom prst="ellipse">
            <a:avLst/>
          </a:prstGeom>
          <a:solidFill>
            <a:srgbClr val="FFC400"/>
          </a:solidFill>
          <a:ln cap="flat" cmpd="sng" w="9525">
            <a:solidFill>
              <a:srgbClr val="FFC4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6"/>
          <p:cNvSpPr/>
          <p:nvPr/>
        </p:nvSpPr>
        <p:spPr>
          <a:xfrm>
            <a:off x="2100263" y="1250156"/>
            <a:ext cx="257175" cy="185738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100"/>
          </a:p>
        </p:txBody>
      </p:sp>
      <p:sp>
        <p:nvSpPr>
          <p:cNvPr id="200" name="Google Shape;200;p6"/>
          <p:cNvSpPr/>
          <p:nvPr/>
        </p:nvSpPr>
        <p:spPr>
          <a:xfrm>
            <a:off x="2414588" y="1214438"/>
            <a:ext cx="1014413" cy="200025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rPr>
              <a:t>Matching</a:t>
            </a:r>
            <a:endParaRPr sz="1100"/>
          </a:p>
        </p:txBody>
      </p:sp>
      <p:sp>
        <p:nvSpPr>
          <p:cNvPr id="201" name="Google Shape;201;p6"/>
          <p:cNvSpPr/>
          <p:nvPr/>
        </p:nvSpPr>
        <p:spPr>
          <a:xfrm>
            <a:off x="2243138" y="1514475"/>
            <a:ext cx="1185863" cy="1414463"/>
          </a:xfrm>
          <a:prstGeom prst="roundRect">
            <a:avLst>
              <a:gd fmla="val 9639" name="adj"/>
            </a:avLst>
          </a:prstGeom>
          <a:solidFill>
            <a:srgbClr val="111827"/>
          </a:solidFill>
          <a:ln cap="flat" cmpd="sng" w="9525">
            <a:solidFill>
              <a:srgbClr val="1118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6"/>
          <p:cNvSpPr/>
          <p:nvPr/>
        </p:nvSpPr>
        <p:spPr>
          <a:xfrm>
            <a:off x="2300288" y="1571625"/>
            <a:ext cx="1071563" cy="1300163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6"/>
          <p:cNvSpPr/>
          <p:nvPr/>
        </p:nvSpPr>
        <p:spPr>
          <a:xfrm>
            <a:off x="2693765" y="1607344"/>
            <a:ext cx="284607" cy="50006"/>
          </a:xfrm>
          <a:prstGeom prst="roundRect">
            <a:avLst>
              <a:gd fmla="val 50000" name="adj"/>
            </a:avLst>
          </a:prstGeom>
          <a:solidFill>
            <a:srgbClr val="111827"/>
          </a:solidFill>
          <a:ln cap="flat" cmpd="sng" w="9525">
            <a:solidFill>
              <a:srgbClr val="1118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6"/>
          <p:cNvSpPr/>
          <p:nvPr/>
        </p:nvSpPr>
        <p:spPr>
          <a:xfrm>
            <a:off x="2371725" y="1693069"/>
            <a:ext cx="314325" cy="128588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600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rPr>
              <a:t>9:41</a:t>
            </a:r>
            <a:endParaRPr sz="1100"/>
          </a:p>
        </p:txBody>
      </p:sp>
      <p:sp>
        <p:nvSpPr>
          <p:cNvPr id="205" name="Google Shape;205;p6"/>
          <p:cNvSpPr/>
          <p:nvPr/>
        </p:nvSpPr>
        <p:spPr>
          <a:xfrm>
            <a:off x="2371725" y="1885950"/>
            <a:ext cx="928688" cy="185738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700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rPr>
              <a:t>Matching</a:t>
            </a:r>
            <a:endParaRPr sz="1100"/>
          </a:p>
        </p:txBody>
      </p:sp>
      <p:sp>
        <p:nvSpPr>
          <p:cNvPr id="206" name="Google Shape;206;p6"/>
          <p:cNvSpPr/>
          <p:nvPr/>
        </p:nvSpPr>
        <p:spPr>
          <a:xfrm>
            <a:off x="2386013" y="2143125"/>
            <a:ext cx="900113" cy="242888"/>
          </a:xfrm>
          <a:prstGeom prst="roundRect">
            <a:avLst>
              <a:gd fmla="val 23529" name="adj"/>
            </a:avLst>
          </a:prstGeom>
          <a:solidFill>
            <a:srgbClr val="E7F6EF"/>
          </a:solidFill>
          <a:ln cap="flat" cmpd="sng" w="9525">
            <a:solidFill>
              <a:srgbClr val="E7F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6"/>
          <p:cNvSpPr/>
          <p:nvPr/>
        </p:nvSpPr>
        <p:spPr>
          <a:xfrm>
            <a:off x="2471738" y="2193131"/>
            <a:ext cx="728663" cy="157163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600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rPr>
              <a:t>phone, coarse location</a:t>
            </a:r>
            <a:endParaRPr sz="1100"/>
          </a:p>
        </p:txBody>
      </p:sp>
      <p:sp>
        <p:nvSpPr>
          <p:cNvPr id="208" name="Google Shape;208;p6"/>
          <p:cNvSpPr/>
          <p:nvPr/>
        </p:nvSpPr>
        <p:spPr>
          <a:xfrm>
            <a:off x="2386013" y="2457450"/>
            <a:ext cx="900113" cy="242888"/>
          </a:xfrm>
          <a:prstGeom prst="roundRect">
            <a:avLst>
              <a:gd fmla="val 23529" name="adj"/>
            </a:avLst>
          </a:prstGeom>
          <a:solidFill>
            <a:srgbClr val="FFF6D8"/>
          </a:solidFill>
          <a:ln cap="flat" cmpd="sng" w="9525">
            <a:solidFill>
              <a:srgbClr val="FFF6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6"/>
          <p:cNvSpPr/>
          <p:nvPr/>
        </p:nvSpPr>
        <p:spPr>
          <a:xfrm>
            <a:off x="2471738" y="2507456"/>
            <a:ext cx="728663" cy="157163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600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rPr>
              <a:t>terms + policy</a:t>
            </a:r>
            <a:endParaRPr sz="1100"/>
          </a:p>
        </p:txBody>
      </p:sp>
      <p:sp>
        <p:nvSpPr>
          <p:cNvPr id="210" name="Google Shape;210;p6"/>
          <p:cNvSpPr/>
          <p:nvPr/>
        </p:nvSpPr>
        <p:spPr>
          <a:xfrm>
            <a:off x="2386013" y="2771775"/>
            <a:ext cx="900113" cy="242888"/>
          </a:xfrm>
          <a:prstGeom prst="roundRect">
            <a:avLst>
              <a:gd fmla="val 23529" name="adj"/>
            </a:avLst>
          </a:prstGeom>
          <a:solidFill>
            <a:srgbClr val="FDECEC"/>
          </a:solidFill>
          <a:ln cap="flat" cmpd="sng" w="9525">
            <a:solidFill>
              <a:srgbClr val="FDEC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6"/>
          <p:cNvSpPr/>
          <p:nvPr/>
        </p:nvSpPr>
        <p:spPr>
          <a:xfrm>
            <a:off x="2471738" y="2821781"/>
            <a:ext cx="728663" cy="157163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600">
                <a:solidFill>
                  <a:srgbClr val="D92D20"/>
                </a:solidFill>
                <a:latin typeface="Arial"/>
                <a:ea typeface="Arial"/>
                <a:cs typeface="Arial"/>
                <a:sym typeface="Arial"/>
              </a:rPr>
              <a:t>Policy too long</a:t>
            </a:r>
            <a:endParaRPr sz="1100"/>
          </a:p>
        </p:txBody>
      </p:sp>
      <p:sp>
        <p:nvSpPr>
          <p:cNvPr id="212" name="Google Shape;212;p6"/>
          <p:cNvSpPr/>
          <p:nvPr/>
        </p:nvSpPr>
        <p:spPr>
          <a:xfrm>
            <a:off x="3514725" y="1985963"/>
            <a:ext cx="200025" cy="257175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C400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 sz="1100"/>
          </a:p>
        </p:txBody>
      </p:sp>
      <p:sp>
        <p:nvSpPr>
          <p:cNvPr id="213" name="Google Shape;213;p6"/>
          <p:cNvSpPr/>
          <p:nvPr/>
        </p:nvSpPr>
        <p:spPr>
          <a:xfrm>
            <a:off x="3800475" y="1200150"/>
            <a:ext cx="257175" cy="257175"/>
          </a:xfrm>
          <a:prstGeom prst="ellipse">
            <a:avLst/>
          </a:prstGeom>
          <a:solidFill>
            <a:srgbClr val="FFC400"/>
          </a:solidFill>
          <a:ln cap="flat" cmpd="sng" w="9525">
            <a:solidFill>
              <a:srgbClr val="FFC4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6"/>
          <p:cNvSpPr/>
          <p:nvPr/>
        </p:nvSpPr>
        <p:spPr>
          <a:xfrm>
            <a:off x="3800475" y="1250156"/>
            <a:ext cx="257175" cy="185738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100"/>
          </a:p>
        </p:txBody>
      </p:sp>
      <p:sp>
        <p:nvSpPr>
          <p:cNvPr id="215" name="Google Shape;215;p6"/>
          <p:cNvSpPr/>
          <p:nvPr/>
        </p:nvSpPr>
        <p:spPr>
          <a:xfrm>
            <a:off x="4114800" y="1214438"/>
            <a:ext cx="1014413" cy="200025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rPr>
              <a:t>Pickup</a:t>
            </a:r>
            <a:endParaRPr sz="1100"/>
          </a:p>
        </p:txBody>
      </p:sp>
      <p:sp>
        <p:nvSpPr>
          <p:cNvPr id="216" name="Google Shape;216;p6"/>
          <p:cNvSpPr/>
          <p:nvPr/>
        </p:nvSpPr>
        <p:spPr>
          <a:xfrm>
            <a:off x="3943350" y="1514475"/>
            <a:ext cx="1185863" cy="1414463"/>
          </a:xfrm>
          <a:prstGeom prst="roundRect">
            <a:avLst>
              <a:gd fmla="val 9639" name="adj"/>
            </a:avLst>
          </a:prstGeom>
          <a:solidFill>
            <a:srgbClr val="111827"/>
          </a:solidFill>
          <a:ln cap="flat" cmpd="sng" w="9525">
            <a:solidFill>
              <a:srgbClr val="1118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6"/>
          <p:cNvSpPr/>
          <p:nvPr/>
        </p:nvSpPr>
        <p:spPr>
          <a:xfrm>
            <a:off x="4000500" y="1571625"/>
            <a:ext cx="1071563" cy="1300163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6"/>
          <p:cNvSpPr/>
          <p:nvPr/>
        </p:nvSpPr>
        <p:spPr>
          <a:xfrm>
            <a:off x="4393978" y="1607344"/>
            <a:ext cx="284607" cy="50006"/>
          </a:xfrm>
          <a:prstGeom prst="roundRect">
            <a:avLst>
              <a:gd fmla="val 50000" name="adj"/>
            </a:avLst>
          </a:prstGeom>
          <a:solidFill>
            <a:srgbClr val="111827"/>
          </a:solidFill>
          <a:ln cap="flat" cmpd="sng" w="9525">
            <a:solidFill>
              <a:srgbClr val="1118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6"/>
          <p:cNvSpPr/>
          <p:nvPr/>
        </p:nvSpPr>
        <p:spPr>
          <a:xfrm>
            <a:off x="4071938" y="1693069"/>
            <a:ext cx="314325" cy="128588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600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rPr>
              <a:t>9:41</a:t>
            </a:r>
            <a:endParaRPr sz="1100"/>
          </a:p>
        </p:txBody>
      </p:sp>
      <p:sp>
        <p:nvSpPr>
          <p:cNvPr id="220" name="Google Shape;220;p6"/>
          <p:cNvSpPr/>
          <p:nvPr/>
        </p:nvSpPr>
        <p:spPr>
          <a:xfrm>
            <a:off x="4071938" y="1885950"/>
            <a:ext cx="928688" cy="185738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700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rPr>
              <a:t>Pickup</a:t>
            </a:r>
            <a:endParaRPr sz="1100"/>
          </a:p>
        </p:txBody>
      </p:sp>
      <p:sp>
        <p:nvSpPr>
          <p:cNvPr id="221" name="Google Shape;221;p6"/>
          <p:cNvSpPr/>
          <p:nvPr/>
        </p:nvSpPr>
        <p:spPr>
          <a:xfrm>
            <a:off x="4086225" y="2143125"/>
            <a:ext cx="900113" cy="242888"/>
          </a:xfrm>
          <a:prstGeom prst="roundRect">
            <a:avLst>
              <a:gd fmla="val 23529" name="adj"/>
            </a:avLst>
          </a:prstGeom>
          <a:solidFill>
            <a:srgbClr val="E7F6EF"/>
          </a:solidFill>
          <a:ln cap="flat" cmpd="sng" w="9525">
            <a:solidFill>
              <a:srgbClr val="E7F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6"/>
          <p:cNvSpPr/>
          <p:nvPr/>
        </p:nvSpPr>
        <p:spPr>
          <a:xfrm>
            <a:off x="4171950" y="2193131"/>
            <a:ext cx="728663" cy="157163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600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rPr>
              <a:t>live location, call/chat</a:t>
            </a:r>
            <a:endParaRPr sz="1100"/>
          </a:p>
        </p:txBody>
      </p:sp>
      <p:sp>
        <p:nvSpPr>
          <p:cNvPr id="223" name="Google Shape;223;p6"/>
          <p:cNvSpPr/>
          <p:nvPr/>
        </p:nvSpPr>
        <p:spPr>
          <a:xfrm>
            <a:off x="4086225" y="2457450"/>
            <a:ext cx="900113" cy="242888"/>
          </a:xfrm>
          <a:prstGeom prst="roundRect">
            <a:avLst>
              <a:gd fmla="val 23529" name="adj"/>
            </a:avLst>
          </a:prstGeom>
          <a:solidFill>
            <a:srgbClr val="FFF6D8"/>
          </a:solidFill>
          <a:ln cap="flat" cmpd="sng" w="9525">
            <a:solidFill>
              <a:srgbClr val="FFF6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6"/>
          <p:cNvSpPr/>
          <p:nvPr/>
        </p:nvSpPr>
        <p:spPr>
          <a:xfrm>
            <a:off x="4171950" y="2507456"/>
            <a:ext cx="728663" cy="157163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600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rPr>
              <a:t>OS location</a:t>
            </a:r>
            <a:endParaRPr sz="1100"/>
          </a:p>
        </p:txBody>
      </p:sp>
      <p:sp>
        <p:nvSpPr>
          <p:cNvPr id="225" name="Google Shape;225;p6"/>
          <p:cNvSpPr/>
          <p:nvPr/>
        </p:nvSpPr>
        <p:spPr>
          <a:xfrm>
            <a:off x="4086225" y="2771775"/>
            <a:ext cx="900113" cy="242888"/>
          </a:xfrm>
          <a:prstGeom prst="roundRect">
            <a:avLst>
              <a:gd fmla="val 23529" name="adj"/>
            </a:avLst>
          </a:prstGeom>
          <a:solidFill>
            <a:srgbClr val="FDECEC"/>
          </a:solidFill>
          <a:ln cap="flat" cmpd="sng" w="9525">
            <a:solidFill>
              <a:srgbClr val="FDEC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6"/>
          <p:cNvSpPr/>
          <p:nvPr/>
        </p:nvSpPr>
        <p:spPr>
          <a:xfrm>
            <a:off x="4171950" y="2821781"/>
            <a:ext cx="728663" cy="157163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600">
                <a:solidFill>
                  <a:srgbClr val="D92D20"/>
                </a:solidFill>
                <a:latin typeface="Arial"/>
                <a:ea typeface="Arial"/>
                <a:cs typeface="Arial"/>
                <a:sym typeface="Arial"/>
              </a:rPr>
              <a:t>Duration unclear</a:t>
            </a:r>
            <a:endParaRPr sz="1100"/>
          </a:p>
        </p:txBody>
      </p:sp>
      <p:sp>
        <p:nvSpPr>
          <p:cNvPr id="227" name="Google Shape;227;p6"/>
          <p:cNvSpPr/>
          <p:nvPr/>
        </p:nvSpPr>
        <p:spPr>
          <a:xfrm>
            <a:off x="5214938" y="1985963"/>
            <a:ext cx="200025" cy="257175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C400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 sz="1100"/>
          </a:p>
        </p:txBody>
      </p:sp>
      <p:sp>
        <p:nvSpPr>
          <p:cNvPr id="228" name="Google Shape;228;p6"/>
          <p:cNvSpPr/>
          <p:nvPr/>
        </p:nvSpPr>
        <p:spPr>
          <a:xfrm>
            <a:off x="5500688" y="1200150"/>
            <a:ext cx="257175" cy="257175"/>
          </a:xfrm>
          <a:prstGeom prst="ellipse">
            <a:avLst/>
          </a:prstGeom>
          <a:solidFill>
            <a:srgbClr val="FFC400"/>
          </a:solidFill>
          <a:ln cap="flat" cmpd="sng" w="9525">
            <a:solidFill>
              <a:srgbClr val="FFC4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6"/>
          <p:cNvSpPr/>
          <p:nvPr/>
        </p:nvSpPr>
        <p:spPr>
          <a:xfrm>
            <a:off x="5500688" y="1250156"/>
            <a:ext cx="257175" cy="185738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100"/>
          </a:p>
        </p:txBody>
      </p:sp>
      <p:sp>
        <p:nvSpPr>
          <p:cNvPr id="230" name="Google Shape;230;p6"/>
          <p:cNvSpPr/>
          <p:nvPr/>
        </p:nvSpPr>
        <p:spPr>
          <a:xfrm>
            <a:off x="5815013" y="1214438"/>
            <a:ext cx="1014413" cy="200025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rPr>
              <a:t>Ride</a:t>
            </a:r>
            <a:endParaRPr sz="1100"/>
          </a:p>
        </p:txBody>
      </p:sp>
      <p:sp>
        <p:nvSpPr>
          <p:cNvPr id="231" name="Google Shape;231;p6"/>
          <p:cNvSpPr/>
          <p:nvPr/>
        </p:nvSpPr>
        <p:spPr>
          <a:xfrm>
            <a:off x="5643563" y="1514475"/>
            <a:ext cx="1185863" cy="1414463"/>
          </a:xfrm>
          <a:prstGeom prst="roundRect">
            <a:avLst>
              <a:gd fmla="val 9639" name="adj"/>
            </a:avLst>
          </a:prstGeom>
          <a:solidFill>
            <a:srgbClr val="111827"/>
          </a:solidFill>
          <a:ln cap="flat" cmpd="sng" w="9525">
            <a:solidFill>
              <a:srgbClr val="1118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6"/>
          <p:cNvSpPr/>
          <p:nvPr/>
        </p:nvSpPr>
        <p:spPr>
          <a:xfrm>
            <a:off x="5700713" y="1571625"/>
            <a:ext cx="1071563" cy="1300163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6"/>
          <p:cNvSpPr/>
          <p:nvPr/>
        </p:nvSpPr>
        <p:spPr>
          <a:xfrm>
            <a:off x="6094190" y="1607344"/>
            <a:ext cx="284607" cy="50006"/>
          </a:xfrm>
          <a:prstGeom prst="roundRect">
            <a:avLst>
              <a:gd fmla="val 50000" name="adj"/>
            </a:avLst>
          </a:prstGeom>
          <a:solidFill>
            <a:srgbClr val="111827"/>
          </a:solidFill>
          <a:ln cap="flat" cmpd="sng" w="9525">
            <a:solidFill>
              <a:srgbClr val="1118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6"/>
          <p:cNvSpPr/>
          <p:nvPr/>
        </p:nvSpPr>
        <p:spPr>
          <a:xfrm>
            <a:off x="5772150" y="1693069"/>
            <a:ext cx="314325" cy="128588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600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rPr>
              <a:t>9:41</a:t>
            </a:r>
            <a:endParaRPr sz="1100"/>
          </a:p>
        </p:txBody>
      </p:sp>
      <p:sp>
        <p:nvSpPr>
          <p:cNvPr id="235" name="Google Shape;235;p6"/>
          <p:cNvSpPr/>
          <p:nvPr/>
        </p:nvSpPr>
        <p:spPr>
          <a:xfrm>
            <a:off x="5772150" y="1885950"/>
            <a:ext cx="928688" cy="185738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700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rPr>
              <a:t>Ride</a:t>
            </a:r>
            <a:endParaRPr sz="1100"/>
          </a:p>
        </p:txBody>
      </p:sp>
      <p:sp>
        <p:nvSpPr>
          <p:cNvPr id="236" name="Google Shape;236;p6"/>
          <p:cNvSpPr/>
          <p:nvPr/>
        </p:nvSpPr>
        <p:spPr>
          <a:xfrm>
            <a:off x="5786438" y="2143125"/>
            <a:ext cx="900113" cy="242888"/>
          </a:xfrm>
          <a:prstGeom prst="roundRect">
            <a:avLst>
              <a:gd fmla="val 23529" name="adj"/>
            </a:avLst>
          </a:prstGeom>
          <a:solidFill>
            <a:srgbClr val="E7F6EF"/>
          </a:solidFill>
          <a:ln cap="flat" cmpd="sng" w="9525">
            <a:solidFill>
              <a:srgbClr val="E7F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6"/>
          <p:cNvSpPr/>
          <p:nvPr/>
        </p:nvSpPr>
        <p:spPr>
          <a:xfrm>
            <a:off x="5872163" y="2193131"/>
            <a:ext cx="728663" cy="157163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600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rPr>
              <a:t>route, device info</a:t>
            </a:r>
            <a:endParaRPr sz="1100"/>
          </a:p>
        </p:txBody>
      </p:sp>
      <p:sp>
        <p:nvSpPr>
          <p:cNvPr id="238" name="Google Shape;238;p6"/>
          <p:cNvSpPr/>
          <p:nvPr/>
        </p:nvSpPr>
        <p:spPr>
          <a:xfrm>
            <a:off x="5786438" y="2457450"/>
            <a:ext cx="900113" cy="242888"/>
          </a:xfrm>
          <a:prstGeom prst="roundRect">
            <a:avLst>
              <a:gd fmla="val 23529" name="adj"/>
            </a:avLst>
          </a:prstGeom>
          <a:solidFill>
            <a:srgbClr val="FFF6D8"/>
          </a:solidFill>
          <a:ln cap="flat" cmpd="sng" w="9525">
            <a:solidFill>
              <a:srgbClr val="FFF6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6"/>
          <p:cNvSpPr/>
          <p:nvPr/>
        </p:nvSpPr>
        <p:spPr>
          <a:xfrm>
            <a:off x="5872163" y="2507456"/>
            <a:ext cx="728663" cy="157163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600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rPr>
              <a:t>background access</a:t>
            </a:r>
            <a:endParaRPr sz="1100"/>
          </a:p>
        </p:txBody>
      </p:sp>
      <p:sp>
        <p:nvSpPr>
          <p:cNvPr id="240" name="Google Shape;240;p6"/>
          <p:cNvSpPr/>
          <p:nvPr/>
        </p:nvSpPr>
        <p:spPr>
          <a:xfrm>
            <a:off x="5786438" y="2771775"/>
            <a:ext cx="900113" cy="242888"/>
          </a:xfrm>
          <a:prstGeom prst="roundRect">
            <a:avLst>
              <a:gd fmla="val 23529" name="adj"/>
            </a:avLst>
          </a:prstGeom>
          <a:solidFill>
            <a:srgbClr val="FDECEC"/>
          </a:solidFill>
          <a:ln cap="flat" cmpd="sng" w="9525">
            <a:solidFill>
              <a:srgbClr val="FDEC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6"/>
          <p:cNvSpPr/>
          <p:nvPr/>
        </p:nvSpPr>
        <p:spPr>
          <a:xfrm>
            <a:off x="5872163" y="2821781"/>
            <a:ext cx="728663" cy="157163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600">
                <a:solidFill>
                  <a:srgbClr val="D92D20"/>
                </a:solidFill>
                <a:latin typeface="Arial"/>
                <a:ea typeface="Arial"/>
                <a:cs typeface="Arial"/>
                <a:sym typeface="Arial"/>
              </a:rPr>
              <a:t>Masking inconsistent</a:t>
            </a:r>
            <a:endParaRPr sz="1100"/>
          </a:p>
        </p:txBody>
      </p:sp>
      <p:sp>
        <p:nvSpPr>
          <p:cNvPr id="242" name="Google Shape;242;p6"/>
          <p:cNvSpPr/>
          <p:nvPr/>
        </p:nvSpPr>
        <p:spPr>
          <a:xfrm>
            <a:off x="6915150" y="1985963"/>
            <a:ext cx="200025" cy="257175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C400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 sz="1100"/>
          </a:p>
        </p:txBody>
      </p:sp>
      <p:sp>
        <p:nvSpPr>
          <p:cNvPr id="243" name="Google Shape;243;p6"/>
          <p:cNvSpPr/>
          <p:nvPr/>
        </p:nvSpPr>
        <p:spPr>
          <a:xfrm>
            <a:off x="7200900" y="1200150"/>
            <a:ext cx="257175" cy="257175"/>
          </a:xfrm>
          <a:prstGeom prst="ellipse">
            <a:avLst/>
          </a:prstGeom>
          <a:solidFill>
            <a:srgbClr val="FFC400"/>
          </a:solidFill>
          <a:ln cap="flat" cmpd="sng" w="9525">
            <a:solidFill>
              <a:srgbClr val="FFC4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6"/>
          <p:cNvSpPr/>
          <p:nvPr/>
        </p:nvSpPr>
        <p:spPr>
          <a:xfrm>
            <a:off x="7200900" y="1250156"/>
            <a:ext cx="257175" cy="185738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100"/>
          </a:p>
        </p:txBody>
      </p:sp>
      <p:sp>
        <p:nvSpPr>
          <p:cNvPr id="245" name="Google Shape;245;p6"/>
          <p:cNvSpPr/>
          <p:nvPr/>
        </p:nvSpPr>
        <p:spPr>
          <a:xfrm>
            <a:off x="7515225" y="1214438"/>
            <a:ext cx="1014413" cy="200025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rPr>
              <a:t>Post-ride</a:t>
            </a:r>
            <a:endParaRPr sz="1100"/>
          </a:p>
        </p:txBody>
      </p:sp>
      <p:sp>
        <p:nvSpPr>
          <p:cNvPr id="246" name="Google Shape;246;p6"/>
          <p:cNvSpPr/>
          <p:nvPr/>
        </p:nvSpPr>
        <p:spPr>
          <a:xfrm>
            <a:off x="7343775" y="1514475"/>
            <a:ext cx="1185863" cy="1414463"/>
          </a:xfrm>
          <a:prstGeom prst="roundRect">
            <a:avLst>
              <a:gd fmla="val 9639" name="adj"/>
            </a:avLst>
          </a:prstGeom>
          <a:solidFill>
            <a:srgbClr val="111827"/>
          </a:solidFill>
          <a:ln cap="flat" cmpd="sng" w="9525">
            <a:solidFill>
              <a:srgbClr val="1118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6"/>
          <p:cNvSpPr/>
          <p:nvPr/>
        </p:nvSpPr>
        <p:spPr>
          <a:xfrm>
            <a:off x="7400925" y="1571625"/>
            <a:ext cx="1071563" cy="1300163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6"/>
          <p:cNvSpPr/>
          <p:nvPr/>
        </p:nvSpPr>
        <p:spPr>
          <a:xfrm>
            <a:off x="7794403" y="1607344"/>
            <a:ext cx="284607" cy="50006"/>
          </a:xfrm>
          <a:prstGeom prst="roundRect">
            <a:avLst>
              <a:gd fmla="val 50000" name="adj"/>
            </a:avLst>
          </a:prstGeom>
          <a:solidFill>
            <a:srgbClr val="111827"/>
          </a:solidFill>
          <a:ln cap="flat" cmpd="sng" w="9525">
            <a:solidFill>
              <a:srgbClr val="1118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6"/>
          <p:cNvSpPr/>
          <p:nvPr/>
        </p:nvSpPr>
        <p:spPr>
          <a:xfrm>
            <a:off x="7472363" y="1693069"/>
            <a:ext cx="314325" cy="128588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600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rPr>
              <a:t>9:41</a:t>
            </a:r>
            <a:endParaRPr sz="1100"/>
          </a:p>
        </p:txBody>
      </p:sp>
      <p:sp>
        <p:nvSpPr>
          <p:cNvPr id="250" name="Google Shape;250;p6"/>
          <p:cNvSpPr/>
          <p:nvPr/>
        </p:nvSpPr>
        <p:spPr>
          <a:xfrm>
            <a:off x="7472363" y="1885950"/>
            <a:ext cx="928688" cy="185738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700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rPr>
              <a:t>Post-ride</a:t>
            </a:r>
            <a:endParaRPr sz="1100"/>
          </a:p>
        </p:txBody>
      </p:sp>
      <p:sp>
        <p:nvSpPr>
          <p:cNvPr id="251" name="Google Shape;251;p6"/>
          <p:cNvSpPr/>
          <p:nvPr/>
        </p:nvSpPr>
        <p:spPr>
          <a:xfrm>
            <a:off x="7486650" y="2143125"/>
            <a:ext cx="900113" cy="242888"/>
          </a:xfrm>
          <a:prstGeom prst="roundRect">
            <a:avLst>
              <a:gd fmla="val 23529" name="adj"/>
            </a:avLst>
          </a:prstGeom>
          <a:solidFill>
            <a:srgbClr val="E7F6EF"/>
          </a:solidFill>
          <a:ln cap="flat" cmpd="sng" w="9525">
            <a:solidFill>
              <a:srgbClr val="E7F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6"/>
          <p:cNvSpPr/>
          <p:nvPr/>
        </p:nvSpPr>
        <p:spPr>
          <a:xfrm>
            <a:off x="7572375" y="2193131"/>
            <a:ext cx="728663" cy="157163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600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rPr>
              <a:t>payment, logs</a:t>
            </a:r>
            <a:endParaRPr sz="1100"/>
          </a:p>
        </p:txBody>
      </p:sp>
      <p:sp>
        <p:nvSpPr>
          <p:cNvPr id="253" name="Google Shape;253;p6"/>
          <p:cNvSpPr/>
          <p:nvPr/>
        </p:nvSpPr>
        <p:spPr>
          <a:xfrm>
            <a:off x="7486650" y="2457450"/>
            <a:ext cx="900113" cy="242888"/>
          </a:xfrm>
          <a:prstGeom prst="roundRect">
            <a:avLst>
              <a:gd fmla="val 23529" name="adj"/>
            </a:avLst>
          </a:prstGeom>
          <a:solidFill>
            <a:srgbClr val="FFF6D8"/>
          </a:solidFill>
          <a:ln cap="flat" cmpd="sng" w="9525">
            <a:solidFill>
              <a:srgbClr val="FFF6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6"/>
          <p:cNvSpPr/>
          <p:nvPr/>
        </p:nvSpPr>
        <p:spPr>
          <a:xfrm>
            <a:off x="7572375" y="2507456"/>
            <a:ext cx="728663" cy="157163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600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rPr>
              <a:t>support request</a:t>
            </a:r>
            <a:endParaRPr sz="1100"/>
          </a:p>
        </p:txBody>
      </p:sp>
      <p:sp>
        <p:nvSpPr>
          <p:cNvPr id="255" name="Google Shape;255;p6"/>
          <p:cNvSpPr/>
          <p:nvPr/>
        </p:nvSpPr>
        <p:spPr>
          <a:xfrm>
            <a:off x="7486650" y="2771775"/>
            <a:ext cx="900113" cy="242888"/>
          </a:xfrm>
          <a:prstGeom prst="roundRect">
            <a:avLst>
              <a:gd fmla="val 23529" name="adj"/>
            </a:avLst>
          </a:prstGeom>
          <a:solidFill>
            <a:srgbClr val="FDECEC"/>
          </a:solidFill>
          <a:ln cap="flat" cmpd="sng" w="9525">
            <a:solidFill>
              <a:srgbClr val="FDEC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6"/>
          <p:cNvSpPr/>
          <p:nvPr/>
        </p:nvSpPr>
        <p:spPr>
          <a:xfrm>
            <a:off x="7572375" y="2821781"/>
            <a:ext cx="728663" cy="157163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600">
                <a:solidFill>
                  <a:srgbClr val="D92D20"/>
                </a:solidFill>
                <a:latin typeface="Arial"/>
                <a:ea typeface="Arial"/>
                <a:cs typeface="Arial"/>
                <a:sym typeface="Arial"/>
              </a:rPr>
              <a:t>Rights buried</a:t>
            </a:r>
            <a:endParaRPr sz="1100"/>
          </a:p>
        </p:txBody>
      </p:sp>
      <p:sp>
        <p:nvSpPr>
          <p:cNvPr id="257" name="Google Shape;257;p6"/>
          <p:cNvSpPr/>
          <p:nvPr/>
        </p:nvSpPr>
        <p:spPr>
          <a:xfrm>
            <a:off x="385763" y="3243263"/>
            <a:ext cx="8358188" cy="671513"/>
          </a:xfrm>
          <a:prstGeom prst="roundRect">
            <a:avLst>
              <a:gd fmla="val 12766" name="adj"/>
            </a:avLst>
          </a:prstGeom>
          <a:solidFill>
            <a:srgbClr val="FDECEC"/>
          </a:solidFill>
          <a:ln cap="flat" cmpd="sng" w="9525">
            <a:solidFill>
              <a:srgbClr val="F3B5AE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dir="5400000" dist="9525">
              <a:srgbClr val="000000">
                <a:alpha val="5882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6"/>
          <p:cNvSpPr/>
          <p:nvPr/>
        </p:nvSpPr>
        <p:spPr>
          <a:xfrm>
            <a:off x="614363" y="3386138"/>
            <a:ext cx="1785937" cy="214313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400">
                <a:solidFill>
                  <a:srgbClr val="D92D20"/>
                </a:solidFill>
                <a:latin typeface="Arial"/>
                <a:ea typeface="Arial"/>
                <a:cs typeface="Arial"/>
                <a:sym typeface="Arial"/>
              </a:rPr>
              <a:t>DPDP expectation gaps</a:t>
            </a:r>
            <a:endParaRPr sz="1100"/>
          </a:p>
        </p:txBody>
      </p:sp>
      <p:sp>
        <p:nvSpPr>
          <p:cNvPr id="259" name="Google Shape;259;p6"/>
          <p:cNvSpPr/>
          <p:nvPr/>
        </p:nvSpPr>
        <p:spPr>
          <a:xfrm>
            <a:off x="2486025" y="3343275"/>
            <a:ext cx="1071563" cy="414338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800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rPr>
              <a:t>Plain-language notice</a:t>
            </a:r>
            <a:endParaRPr sz="1100"/>
          </a:p>
        </p:txBody>
      </p:sp>
      <p:sp>
        <p:nvSpPr>
          <p:cNvPr id="260" name="Google Shape;260;p6"/>
          <p:cNvSpPr/>
          <p:nvPr/>
        </p:nvSpPr>
        <p:spPr>
          <a:xfrm>
            <a:off x="3671888" y="3343275"/>
            <a:ext cx="1071563" cy="414338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800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rPr>
              <a:t>Specific purpose and data item</a:t>
            </a:r>
            <a:endParaRPr sz="1100"/>
          </a:p>
        </p:txBody>
      </p:sp>
      <p:sp>
        <p:nvSpPr>
          <p:cNvPr id="261" name="Google Shape;261;p6"/>
          <p:cNvSpPr/>
          <p:nvPr/>
        </p:nvSpPr>
        <p:spPr>
          <a:xfrm>
            <a:off x="3543300" y="3343275"/>
            <a:ext cx="7144" cy="414338"/>
          </a:xfrm>
          <a:prstGeom prst="rect">
            <a:avLst/>
          </a:prstGeom>
          <a:solidFill>
            <a:srgbClr val="F0BAB5"/>
          </a:solidFill>
          <a:ln cap="flat" cmpd="sng" w="9525">
            <a:solidFill>
              <a:srgbClr val="F0BA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6"/>
          <p:cNvSpPr/>
          <p:nvPr/>
        </p:nvSpPr>
        <p:spPr>
          <a:xfrm>
            <a:off x="4857750" y="3343275"/>
            <a:ext cx="1071563" cy="414338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800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rPr>
              <a:t>Visible expiry</a:t>
            </a:r>
            <a:endParaRPr sz="1100"/>
          </a:p>
        </p:txBody>
      </p:sp>
      <p:sp>
        <p:nvSpPr>
          <p:cNvPr id="263" name="Google Shape;263;p6"/>
          <p:cNvSpPr/>
          <p:nvPr/>
        </p:nvSpPr>
        <p:spPr>
          <a:xfrm>
            <a:off x="4729163" y="3343275"/>
            <a:ext cx="7144" cy="414338"/>
          </a:xfrm>
          <a:prstGeom prst="rect">
            <a:avLst/>
          </a:prstGeom>
          <a:solidFill>
            <a:srgbClr val="F0BAB5"/>
          </a:solidFill>
          <a:ln cap="flat" cmpd="sng" w="9525">
            <a:solidFill>
              <a:srgbClr val="F0BA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6"/>
          <p:cNvSpPr/>
          <p:nvPr/>
        </p:nvSpPr>
        <p:spPr>
          <a:xfrm>
            <a:off x="6043613" y="3343275"/>
            <a:ext cx="1071563" cy="414338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800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rPr>
              <a:t>Easy access, correction, erasure</a:t>
            </a:r>
            <a:endParaRPr sz="1100"/>
          </a:p>
        </p:txBody>
      </p:sp>
      <p:sp>
        <p:nvSpPr>
          <p:cNvPr id="265" name="Google Shape;265;p6"/>
          <p:cNvSpPr/>
          <p:nvPr/>
        </p:nvSpPr>
        <p:spPr>
          <a:xfrm>
            <a:off x="5915025" y="3343275"/>
            <a:ext cx="7144" cy="414338"/>
          </a:xfrm>
          <a:prstGeom prst="rect">
            <a:avLst/>
          </a:prstGeom>
          <a:solidFill>
            <a:srgbClr val="F0BAB5"/>
          </a:solidFill>
          <a:ln cap="flat" cmpd="sng" w="9525">
            <a:solidFill>
              <a:srgbClr val="F0BA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6"/>
          <p:cNvSpPr/>
          <p:nvPr/>
        </p:nvSpPr>
        <p:spPr>
          <a:xfrm>
            <a:off x="7229475" y="3343275"/>
            <a:ext cx="1071563" cy="414338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800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rPr>
              <a:t>Data retained only while needed</a:t>
            </a:r>
            <a:endParaRPr sz="1100"/>
          </a:p>
        </p:txBody>
      </p:sp>
      <p:sp>
        <p:nvSpPr>
          <p:cNvPr id="267" name="Google Shape;267;p6"/>
          <p:cNvSpPr/>
          <p:nvPr/>
        </p:nvSpPr>
        <p:spPr>
          <a:xfrm>
            <a:off x="7100888" y="3343275"/>
            <a:ext cx="7144" cy="414338"/>
          </a:xfrm>
          <a:prstGeom prst="rect">
            <a:avLst/>
          </a:prstGeom>
          <a:solidFill>
            <a:srgbClr val="F0BAB5"/>
          </a:solidFill>
          <a:ln cap="flat" cmpd="sng" w="9525">
            <a:solidFill>
              <a:srgbClr val="F0BA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6"/>
          <p:cNvSpPr/>
          <p:nvPr/>
        </p:nvSpPr>
        <p:spPr>
          <a:xfrm>
            <a:off x="300038" y="4750594"/>
            <a:ext cx="8543925" cy="7144"/>
          </a:xfrm>
          <a:prstGeom prst="rect">
            <a:avLst/>
          </a:prstGeom>
          <a:solidFill>
            <a:srgbClr val="EEF2F6"/>
          </a:solidFill>
          <a:ln cap="flat" cmpd="sng" w="9525">
            <a:solidFill>
              <a:srgbClr val="EEF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6"/>
          <p:cNvSpPr/>
          <p:nvPr/>
        </p:nvSpPr>
        <p:spPr>
          <a:xfrm>
            <a:off x="314325" y="4843463"/>
            <a:ext cx="400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700">
                <a:solidFill>
                  <a:srgbClr val="536170"/>
                </a:solidFill>
                <a:latin typeface="Arial"/>
                <a:ea typeface="Arial"/>
                <a:cs typeface="Arial"/>
                <a:sym typeface="Arial"/>
              </a:rPr>
              <a:t>Purpose-bound ride data  |  DPDP product thinking case</a:t>
            </a:r>
            <a:endParaRPr sz="1100"/>
          </a:p>
        </p:txBody>
      </p:sp>
      <p:sp>
        <p:nvSpPr>
          <p:cNvPr id="270" name="Google Shape;270;p6"/>
          <p:cNvSpPr/>
          <p:nvPr/>
        </p:nvSpPr>
        <p:spPr>
          <a:xfrm>
            <a:off x="8572500" y="4843463"/>
            <a:ext cx="285750" cy="157163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700">
                <a:solidFill>
                  <a:srgbClr val="536170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" name="Google Shape;27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1463" y="214313"/>
            <a:ext cx="271463" cy="271463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7"/>
          <p:cNvSpPr/>
          <p:nvPr/>
        </p:nvSpPr>
        <p:spPr>
          <a:xfrm>
            <a:off x="657225" y="271463"/>
            <a:ext cx="51435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100">
                <a:solidFill>
                  <a:srgbClr val="0B1220"/>
                </a:solidFill>
                <a:latin typeface="Play"/>
                <a:ea typeface="Play"/>
                <a:cs typeface="Play"/>
                <a:sym typeface="Play"/>
              </a:rPr>
              <a:t>Purpose-bound data reduces risk at the source</a:t>
            </a:r>
            <a:endParaRPr sz="1100"/>
          </a:p>
        </p:txBody>
      </p:sp>
      <p:sp>
        <p:nvSpPr>
          <p:cNvPr id="278" name="Google Shape;278;p7"/>
          <p:cNvSpPr/>
          <p:nvPr/>
        </p:nvSpPr>
        <p:spPr>
          <a:xfrm>
            <a:off x="671525" y="928700"/>
            <a:ext cx="5857800" cy="1857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100">
                <a:solidFill>
                  <a:srgbClr val="536170"/>
                </a:solidFill>
                <a:latin typeface="Arial"/>
                <a:ea typeface="Arial"/>
                <a:cs typeface="Arial"/>
                <a:sym typeface="Arial"/>
              </a:rPr>
              <a:t>The chosen approach balances rider trust, Captain reliability, and proof of protection.</a:t>
            </a:r>
            <a:endParaRPr sz="1100"/>
          </a:p>
        </p:txBody>
      </p:sp>
      <p:sp>
        <p:nvSpPr>
          <p:cNvPr id="279" name="Google Shape;279;p7"/>
          <p:cNvSpPr/>
          <p:nvPr/>
        </p:nvSpPr>
        <p:spPr>
          <a:xfrm>
            <a:off x="5965031" y="531495"/>
            <a:ext cx="581501" cy="35719"/>
          </a:xfrm>
          <a:prstGeom prst="rect">
            <a:avLst/>
          </a:prstGeom>
          <a:solidFill>
            <a:srgbClr val="FFC400"/>
          </a:solidFill>
          <a:ln cap="flat" cmpd="sng" w="9525">
            <a:solidFill>
              <a:srgbClr val="FFC4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7"/>
          <p:cNvSpPr/>
          <p:nvPr/>
        </p:nvSpPr>
        <p:spPr>
          <a:xfrm>
            <a:off x="6546533" y="436340"/>
            <a:ext cx="581501" cy="35719"/>
          </a:xfrm>
          <a:prstGeom prst="rect">
            <a:avLst/>
          </a:prstGeom>
          <a:solidFill>
            <a:srgbClr val="FFC400"/>
          </a:solidFill>
          <a:ln cap="flat" cmpd="sng" w="9525">
            <a:solidFill>
              <a:srgbClr val="FFC4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7"/>
          <p:cNvSpPr/>
          <p:nvPr/>
        </p:nvSpPr>
        <p:spPr>
          <a:xfrm>
            <a:off x="7128034" y="499777"/>
            <a:ext cx="581501" cy="35719"/>
          </a:xfrm>
          <a:prstGeom prst="rect">
            <a:avLst/>
          </a:prstGeom>
          <a:solidFill>
            <a:srgbClr val="FFC400"/>
          </a:solidFill>
          <a:ln cap="flat" cmpd="sng" w="9525">
            <a:solidFill>
              <a:srgbClr val="FFC4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7"/>
          <p:cNvSpPr/>
          <p:nvPr/>
        </p:nvSpPr>
        <p:spPr>
          <a:xfrm>
            <a:off x="7709535" y="383477"/>
            <a:ext cx="740093" cy="35719"/>
          </a:xfrm>
          <a:prstGeom prst="rect">
            <a:avLst/>
          </a:prstGeom>
          <a:solidFill>
            <a:srgbClr val="FFC400"/>
          </a:solidFill>
          <a:ln cap="flat" cmpd="sng" w="9525">
            <a:solidFill>
              <a:srgbClr val="FFC4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7"/>
          <p:cNvSpPr/>
          <p:nvPr/>
        </p:nvSpPr>
        <p:spPr>
          <a:xfrm>
            <a:off x="5893594" y="494491"/>
            <a:ext cx="142875" cy="142875"/>
          </a:xfrm>
          <a:prstGeom prst="ellipse">
            <a:avLst/>
          </a:prstGeom>
          <a:solidFill>
            <a:srgbClr val="FFFFFF"/>
          </a:solidFill>
          <a:ln cap="flat" cmpd="sng" w="38100">
            <a:solidFill>
              <a:srgbClr val="007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7"/>
          <p:cNvSpPr/>
          <p:nvPr/>
        </p:nvSpPr>
        <p:spPr>
          <a:xfrm>
            <a:off x="8423196" y="325327"/>
            <a:ext cx="214313" cy="214313"/>
          </a:xfrm>
          <a:prstGeom prst="ellipse">
            <a:avLst/>
          </a:prstGeom>
          <a:solidFill>
            <a:srgbClr val="FFC400"/>
          </a:solidFill>
          <a:ln cap="flat" cmpd="sng" w="9525">
            <a:solidFill>
              <a:srgbClr val="FFC4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7"/>
          <p:cNvSpPr/>
          <p:nvPr/>
        </p:nvSpPr>
        <p:spPr>
          <a:xfrm>
            <a:off x="6995875" y="309467"/>
            <a:ext cx="571500" cy="214313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075E4C"/>
                </a:solidFill>
                <a:latin typeface="Arial"/>
                <a:ea typeface="Arial"/>
                <a:cs typeface="Arial"/>
                <a:sym typeface="Arial"/>
              </a:rPr>
              <a:t>ride</a:t>
            </a:r>
            <a:endParaRPr sz="1100"/>
          </a:p>
        </p:txBody>
      </p:sp>
      <p:sp>
        <p:nvSpPr>
          <p:cNvPr id="286" name="Google Shape;286;p7"/>
          <p:cNvSpPr/>
          <p:nvPr/>
        </p:nvSpPr>
        <p:spPr>
          <a:xfrm>
            <a:off x="514350" y="1143000"/>
            <a:ext cx="5429250" cy="2771775"/>
          </a:xfrm>
          <a:prstGeom prst="roundRect">
            <a:avLst>
              <a:gd fmla="val 3093" name="adj"/>
            </a:avLst>
          </a:prstGeom>
          <a:solidFill>
            <a:srgbClr val="FFFFFF"/>
          </a:solidFill>
          <a:ln cap="flat" cmpd="sng" w="9525">
            <a:solidFill>
              <a:srgbClr val="DCE4EC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dir="5400000" dist="9525">
              <a:srgbClr val="000000">
                <a:alpha val="5882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7"/>
          <p:cNvSpPr/>
          <p:nvPr/>
        </p:nvSpPr>
        <p:spPr>
          <a:xfrm>
            <a:off x="2371725" y="1314450"/>
            <a:ext cx="1714500" cy="573000"/>
          </a:xfrm>
          <a:prstGeom prst="roundRect">
            <a:avLst>
              <a:gd fmla="val 18750" name="adj"/>
            </a:avLst>
          </a:prstGeom>
          <a:solidFill>
            <a:srgbClr val="FFF6D8"/>
          </a:solidFill>
          <a:ln cap="flat" cmpd="sng" w="9525">
            <a:solidFill>
              <a:srgbClr val="FFC400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dir="5400000" dist="9525">
              <a:srgbClr val="000000">
                <a:alpha val="5882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7"/>
          <p:cNvSpPr/>
          <p:nvPr/>
        </p:nvSpPr>
        <p:spPr>
          <a:xfrm>
            <a:off x="2728913" y="1385888"/>
            <a:ext cx="1000125" cy="1714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rPr>
              <a:t>Outcome</a:t>
            </a:r>
            <a:endParaRPr sz="1100"/>
          </a:p>
        </p:txBody>
      </p:sp>
      <p:sp>
        <p:nvSpPr>
          <p:cNvPr id="289" name="Google Shape;289;p7"/>
          <p:cNvSpPr/>
          <p:nvPr/>
        </p:nvSpPr>
        <p:spPr>
          <a:xfrm>
            <a:off x="2500313" y="1571625"/>
            <a:ext cx="1500188" cy="142875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700">
                <a:solidFill>
                  <a:srgbClr val="536170"/>
                </a:solidFill>
                <a:latin typeface="Arial"/>
                <a:ea typeface="Arial"/>
                <a:cs typeface="Arial"/>
                <a:sym typeface="Arial"/>
              </a:rPr>
              <a:t>Protected ride coordination without hurting pickup</a:t>
            </a:r>
            <a:endParaRPr sz="1100"/>
          </a:p>
        </p:txBody>
      </p:sp>
      <p:sp>
        <p:nvSpPr>
          <p:cNvPr id="290" name="Google Shape;290;p7"/>
          <p:cNvSpPr/>
          <p:nvPr/>
        </p:nvSpPr>
        <p:spPr>
          <a:xfrm>
            <a:off x="742950" y="2228850"/>
            <a:ext cx="1471613" cy="1357313"/>
          </a:xfrm>
          <a:prstGeom prst="roundRect">
            <a:avLst>
              <a:gd fmla="val 6316" name="adj"/>
            </a:avLst>
          </a:prstGeom>
          <a:solidFill>
            <a:srgbClr val="F8FAFC"/>
          </a:solidFill>
          <a:ln cap="flat" cmpd="sng" w="9525">
            <a:solidFill>
              <a:srgbClr val="DCE4EC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dir="5400000" dist="9525">
              <a:srgbClr val="000000">
                <a:alpha val="5882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7"/>
          <p:cNvSpPr/>
          <p:nvPr/>
        </p:nvSpPr>
        <p:spPr>
          <a:xfrm>
            <a:off x="871538" y="2386013"/>
            <a:ext cx="257175" cy="257175"/>
          </a:xfrm>
          <a:prstGeom prst="ellipse">
            <a:avLst/>
          </a:prstGeom>
          <a:solidFill>
            <a:srgbClr val="EAF2FF"/>
          </a:solidFill>
          <a:ln cap="flat" cmpd="sng" w="9525">
            <a:solidFill>
              <a:srgbClr val="EAF2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7"/>
          <p:cNvSpPr/>
          <p:nvPr/>
        </p:nvSpPr>
        <p:spPr>
          <a:xfrm>
            <a:off x="871538" y="2436019"/>
            <a:ext cx="257175" cy="185738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100"/>
          </a:p>
        </p:txBody>
      </p:sp>
      <p:sp>
        <p:nvSpPr>
          <p:cNvPr id="293" name="Google Shape;293;p7"/>
          <p:cNvSpPr/>
          <p:nvPr/>
        </p:nvSpPr>
        <p:spPr>
          <a:xfrm>
            <a:off x="1200150" y="2386013"/>
            <a:ext cx="900113" cy="314325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rPr>
              <a:t>Masking only</a:t>
            </a:r>
            <a:endParaRPr sz="1100"/>
          </a:p>
        </p:txBody>
      </p:sp>
      <p:sp>
        <p:nvSpPr>
          <p:cNvPr id="294" name="Google Shape;294;p7"/>
          <p:cNvSpPr/>
          <p:nvPr/>
        </p:nvSpPr>
        <p:spPr>
          <a:xfrm>
            <a:off x="885825" y="2771775"/>
            <a:ext cx="1185863" cy="371475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800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rPr>
              <a:t>Hides raw numbers but leaves location and expiry gaps.</a:t>
            </a:r>
            <a:endParaRPr sz="1100"/>
          </a:p>
        </p:txBody>
      </p:sp>
      <p:sp>
        <p:nvSpPr>
          <p:cNvPr id="295" name="Google Shape;295;p7"/>
          <p:cNvSpPr/>
          <p:nvPr/>
        </p:nvSpPr>
        <p:spPr>
          <a:xfrm>
            <a:off x="885825" y="3243263"/>
            <a:ext cx="1185863" cy="242888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700">
                <a:solidFill>
                  <a:srgbClr val="536170"/>
                </a:solidFill>
                <a:latin typeface="Arial"/>
                <a:ea typeface="Arial"/>
                <a:cs typeface="Arial"/>
                <a:sym typeface="Arial"/>
              </a:rPr>
              <a:t>High feasibility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700">
                <a:solidFill>
                  <a:srgbClr val="536170"/>
                </a:solidFill>
                <a:latin typeface="Arial"/>
                <a:ea typeface="Arial"/>
                <a:cs typeface="Arial"/>
                <a:sym typeface="Arial"/>
              </a:rPr>
              <a:t>Medium impact</a:t>
            </a:r>
            <a:endParaRPr sz="1100"/>
          </a:p>
        </p:txBody>
      </p:sp>
      <p:sp>
        <p:nvSpPr>
          <p:cNvPr id="296" name="Google Shape;296;p7"/>
          <p:cNvSpPr/>
          <p:nvPr/>
        </p:nvSpPr>
        <p:spPr>
          <a:xfrm>
            <a:off x="2428875" y="2228850"/>
            <a:ext cx="1471613" cy="1357313"/>
          </a:xfrm>
          <a:prstGeom prst="roundRect">
            <a:avLst>
              <a:gd fmla="val 6316" name="adj"/>
            </a:avLst>
          </a:prstGeom>
          <a:solidFill>
            <a:srgbClr val="F8FAFC"/>
          </a:solidFill>
          <a:ln cap="flat" cmpd="sng" w="9525">
            <a:solidFill>
              <a:srgbClr val="DCE4EC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dir="5400000" dist="9525">
              <a:srgbClr val="000000">
                <a:alpha val="5882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7"/>
          <p:cNvSpPr/>
          <p:nvPr/>
        </p:nvSpPr>
        <p:spPr>
          <a:xfrm>
            <a:off x="2557463" y="2386013"/>
            <a:ext cx="257175" cy="257175"/>
          </a:xfrm>
          <a:prstGeom prst="ellipse">
            <a:avLst/>
          </a:prstGeom>
          <a:solidFill>
            <a:srgbClr val="E7F6EF"/>
          </a:solidFill>
          <a:ln cap="flat" cmpd="sng" w="9525">
            <a:solidFill>
              <a:srgbClr val="E7F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7"/>
          <p:cNvSpPr/>
          <p:nvPr/>
        </p:nvSpPr>
        <p:spPr>
          <a:xfrm>
            <a:off x="2557463" y="2436019"/>
            <a:ext cx="257175" cy="185738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rgbClr val="075E4C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100"/>
          </a:p>
        </p:txBody>
      </p:sp>
      <p:sp>
        <p:nvSpPr>
          <p:cNvPr id="299" name="Google Shape;299;p7"/>
          <p:cNvSpPr/>
          <p:nvPr/>
        </p:nvSpPr>
        <p:spPr>
          <a:xfrm>
            <a:off x="2886075" y="2386013"/>
            <a:ext cx="900113" cy="314325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rPr>
              <a:t>Privacy receipt only</a:t>
            </a:r>
            <a:endParaRPr sz="1100"/>
          </a:p>
        </p:txBody>
      </p:sp>
      <p:sp>
        <p:nvSpPr>
          <p:cNvPr id="300" name="Google Shape;300;p7"/>
          <p:cNvSpPr/>
          <p:nvPr/>
        </p:nvSpPr>
        <p:spPr>
          <a:xfrm>
            <a:off x="2571750" y="2771775"/>
            <a:ext cx="1185863" cy="371475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800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rPr>
              <a:t>Builds trust after the ride but does not prevent misuse.</a:t>
            </a:r>
            <a:endParaRPr sz="1100"/>
          </a:p>
        </p:txBody>
      </p:sp>
      <p:sp>
        <p:nvSpPr>
          <p:cNvPr id="301" name="Google Shape;301;p7"/>
          <p:cNvSpPr/>
          <p:nvPr/>
        </p:nvSpPr>
        <p:spPr>
          <a:xfrm>
            <a:off x="2571750" y="3243263"/>
            <a:ext cx="1185863" cy="242888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700">
                <a:solidFill>
                  <a:srgbClr val="536170"/>
                </a:solidFill>
                <a:latin typeface="Arial"/>
                <a:ea typeface="Arial"/>
                <a:cs typeface="Arial"/>
                <a:sym typeface="Arial"/>
              </a:rPr>
              <a:t>High feasibility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700">
                <a:solidFill>
                  <a:srgbClr val="536170"/>
                </a:solidFill>
                <a:latin typeface="Arial"/>
                <a:ea typeface="Arial"/>
                <a:cs typeface="Arial"/>
                <a:sym typeface="Arial"/>
              </a:rPr>
              <a:t>Medium impact</a:t>
            </a:r>
            <a:endParaRPr sz="1100"/>
          </a:p>
        </p:txBody>
      </p:sp>
      <p:sp>
        <p:nvSpPr>
          <p:cNvPr id="302" name="Google Shape;302;p7"/>
          <p:cNvSpPr/>
          <p:nvPr/>
        </p:nvSpPr>
        <p:spPr>
          <a:xfrm>
            <a:off x="4114800" y="2228850"/>
            <a:ext cx="1471613" cy="1357313"/>
          </a:xfrm>
          <a:prstGeom prst="roundRect">
            <a:avLst>
              <a:gd fmla="val 6316" name="adj"/>
            </a:avLst>
          </a:prstGeom>
          <a:solidFill>
            <a:srgbClr val="FFF6D8"/>
          </a:solidFill>
          <a:ln cap="flat" cmpd="sng" w="9525">
            <a:solidFill>
              <a:srgbClr val="FFC400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dir="5400000" dist="9525">
              <a:srgbClr val="000000">
                <a:alpha val="5882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7"/>
          <p:cNvSpPr/>
          <p:nvPr/>
        </p:nvSpPr>
        <p:spPr>
          <a:xfrm>
            <a:off x="4243388" y="2386013"/>
            <a:ext cx="257175" cy="257175"/>
          </a:xfrm>
          <a:prstGeom prst="ellipse">
            <a:avLst/>
          </a:prstGeom>
          <a:solidFill>
            <a:srgbClr val="FFF6D8"/>
          </a:solidFill>
          <a:ln cap="flat" cmpd="sng" w="9525">
            <a:solidFill>
              <a:srgbClr val="FFF6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7"/>
          <p:cNvSpPr/>
          <p:nvPr/>
        </p:nvSpPr>
        <p:spPr>
          <a:xfrm>
            <a:off x="4114876" y="2436019"/>
            <a:ext cx="257100" cy="1857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rgbClr val="D97706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100"/>
          </a:p>
        </p:txBody>
      </p:sp>
      <p:sp>
        <p:nvSpPr>
          <p:cNvPr id="305" name="Google Shape;305;p7"/>
          <p:cNvSpPr/>
          <p:nvPr/>
        </p:nvSpPr>
        <p:spPr>
          <a:xfrm>
            <a:off x="4392538" y="2386050"/>
            <a:ext cx="1146600" cy="5730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rPr>
              <a:t>Purpose-bound ride data</a:t>
            </a:r>
            <a:endParaRPr sz="1100"/>
          </a:p>
        </p:txBody>
      </p:sp>
      <p:sp>
        <p:nvSpPr>
          <p:cNvPr id="306" name="Google Shape;306;p7"/>
          <p:cNvSpPr/>
          <p:nvPr/>
        </p:nvSpPr>
        <p:spPr>
          <a:xfrm>
            <a:off x="4257675" y="2771775"/>
            <a:ext cx="1185900" cy="3714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800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rPr>
              <a:t>Shares only what is needed, only for this trip, for limited time.</a:t>
            </a:r>
            <a:endParaRPr sz="1100"/>
          </a:p>
        </p:txBody>
      </p:sp>
      <p:sp>
        <p:nvSpPr>
          <p:cNvPr id="307" name="Google Shape;307;p7"/>
          <p:cNvSpPr/>
          <p:nvPr/>
        </p:nvSpPr>
        <p:spPr>
          <a:xfrm>
            <a:off x="4257675" y="3243263"/>
            <a:ext cx="1185863" cy="242888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700">
                <a:solidFill>
                  <a:srgbClr val="075E4C"/>
                </a:solidFill>
                <a:latin typeface="Arial"/>
                <a:ea typeface="Arial"/>
                <a:cs typeface="Arial"/>
                <a:sym typeface="Arial"/>
              </a:rPr>
              <a:t>High feasibility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700">
                <a:solidFill>
                  <a:srgbClr val="075E4C"/>
                </a:solidFill>
                <a:latin typeface="Arial"/>
                <a:ea typeface="Arial"/>
                <a:cs typeface="Arial"/>
                <a:sym typeface="Arial"/>
              </a:rPr>
              <a:t>High impact</a:t>
            </a:r>
            <a:endParaRPr sz="1100"/>
          </a:p>
        </p:txBody>
      </p:sp>
      <p:sp>
        <p:nvSpPr>
          <p:cNvPr id="308" name="Google Shape;308;p7"/>
          <p:cNvSpPr/>
          <p:nvPr/>
        </p:nvSpPr>
        <p:spPr>
          <a:xfrm>
            <a:off x="6129338" y="1143000"/>
            <a:ext cx="2500313" cy="2771775"/>
          </a:xfrm>
          <a:prstGeom prst="roundRect">
            <a:avLst>
              <a:gd fmla="val 3429" name="adj"/>
            </a:avLst>
          </a:prstGeom>
          <a:solidFill>
            <a:srgbClr val="FFFFFF"/>
          </a:solidFill>
          <a:ln cap="flat" cmpd="sng" w="9525">
            <a:solidFill>
              <a:srgbClr val="DCE4EC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dir="5400000" dist="9525">
              <a:srgbClr val="000000">
                <a:alpha val="5882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7"/>
          <p:cNvSpPr/>
          <p:nvPr/>
        </p:nvSpPr>
        <p:spPr>
          <a:xfrm>
            <a:off x="6357938" y="1335881"/>
            <a:ext cx="1857375" cy="242888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rPr>
              <a:t>Decision rationale</a:t>
            </a:r>
            <a:endParaRPr sz="1100"/>
          </a:p>
        </p:txBody>
      </p:sp>
      <p:sp>
        <p:nvSpPr>
          <p:cNvPr id="310" name="Google Shape;310;p7"/>
          <p:cNvSpPr/>
          <p:nvPr/>
        </p:nvSpPr>
        <p:spPr>
          <a:xfrm>
            <a:off x="6357938" y="1743075"/>
            <a:ext cx="271463" cy="271463"/>
          </a:xfrm>
          <a:prstGeom prst="ellipse">
            <a:avLst/>
          </a:prstGeom>
          <a:solidFill>
            <a:srgbClr val="E7F6EF"/>
          </a:solidFill>
          <a:ln cap="flat" cmpd="sng" w="9525">
            <a:solidFill>
              <a:srgbClr val="E7F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7"/>
          <p:cNvSpPr/>
          <p:nvPr/>
        </p:nvSpPr>
        <p:spPr>
          <a:xfrm>
            <a:off x="6357938" y="1793081"/>
            <a:ext cx="271463" cy="200025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rgbClr val="075E4C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endParaRPr sz="1100"/>
          </a:p>
        </p:txBody>
      </p:sp>
      <p:sp>
        <p:nvSpPr>
          <p:cNvPr id="312" name="Google Shape;312;p7"/>
          <p:cNvSpPr/>
          <p:nvPr/>
        </p:nvSpPr>
        <p:spPr>
          <a:xfrm>
            <a:off x="6715125" y="1728788"/>
            <a:ext cx="1285875" cy="1714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rgbClr val="075E4C"/>
                </a:solidFill>
                <a:latin typeface="Arial"/>
                <a:ea typeface="Arial"/>
                <a:cs typeface="Arial"/>
                <a:sym typeface="Arial"/>
              </a:rPr>
              <a:t>Impact</a:t>
            </a:r>
            <a:endParaRPr sz="1100"/>
          </a:p>
        </p:txBody>
      </p:sp>
      <p:sp>
        <p:nvSpPr>
          <p:cNvPr id="313" name="Google Shape;313;p7"/>
          <p:cNvSpPr/>
          <p:nvPr/>
        </p:nvSpPr>
        <p:spPr>
          <a:xfrm>
            <a:off x="6715125" y="1914525"/>
            <a:ext cx="1528763" cy="214313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800">
                <a:solidFill>
                  <a:srgbClr val="536170"/>
                </a:solidFill>
                <a:latin typeface="Arial"/>
                <a:ea typeface="Arial"/>
                <a:cs typeface="Arial"/>
                <a:sym typeface="Arial"/>
              </a:rPr>
              <a:t>Directly reduces exposure at the source.</a:t>
            </a:r>
            <a:endParaRPr sz="1100"/>
          </a:p>
        </p:txBody>
      </p:sp>
      <p:sp>
        <p:nvSpPr>
          <p:cNvPr id="314" name="Google Shape;314;p7"/>
          <p:cNvSpPr/>
          <p:nvPr/>
        </p:nvSpPr>
        <p:spPr>
          <a:xfrm>
            <a:off x="6357938" y="2185988"/>
            <a:ext cx="271463" cy="271463"/>
          </a:xfrm>
          <a:prstGeom prst="ellipse">
            <a:avLst/>
          </a:prstGeom>
          <a:solidFill>
            <a:srgbClr val="EAF2FF"/>
          </a:solidFill>
          <a:ln cap="flat" cmpd="sng" w="9525">
            <a:solidFill>
              <a:srgbClr val="EAF2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7"/>
          <p:cNvSpPr/>
          <p:nvPr/>
        </p:nvSpPr>
        <p:spPr>
          <a:xfrm>
            <a:off x="6357938" y="2235994"/>
            <a:ext cx="271463" cy="200025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endParaRPr sz="1100"/>
          </a:p>
        </p:txBody>
      </p:sp>
      <p:sp>
        <p:nvSpPr>
          <p:cNvPr id="316" name="Google Shape;316;p7"/>
          <p:cNvSpPr/>
          <p:nvPr/>
        </p:nvSpPr>
        <p:spPr>
          <a:xfrm>
            <a:off x="6715125" y="2171700"/>
            <a:ext cx="1285875" cy="1714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rgbClr val="075E4C"/>
                </a:solidFill>
                <a:latin typeface="Arial"/>
                <a:ea typeface="Arial"/>
                <a:cs typeface="Arial"/>
                <a:sym typeface="Arial"/>
              </a:rPr>
              <a:t>User value</a:t>
            </a:r>
            <a:endParaRPr sz="1100"/>
          </a:p>
        </p:txBody>
      </p:sp>
      <p:sp>
        <p:nvSpPr>
          <p:cNvPr id="317" name="Google Shape;317;p7"/>
          <p:cNvSpPr/>
          <p:nvPr/>
        </p:nvSpPr>
        <p:spPr>
          <a:xfrm>
            <a:off x="6715125" y="2357438"/>
            <a:ext cx="1528763" cy="214313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800">
                <a:solidFill>
                  <a:srgbClr val="536170"/>
                </a:solidFill>
                <a:latin typeface="Arial"/>
                <a:ea typeface="Arial"/>
                <a:cs typeface="Arial"/>
                <a:sym typeface="Arial"/>
              </a:rPr>
              <a:t>Makes protection visible during and after the ride.</a:t>
            </a:r>
            <a:endParaRPr sz="1100"/>
          </a:p>
        </p:txBody>
      </p:sp>
      <p:sp>
        <p:nvSpPr>
          <p:cNvPr id="318" name="Google Shape;318;p7"/>
          <p:cNvSpPr/>
          <p:nvPr/>
        </p:nvSpPr>
        <p:spPr>
          <a:xfrm>
            <a:off x="6357938" y="2628900"/>
            <a:ext cx="271463" cy="271463"/>
          </a:xfrm>
          <a:prstGeom prst="ellipse">
            <a:avLst/>
          </a:prstGeom>
          <a:solidFill>
            <a:srgbClr val="FFF6D8"/>
          </a:solidFill>
          <a:ln cap="flat" cmpd="sng" w="9525">
            <a:solidFill>
              <a:srgbClr val="FFF6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7"/>
          <p:cNvSpPr/>
          <p:nvPr/>
        </p:nvSpPr>
        <p:spPr>
          <a:xfrm>
            <a:off x="6357938" y="2678906"/>
            <a:ext cx="271463" cy="200025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rgbClr val="D97706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endParaRPr sz="1100"/>
          </a:p>
        </p:txBody>
      </p:sp>
      <p:sp>
        <p:nvSpPr>
          <p:cNvPr id="320" name="Google Shape;320;p7"/>
          <p:cNvSpPr/>
          <p:nvPr/>
        </p:nvSpPr>
        <p:spPr>
          <a:xfrm>
            <a:off x="6715125" y="2614613"/>
            <a:ext cx="1285875" cy="1714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rgbClr val="075E4C"/>
                </a:solidFill>
                <a:latin typeface="Arial"/>
                <a:ea typeface="Arial"/>
                <a:cs typeface="Arial"/>
                <a:sym typeface="Arial"/>
              </a:rPr>
              <a:t>Regulatory fit</a:t>
            </a:r>
            <a:endParaRPr sz="1100"/>
          </a:p>
        </p:txBody>
      </p:sp>
      <p:sp>
        <p:nvSpPr>
          <p:cNvPr id="321" name="Google Shape;321;p7"/>
          <p:cNvSpPr/>
          <p:nvPr/>
        </p:nvSpPr>
        <p:spPr>
          <a:xfrm>
            <a:off x="6715125" y="2800350"/>
            <a:ext cx="1528763" cy="214313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800">
                <a:solidFill>
                  <a:srgbClr val="536170"/>
                </a:solidFill>
                <a:latin typeface="Arial"/>
                <a:ea typeface="Arial"/>
                <a:cs typeface="Arial"/>
                <a:sym typeface="Arial"/>
              </a:rPr>
              <a:t>Supports notice, minimization, retention, and rights.</a:t>
            </a:r>
            <a:endParaRPr sz="1100"/>
          </a:p>
        </p:txBody>
      </p:sp>
      <p:sp>
        <p:nvSpPr>
          <p:cNvPr id="322" name="Google Shape;322;p7"/>
          <p:cNvSpPr/>
          <p:nvPr/>
        </p:nvSpPr>
        <p:spPr>
          <a:xfrm>
            <a:off x="6357938" y="3071813"/>
            <a:ext cx="271463" cy="271463"/>
          </a:xfrm>
          <a:prstGeom prst="ellipse">
            <a:avLst/>
          </a:prstGeom>
          <a:solidFill>
            <a:srgbClr val="F1EAFF"/>
          </a:solidFill>
          <a:ln cap="flat" cmpd="sng" w="9525">
            <a:solidFill>
              <a:srgbClr val="F1EA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7"/>
          <p:cNvSpPr/>
          <p:nvPr/>
        </p:nvSpPr>
        <p:spPr>
          <a:xfrm>
            <a:off x="6357938" y="3121819"/>
            <a:ext cx="271463" cy="200025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rgbClr val="7C3AED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endParaRPr sz="1100"/>
          </a:p>
        </p:txBody>
      </p:sp>
      <p:sp>
        <p:nvSpPr>
          <p:cNvPr id="324" name="Google Shape;324;p7"/>
          <p:cNvSpPr/>
          <p:nvPr/>
        </p:nvSpPr>
        <p:spPr>
          <a:xfrm>
            <a:off x="6715125" y="3057525"/>
            <a:ext cx="1285875" cy="1714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rgbClr val="075E4C"/>
                </a:solidFill>
                <a:latin typeface="Arial"/>
                <a:ea typeface="Arial"/>
                <a:cs typeface="Arial"/>
                <a:sym typeface="Arial"/>
              </a:rPr>
              <a:t>Prototype fit</a:t>
            </a:r>
            <a:endParaRPr sz="1100"/>
          </a:p>
        </p:txBody>
      </p:sp>
      <p:sp>
        <p:nvSpPr>
          <p:cNvPr id="325" name="Google Shape;325;p7"/>
          <p:cNvSpPr/>
          <p:nvPr/>
        </p:nvSpPr>
        <p:spPr>
          <a:xfrm>
            <a:off x="6715125" y="3243263"/>
            <a:ext cx="1528763" cy="214313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800">
                <a:solidFill>
                  <a:srgbClr val="536170"/>
                </a:solidFill>
                <a:latin typeface="Arial"/>
                <a:ea typeface="Arial"/>
                <a:cs typeface="Arial"/>
                <a:sym typeface="Arial"/>
              </a:rPr>
              <a:t>Can be shown in a happy path without backend complexity.</a:t>
            </a:r>
            <a:endParaRPr sz="1100"/>
          </a:p>
        </p:txBody>
      </p:sp>
      <p:sp>
        <p:nvSpPr>
          <p:cNvPr id="326" name="Google Shape;326;p7"/>
          <p:cNvSpPr/>
          <p:nvPr/>
        </p:nvSpPr>
        <p:spPr>
          <a:xfrm>
            <a:off x="6357938" y="3529013"/>
            <a:ext cx="2000250" cy="271463"/>
          </a:xfrm>
          <a:prstGeom prst="roundRect">
            <a:avLst>
              <a:gd fmla="val 21053" name="adj"/>
            </a:avLst>
          </a:prstGeom>
          <a:solidFill>
            <a:srgbClr val="E7F6EF"/>
          </a:solidFill>
          <a:ln cap="flat" cmpd="sng" w="9525">
            <a:solidFill>
              <a:srgbClr val="E7F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7"/>
          <p:cNvSpPr/>
          <p:nvPr/>
        </p:nvSpPr>
        <p:spPr>
          <a:xfrm>
            <a:off x="6443663" y="3564731"/>
            <a:ext cx="1828800" cy="214313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075E4C"/>
                </a:solidFill>
                <a:latin typeface="Arial"/>
                <a:ea typeface="Arial"/>
                <a:cs typeface="Arial"/>
                <a:sym typeface="Arial"/>
              </a:rPr>
              <a:t>Selected POC: Purpose-Bound Ride Data</a:t>
            </a:r>
            <a:endParaRPr sz="1100"/>
          </a:p>
        </p:txBody>
      </p:sp>
      <p:sp>
        <p:nvSpPr>
          <p:cNvPr id="328" name="Google Shape;328;p7"/>
          <p:cNvSpPr/>
          <p:nvPr/>
        </p:nvSpPr>
        <p:spPr>
          <a:xfrm>
            <a:off x="300038" y="4750594"/>
            <a:ext cx="8543925" cy="7144"/>
          </a:xfrm>
          <a:prstGeom prst="rect">
            <a:avLst/>
          </a:prstGeom>
          <a:solidFill>
            <a:srgbClr val="EEF2F6"/>
          </a:solidFill>
          <a:ln cap="flat" cmpd="sng" w="9525">
            <a:solidFill>
              <a:srgbClr val="EEF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7"/>
          <p:cNvSpPr/>
          <p:nvPr/>
        </p:nvSpPr>
        <p:spPr>
          <a:xfrm>
            <a:off x="314325" y="4843463"/>
            <a:ext cx="400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700">
                <a:solidFill>
                  <a:srgbClr val="536170"/>
                </a:solidFill>
                <a:latin typeface="Arial"/>
                <a:ea typeface="Arial"/>
                <a:cs typeface="Arial"/>
                <a:sym typeface="Arial"/>
              </a:rPr>
              <a:t>Purpose-bound ride data  |  DPDP product thinking case</a:t>
            </a:r>
            <a:endParaRPr sz="1100"/>
          </a:p>
        </p:txBody>
      </p:sp>
      <p:sp>
        <p:nvSpPr>
          <p:cNvPr id="330" name="Google Shape;330;p7"/>
          <p:cNvSpPr/>
          <p:nvPr/>
        </p:nvSpPr>
        <p:spPr>
          <a:xfrm>
            <a:off x="8572500" y="4843463"/>
            <a:ext cx="285750" cy="157163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700">
                <a:solidFill>
                  <a:srgbClr val="536170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6" name="Google Shape;336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1463" y="214313"/>
            <a:ext cx="271463" cy="271463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8"/>
          <p:cNvSpPr/>
          <p:nvPr/>
        </p:nvSpPr>
        <p:spPr>
          <a:xfrm>
            <a:off x="657225" y="271463"/>
            <a:ext cx="51435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100">
                <a:solidFill>
                  <a:srgbClr val="0B1220"/>
                </a:solidFill>
                <a:latin typeface="Play"/>
                <a:ea typeface="Play"/>
                <a:cs typeface="Play"/>
                <a:sym typeface="Play"/>
              </a:rPr>
              <a:t>Make shared data temporary and explainable</a:t>
            </a:r>
            <a:endParaRPr sz="1100"/>
          </a:p>
        </p:txBody>
      </p:sp>
      <p:sp>
        <p:nvSpPr>
          <p:cNvPr id="338" name="Google Shape;338;p8"/>
          <p:cNvSpPr/>
          <p:nvPr/>
        </p:nvSpPr>
        <p:spPr>
          <a:xfrm>
            <a:off x="671525" y="919775"/>
            <a:ext cx="5857800" cy="1572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100">
                <a:solidFill>
                  <a:srgbClr val="536170"/>
                </a:solidFill>
                <a:latin typeface="Arial"/>
                <a:ea typeface="Arial"/>
                <a:cs typeface="Arial"/>
                <a:sym typeface="Arial"/>
              </a:rPr>
              <a:t>Three surfaces turn privacy from a hidden policy into an in-ride guarantee.</a:t>
            </a:r>
            <a:endParaRPr sz="1100"/>
          </a:p>
        </p:txBody>
      </p:sp>
      <p:sp>
        <p:nvSpPr>
          <p:cNvPr id="339" name="Google Shape;339;p8"/>
          <p:cNvSpPr/>
          <p:nvPr/>
        </p:nvSpPr>
        <p:spPr>
          <a:xfrm>
            <a:off x="5965031" y="531495"/>
            <a:ext cx="581501" cy="35719"/>
          </a:xfrm>
          <a:prstGeom prst="rect">
            <a:avLst/>
          </a:prstGeom>
          <a:solidFill>
            <a:srgbClr val="FFC400"/>
          </a:solidFill>
          <a:ln cap="flat" cmpd="sng" w="9525">
            <a:solidFill>
              <a:srgbClr val="FFC4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8"/>
          <p:cNvSpPr/>
          <p:nvPr/>
        </p:nvSpPr>
        <p:spPr>
          <a:xfrm>
            <a:off x="6546533" y="436340"/>
            <a:ext cx="581501" cy="35719"/>
          </a:xfrm>
          <a:prstGeom prst="rect">
            <a:avLst/>
          </a:prstGeom>
          <a:solidFill>
            <a:srgbClr val="FFC400"/>
          </a:solidFill>
          <a:ln cap="flat" cmpd="sng" w="9525">
            <a:solidFill>
              <a:srgbClr val="FFC4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8"/>
          <p:cNvSpPr/>
          <p:nvPr/>
        </p:nvSpPr>
        <p:spPr>
          <a:xfrm>
            <a:off x="7128034" y="499777"/>
            <a:ext cx="581501" cy="35719"/>
          </a:xfrm>
          <a:prstGeom prst="rect">
            <a:avLst/>
          </a:prstGeom>
          <a:solidFill>
            <a:srgbClr val="FFC400"/>
          </a:solidFill>
          <a:ln cap="flat" cmpd="sng" w="9525">
            <a:solidFill>
              <a:srgbClr val="FFC4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8"/>
          <p:cNvSpPr/>
          <p:nvPr/>
        </p:nvSpPr>
        <p:spPr>
          <a:xfrm>
            <a:off x="7709535" y="383477"/>
            <a:ext cx="740093" cy="35719"/>
          </a:xfrm>
          <a:prstGeom prst="rect">
            <a:avLst/>
          </a:prstGeom>
          <a:solidFill>
            <a:srgbClr val="FFC400"/>
          </a:solidFill>
          <a:ln cap="flat" cmpd="sng" w="9525">
            <a:solidFill>
              <a:srgbClr val="FFC4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8"/>
          <p:cNvSpPr/>
          <p:nvPr/>
        </p:nvSpPr>
        <p:spPr>
          <a:xfrm>
            <a:off x="5893594" y="494491"/>
            <a:ext cx="142875" cy="142875"/>
          </a:xfrm>
          <a:prstGeom prst="ellipse">
            <a:avLst/>
          </a:prstGeom>
          <a:solidFill>
            <a:srgbClr val="FFFFFF"/>
          </a:solidFill>
          <a:ln cap="flat" cmpd="sng" w="38100">
            <a:solidFill>
              <a:srgbClr val="007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8"/>
          <p:cNvSpPr/>
          <p:nvPr/>
        </p:nvSpPr>
        <p:spPr>
          <a:xfrm>
            <a:off x="8423196" y="325327"/>
            <a:ext cx="214313" cy="214313"/>
          </a:xfrm>
          <a:prstGeom prst="ellipse">
            <a:avLst/>
          </a:prstGeom>
          <a:solidFill>
            <a:srgbClr val="FFC400"/>
          </a:solidFill>
          <a:ln cap="flat" cmpd="sng" w="9525">
            <a:solidFill>
              <a:srgbClr val="FFC4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8"/>
          <p:cNvSpPr/>
          <p:nvPr/>
        </p:nvSpPr>
        <p:spPr>
          <a:xfrm>
            <a:off x="6995875" y="309467"/>
            <a:ext cx="571500" cy="214313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075E4C"/>
                </a:solidFill>
                <a:latin typeface="Arial"/>
                <a:ea typeface="Arial"/>
                <a:cs typeface="Arial"/>
                <a:sym typeface="Arial"/>
              </a:rPr>
              <a:t>ride</a:t>
            </a:r>
            <a:endParaRPr sz="1100"/>
          </a:p>
        </p:txBody>
      </p:sp>
      <p:sp>
        <p:nvSpPr>
          <p:cNvPr id="346" name="Google Shape;346;p8"/>
          <p:cNvSpPr/>
          <p:nvPr/>
        </p:nvSpPr>
        <p:spPr>
          <a:xfrm>
            <a:off x="600075" y="1200150"/>
            <a:ext cx="300038" cy="300038"/>
          </a:xfrm>
          <a:prstGeom prst="ellipse">
            <a:avLst/>
          </a:prstGeom>
          <a:solidFill>
            <a:srgbClr val="FFC400"/>
          </a:solidFill>
          <a:ln cap="flat" cmpd="sng" w="9525">
            <a:solidFill>
              <a:srgbClr val="FFC4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8"/>
          <p:cNvSpPr/>
          <p:nvPr/>
        </p:nvSpPr>
        <p:spPr>
          <a:xfrm>
            <a:off x="600075" y="1250156"/>
            <a:ext cx="300038" cy="2286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100"/>
          </a:p>
        </p:txBody>
      </p:sp>
      <p:sp>
        <p:nvSpPr>
          <p:cNvPr id="348" name="Google Shape;348;p8"/>
          <p:cNvSpPr/>
          <p:nvPr/>
        </p:nvSpPr>
        <p:spPr>
          <a:xfrm>
            <a:off x="1014413" y="1214438"/>
            <a:ext cx="1785937" cy="2286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rPr>
              <a:t>Protected Connect</a:t>
            </a:r>
            <a:endParaRPr sz="1100"/>
          </a:p>
        </p:txBody>
      </p:sp>
      <p:sp>
        <p:nvSpPr>
          <p:cNvPr id="349" name="Google Shape;349;p8"/>
          <p:cNvSpPr/>
          <p:nvPr/>
        </p:nvSpPr>
        <p:spPr>
          <a:xfrm>
            <a:off x="757238" y="1571625"/>
            <a:ext cx="1785937" cy="2100263"/>
          </a:xfrm>
          <a:prstGeom prst="roundRect">
            <a:avLst>
              <a:gd fmla="val 6400" name="adj"/>
            </a:avLst>
          </a:prstGeom>
          <a:solidFill>
            <a:srgbClr val="111827"/>
          </a:solidFill>
          <a:ln cap="flat" cmpd="sng" w="9525">
            <a:solidFill>
              <a:srgbClr val="1118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8"/>
          <p:cNvSpPr/>
          <p:nvPr/>
        </p:nvSpPr>
        <p:spPr>
          <a:xfrm>
            <a:off x="814388" y="1628775"/>
            <a:ext cx="1671638" cy="1985963"/>
          </a:xfrm>
          <a:prstGeom prst="roundRect">
            <a:avLst>
              <a:gd fmla="val 5128" name="adj"/>
            </a:avLst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8"/>
          <p:cNvSpPr/>
          <p:nvPr/>
        </p:nvSpPr>
        <p:spPr>
          <a:xfrm>
            <a:off x="1435894" y="1664494"/>
            <a:ext cx="428625" cy="50006"/>
          </a:xfrm>
          <a:prstGeom prst="roundRect">
            <a:avLst>
              <a:gd fmla="val 50000" name="adj"/>
            </a:avLst>
          </a:prstGeom>
          <a:solidFill>
            <a:srgbClr val="111827"/>
          </a:solidFill>
          <a:ln cap="flat" cmpd="sng" w="9525">
            <a:solidFill>
              <a:srgbClr val="1118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8"/>
          <p:cNvSpPr/>
          <p:nvPr/>
        </p:nvSpPr>
        <p:spPr>
          <a:xfrm>
            <a:off x="885825" y="1750219"/>
            <a:ext cx="314325" cy="128588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600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rPr>
              <a:t>9:41</a:t>
            </a:r>
            <a:endParaRPr sz="1100"/>
          </a:p>
        </p:txBody>
      </p:sp>
      <p:sp>
        <p:nvSpPr>
          <p:cNvPr id="353" name="Google Shape;353;p8"/>
          <p:cNvSpPr/>
          <p:nvPr/>
        </p:nvSpPr>
        <p:spPr>
          <a:xfrm>
            <a:off x="885825" y="1943100"/>
            <a:ext cx="1528763" cy="185738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rPr>
              <a:t>Trip in progress</a:t>
            </a:r>
            <a:endParaRPr sz="1100"/>
          </a:p>
        </p:txBody>
      </p:sp>
      <p:sp>
        <p:nvSpPr>
          <p:cNvPr id="354" name="Google Shape;354;p8"/>
          <p:cNvSpPr/>
          <p:nvPr/>
        </p:nvSpPr>
        <p:spPr>
          <a:xfrm>
            <a:off x="900113" y="2200275"/>
            <a:ext cx="1500188" cy="328613"/>
          </a:xfrm>
          <a:prstGeom prst="roundRect">
            <a:avLst>
              <a:gd fmla="val 17391" name="adj"/>
            </a:avLst>
          </a:prstGeom>
          <a:solidFill>
            <a:srgbClr val="E7F6EF"/>
          </a:solidFill>
          <a:ln cap="flat" cmpd="sng" w="9525">
            <a:solidFill>
              <a:srgbClr val="E7F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8"/>
          <p:cNvSpPr/>
          <p:nvPr/>
        </p:nvSpPr>
        <p:spPr>
          <a:xfrm>
            <a:off x="985838" y="2250281"/>
            <a:ext cx="1328738" cy="242888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800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rPr>
              <a:t>Call via Rapido</a:t>
            </a:r>
            <a:endParaRPr sz="1100"/>
          </a:p>
        </p:txBody>
      </p:sp>
      <p:sp>
        <p:nvSpPr>
          <p:cNvPr id="356" name="Google Shape;356;p8"/>
          <p:cNvSpPr/>
          <p:nvPr/>
        </p:nvSpPr>
        <p:spPr>
          <a:xfrm>
            <a:off x="900113" y="2600325"/>
            <a:ext cx="1500188" cy="328613"/>
          </a:xfrm>
          <a:prstGeom prst="roundRect">
            <a:avLst>
              <a:gd fmla="val 17391" name="adj"/>
            </a:avLst>
          </a:prstGeom>
          <a:solidFill>
            <a:srgbClr val="E7F6EF"/>
          </a:solidFill>
          <a:ln cap="flat" cmpd="sng" w="9525">
            <a:solidFill>
              <a:srgbClr val="E7F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8"/>
          <p:cNvSpPr/>
          <p:nvPr/>
        </p:nvSpPr>
        <p:spPr>
          <a:xfrm>
            <a:off x="985838" y="2650331"/>
            <a:ext cx="1328738" cy="242888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800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rPr>
              <a:t>Chat via Rapido</a:t>
            </a:r>
            <a:endParaRPr sz="1100"/>
          </a:p>
        </p:txBody>
      </p:sp>
      <p:sp>
        <p:nvSpPr>
          <p:cNvPr id="358" name="Google Shape;358;p8"/>
          <p:cNvSpPr/>
          <p:nvPr/>
        </p:nvSpPr>
        <p:spPr>
          <a:xfrm>
            <a:off x="900113" y="3000375"/>
            <a:ext cx="1500188" cy="328613"/>
          </a:xfrm>
          <a:prstGeom prst="roundRect">
            <a:avLst>
              <a:gd fmla="val 17391" name="adj"/>
            </a:avLst>
          </a:prstGeom>
          <a:solidFill>
            <a:srgbClr val="E7F6EF"/>
          </a:solidFill>
          <a:ln cap="flat" cmpd="sng" w="9525">
            <a:solidFill>
              <a:srgbClr val="E7F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8"/>
          <p:cNvSpPr/>
          <p:nvPr/>
        </p:nvSpPr>
        <p:spPr>
          <a:xfrm>
            <a:off x="985838" y="3050381"/>
            <a:ext cx="1328738" cy="242888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>
                <a:solidFill>
                  <a:srgbClr val="075E4C"/>
                </a:solidFill>
                <a:latin typeface="Arial"/>
                <a:ea typeface="Arial"/>
                <a:cs typeface="Arial"/>
                <a:sym typeface="Arial"/>
              </a:rPr>
              <a:t>No raw phone shown</a:t>
            </a:r>
            <a:endParaRPr sz="1100"/>
          </a:p>
        </p:txBody>
      </p:sp>
      <p:sp>
        <p:nvSpPr>
          <p:cNvPr id="360" name="Google Shape;360;p8"/>
          <p:cNvSpPr/>
          <p:nvPr/>
        </p:nvSpPr>
        <p:spPr>
          <a:xfrm>
            <a:off x="3357563" y="1200150"/>
            <a:ext cx="300038" cy="300038"/>
          </a:xfrm>
          <a:prstGeom prst="ellipse">
            <a:avLst/>
          </a:prstGeom>
          <a:solidFill>
            <a:srgbClr val="FFC400"/>
          </a:solidFill>
          <a:ln cap="flat" cmpd="sng" w="9525">
            <a:solidFill>
              <a:srgbClr val="FFC4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8"/>
          <p:cNvSpPr/>
          <p:nvPr/>
        </p:nvSpPr>
        <p:spPr>
          <a:xfrm>
            <a:off x="3357563" y="1250156"/>
            <a:ext cx="300038" cy="2286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100"/>
          </a:p>
        </p:txBody>
      </p:sp>
      <p:sp>
        <p:nvSpPr>
          <p:cNvPr id="362" name="Google Shape;362;p8"/>
          <p:cNvSpPr/>
          <p:nvPr/>
        </p:nvSpPr>
        <p:spPr>
          <a:xfrm>
            <a:off x="3771900" y="1214438"/>
            <a:ext cx="1785938" cy="2286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rPr>
              <a:t>Trip Data Lease</a:t>
            </a:r>
            <a:endParaRPr sz="1100"/>
          </a:p>
        </p:txBody>
      </p:sp>
      <p:sp>
        <p:nvSpPr>
          <p:cNvPr id="363" name="Google Shape;363;p8"/>
          <p:cNvSpPr/>
          <p:nvPr/>
        </p:nvSpPr>
        <p:spPr>
          <a:xfrm>
            <a:off x="3514725" y="1571625"/>
            <a:ext cx="1785938" cy="2100263"/>
          </a:xfrm>
          <a:prstGeom prst="roundRect">
            <a:avLst>
              <a:gd fmla="val 6400" name="adj"/>
            </a:avLst>
          </a:prstGeom>
          <a:solidFill>
            <a:srgbClr val="111827"/>
          </a:solidFill>
          <a:ln cap="flat" cmpd="sng" w="9525">
            <a:solidFill>
              <a:srgbClr val="1118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8"/>
          <p:cNvSpPr/>
          <p:nvPr/>
        </p:nvSpPr>
        <p:spPr>
          <a:xfrm>
            <a:off x="3571875" y="1628775"/>
            <a:ext cx="1671638" cy="1985963"/>
          </a:xfrm>
          <a:prstGeom prst="roundRect">
            <a:avLst>
              <a:gd fmla="val 5128" name="adj"/>
            </a:avLst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8"/>
          <p:cNvSpPr/>
          <p:nvPr/>
        </p:nvSpPr>
        <p:spPr>
          <a:xfrm>
            <a:off x="4193381" y="1664494"/>
            <a:ext cx="428625" cy="50006"/>
          </a:xfrm>
          <a:prstGeom prst="roundRect">
            <a:avLst>
              <a:gd fmla="val 50000" name="adj"/>
            </a:avLst>
          </a:prstGeom>
          <a:solidFill>
            <a:srgbClr val="111827"/>
          </a:solidFill>
          <a:ln cap="flat" cmpd="sng" w="9525">
            <a:solidFill>
              <a:srgbClr val="1118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8"/>
          <p:cNvSpPr/>
          <p:nvPr/>
        </p:nvSpPr>
        <p:spPr>
          <a:xfrm>
            <a:off x="3643313" y="1750219"/>
            <a:ext cx="314325" cy="128588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600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rPr>
              <a:t>9:41</a:t>
            </a:r>
            <a:endParaRPr sz="1100"/>
          </a:p>
        </p:txBody>
      </p:sp>
      <p:sp>
        <p:nvSpPr>
          <p:cNvPr id="367" name="Google Shape;367;p8"/>
          <p:cNvSpPr/>
          <p:nvPr/>
        </p:nvSpPr>
        <p:spPr>
          <a:xfrm>
            <a:off x="3643313" y="1943100"/>
            <a:ext cx="1528763" cy="185738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rPr>
              <a:t>Active lease</a:t>
            </a:r>
            <a:endParaRPr sz="1100"/>
          </a:p>
        </p:txBody>
      </p:sp>
      <p:sp>
        <p:nvSpPr>
          <p:cNvPr id="368" name="Google Shape;368;p8"/>
          <p:cNvSpPr/>
          <p:nvPr/>
        </p:nvSpPr>
        <p:spPr>
          <a:xfrm>
            <a:off x="3657600" y="2200275"/>
            <a:ext cx="1500188" cy="328613"/>
          </a:xfrm>
          <a:prstGeom prst="roundRect">
            <a:avLst>
              <a:gd fmla="val 17391" name="adj"/>
            </a:avLst>
          </a:prstGeom>
          <a:solidFill>
            <a:srgbClr val="FFF6D8"/>
          </a:solidFill>
          <a:ln cap="flat" cmpd="sng" w="9525">
            <a:solidFill>
              <a:srgbClr val="FFF6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8"/>
          <p:cNvSpPr/>
          <p:nvPr/>
        </p:nvSpPr>
        <p:spPr>
          <a:xfrm>
            <a:off x="3743325" y="2250281"/>
            <a:ext cx="1328738" cy="242888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800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rPr>
              <a:t>Access expires in 18:57</a:t>
            </a:r>
            <a:endParaRPr sz="1100"/>
          </a:p>
        </p:txBody>
      </p:sp>
      <p:sp>
        <p:nvSpPr>
          <p:cNvPr id="370" name="Google Shape;370;p8"/>
          <p:cNvSpPr/>
          <p:nvPr/>
        </p:nvSpPr>
        <p:spPr>
          <a:xfrm>
            <a:off x="3657600" y="2600325"/>
            <a:ext cx="1500188" cy="328613"/>
          </a:xfrm>
          <a:prstGeom prst="roundRect">
            <a:avLst>
              <a:gd fmla="val 17391" name="adj"/>
            </a:avLst>
          </a:prstGeom>
          <a:solidFill>
            <a:srgbClr val="FFF6D8"/>
          </a:solidFill>
          <a:ln cap="flat" cmpd="sng" w="9525">
            <a:solidFill>
              <a:srgbClr val="FFF6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8"/>
          <p:cNvSpPr/>
          <p:nvPr/>
        </p:nvSpPr>
        <p:spPr>
          <a:xfrm>
            <a:off x="3743325" y="2650331"/>
            <a:ext cx="1328738" cy="242888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800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rPr>
              <a:t>Masked contact + pickup</a:t>
            </a:r>
            <a:endParaRPr sz="1100"/>
          </a:p>
        </p:txBody>
      </p:sp>
      <p:sp>
        <p:nvSpPr>
          <p:cNvPr id="372" name="Google Shape;372;p8"/>
          <p:cNvSpPr/>
          <p:nvPr/>
        </p:nvSpPr>
        <p:spPr>
          <a:xfrm>
            <a:off x="3657600" y="3000375"/>
            <a:ext cx="1500188" cy="328613"/>
          </a:xfrm>
          <a:prstGeom prst="roundRect">
            <a:avLst>
              <a:gd fmla="val 17391" name="adj"/>
            </a:avLst>
          </a:prstGeom>
          <a:solidFill>
            <a:srgbClr val="E7F6EF"/>
          </a:solidFill>
          <a:ln cap="flat" cmpd="sng" w="9525">
            <a:solidFill>
              <a:srgbClr val="E7F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8"/>
          <p:cNvSpPr/>
          <p:nvPr/>
        </p:nvSpPr>
        <p:spPr>
          <a:xfrm>
            <a:off x="3743325" y="3050381"/>
            <a:ext cx="1328738" cy="242888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>
                <a:solidFill>
                  <a:srgbClr val="075E4C"/>
                </a:solidFill>
                <a:latin typeface="Arial"/>
                <a:ea typeface="Arial"/>
                <a:cs typeface="Arial"/>
                <a:sym typeface="Arial"/>
              </a:rPr>
              <a:t>Expires after ride</a:t>
            </a:r>
            <a:endParaRPr sz="1100"/>
          </a:p>
        </p:txBody>
      </p:sp>
      <p:sp>
        <p:nvSpPr>
          <p:cNvPr id="374" name="Google Shape;374;p8"/>
          <p:cNvSpPr/>
          <p:nvPr/>
        </p:nvSpPr>
        <p:spPr>
          <a:xfrm>
            <a:off x="6115050" y="1200150"/>
            <a:ext cx="300038" cy="300038"/>
          </a:xfrm>
          <a:prstGeom prst="ellipse">
            <a:avLst/>
          </a:prstGeom>
          <a:solidFill>
            <a:srgbClr val="FFC400"/>
          </a:solidFill>
          <a:ln cap="flat" cmpd="sng" w="9525">
            <a:solidFill>
              <a:srgbClr val="FFC4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8"/>
          <p:cNvSpPr/>
          <p:nvPr/>
        </p:nvSpPr>
        <p:spPr>
          <a:xfrm>
            <a:off x="6115050" y="1250156"/>
            <a:ext cx="300038" cy="2286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100"/>
          </a:p>
        </p:txBody>
      </p:sp>
      <p:sp>
        <p:nvSpPr>
          <p:cNvPr id="376" name="Google Shape;376;p8"/>
          <p:cNvSpPr/>
          <p:nvPr/>
        </p:nvSpPr>
        <p:spPr>
          <a:xfrm>
            <a:off x="6529388" y="1214438"/>
            <a:ext cx="1785938" cy="2286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rPr>
              <a:t>Privacy Center</a:t>
            </a:r>
            <a:endParaRPr sz="1100"/>
          </a:p>
        </p:txBody>
      </p:sp>
      <p:sp>
        <p:nvSpPr>
          <p:cNvPr id="377" name="Google Shape;377;p8"/>
          <p:cNvSpPr/>
          <p:nvPr/>
        </p:nvSpPr>
        <p:spPr>
          <a:xfrm>
            <a:off x="6272213" y="1571625"/>
            <a:ext cx="1785938" cy="2100263"/>
          </a:xfrm>
          <a:prstGeom prst="roundRect">
            <a:avLst>
              <a:gd fmla="val 6400" name="adj"/>
            </a:avLst>
          </a:prstGeom>
          <a:solidFill>
            <a:srgbClr val="111827"/>
          </a:solidFill>
          <a:ln cap="flat" cmpd="sng" w="9525">
            <a:solidFill>
              <a:srgbClr val="1118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8"/>
          <p:cNvSpPr/>
          <p:nvPr/>
        </p:nvSpPr>
        <p:spPr>
          <a:xfrm>
            <a:off x="6329363" y="1628775"/>
            <a:ext cx="1671638" cy="1985963"/>
          </a:xfrm>
          <a:prstGeom prst="roundRect">
            <a:avLst>
              <a:gd fmla="val 5128" name="adj"/>
            </a:avLst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8"/>
          <p:cNvSpPr/>
          <p:nvPr/>
        </p:nvSpPr>
        <p:spPr>
          <a:xfrm>
            <a:off x="6950869" y="1664494"/>
            <a:ext cx="428625" cy="50006"/>
          </a:xfrm>
          <a:prstGeom prst="roundRect">
            <a:avLst>
              <a:gd fmla="val 50000" name="adj"/>
            </a:avLst>
          </a:prstGeom>
          <a:solidFill>
            <a:srgbClr val="111827"/>
          </a:solidFill>
          <a:ln cap="flat" cmpd="sng" w="9525">
            <a:solidFill>
              <a:srgbClr val="1118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8"/>
          <p:cNvSpPr/>
          <p:nvPr/>
        </p:nvSpPr>
        <p:spPr>
          <a:xfrm>
            <a:off x="6400800" y="1750219"/>
            <a:ext cx="314325" cy="128588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600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rPr>
              <a:t>9:41</a:t>
            </a:r>
            <a:endParaRPr sz="1100"/>
          </a:p>
        </p:txBody>
      </p:sp>
      <p:sp>
        <p:nvSpPr>
          <p:cNvPr id="381" name="Google Shape;381;p8"/>
          <p:cNvSpPr/>
          <p:nvPr/>
        </p:nvSpPr>
        <p:spPr>
          <a:xfrm>
            <a:off x="6400800" y="1943100"/>
            <a:ext cx="1528763" cy="185738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rPr>
              <a:t>Ride privacy details</a:t>
            </a:r>
            <a:endParaRPr sz="1100"/>
          </a:p>
        </p:txBody>
      </p:sp>
      <p:sp>
        <p:nvSpPr>
          <p:cNvPr id="382" name="Google Shape;382;p8"/>
          <p:cNvSpPr/>
          <p:nvPr/>
        </p:nvSpPr>
        <p:spPr>
          <a:xfrm>
            <a:off x="6415088" y="2200275"/>
            <a:ext cx="1500188" cy="328613"/>
          </a:xfrm>
          <a:prstGeom prst="roundRect">
            <a:avLst>
              <a:gd fmla="val 17391" name="adj"/>
            </a:avLst>
          </a:prstGeom>
          <a:solidFill>
            <a:srgbClr val="EAF2FF"/>
          </a:solidFill>
          <a:ln cap="flat" cmpd="sng" w="9525">
            <a:solidFill>
              <a:srgbClr val="EAF2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8"/>
          <p:cNvSpPr/>
          <p:nvPr/>
        </p:nvSpPr>
        <p:spPr>
          <a:xfrm>
            <a:off x="6500813" y="2250281"/>
            <a:ext cx="1328738" cy="242888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800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rPr>
              <a:t>What was shared</a:t>
            </a:r>
            <a:endParaRPr sz="1100"/>
          </a:p>
        </p:txBody>
      </p:sp>
      <p:sp>
        <p:nvSpPr>
          <p:cNvPr id="384" name="Google Shape;384;p8"/>
          <p:cNvSpPr/>
          <p:nvPr/>
        </p:nvSpPr>
        <p:spPr>
          <a:xfrm>
            <a:off x="6415088" y="2600325"/>
            <a:ext cx="1500188" cy="328613"/>
          </a:xfrm>
          <a:prstGeom prst="roundRect">
            <a:avLst>
              <a:gd fmla="val 17391" name="adj"/>
            </a:avLst>
          </a:prstGeom>
          <a:solidFill>
            <a:srgbClr val="EAF2FF"/>
          </a:solidFill>
          <a:ln cap="flat" cmpd="sng" w="9525">
            <a:solidFill>
              <a:srgbClr val="EAF2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8"/>
          <p:cNvSpPr/>
          <p:nvPr/>
        </p:nvSpPr>
        <p:spPr>
          <a:xfrm>
            <a:off x="6500813" y="2650331"/>
            <a:ext cx="1328738" cy="242888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800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rPr>
              <a:t>Why it was needed</a:t>
            </a:r>
            <a:endParaRPr sz="1100"/>
          </a:p>
        </p:txBody>
      </p:sp>
      <p:sp>
        <p:nvSpPr>
          <p:cNvPr id="386" name="Google Shape;386;p8"/>
          <p:cNvSpPr/>
          <p:nvPr/>
        </p:nvSpPr>
        <p:spPr>
          <a:xfrm>
            <a:off x="6415088" y="3000375"/>
            <a:ext cx="1500188" cy="328613"/>
          </a:xfrm>
          <a:prstGeom prst="roundRect">
            <a:avLst>
              <a:gd fmla="val 17391" name="adj"/>
            </a:avLst>
          </a:prstGeom>
          <a:solidFill>
            <a:srgbClr val="E7F6EF"/>
          </a:solidFill>
          <a:ln cap="flat" cmpd="sng" w="9525">
            <a:solidFill>
              <a:srgbClr val="E7F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8"/>
          <p:cNvSpPr/>
          <p:nvPr/>
        </p:nvSpPr>
        <p:spPr>
          <a:xfrm>
            <a:off x="6500813" y="3050381"/>
            <a:ext cx="1328738" cy="242888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>
                <a:solidFill>
                  <a:srgbClr val="075E4C"/>
                </a:solidFill>
                <a:latin typeface="Arial"/>
                <a:ea typeface="Arial"/>
                <a:cs typeface="Arial"/>
                <a:sym typeface="Arial"/>
              </a:rPr>
              <a:t>Request deletion</a:t>
            </a:r>
            <a:endParaRPr sz="1100"/>
          </a:p>
        </p:txBody>
      </p:sp>
      <p:sp>
        <p:nvSpPr>
          <p:cNvPr id="388" name="Google Shape;388;p8"/>
          <p:cNvSpPr/>
          <p:nvPr/>
        </p:nvSpPr>
        <p:spPr>
          <a:xfrm>
            <a:off x="514350" y="3943350"/>
            <a:ext cx="8115300" cy="5715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4EC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dir="5400000" dist="9525">
              <a:srgbClr val="000000">
                <a:alpha val="5882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8"/>
          <p:cNvSpPr/>
          <p:nvPr/>
        </p:nvSpPr>
        <p:spPr>
          <a:xfrm>
            <a:off x="750100" y="4071949"/>
            <a:ext cx="11145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400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rPr>
              <a:t>Compliance mapping</a:t>
            </a:r>
            <a:endParaRPr sz="1100"/>
          </a:p>
        </p:txBody>
      </p:sp>
      <p:sp>
        <p:nvSpPr>
          <p:cNvPr id="390" name="Google Shape;390;p8"/>
          <p:cNvSpPr/>
          <p:nvPr/>
        </p:nvSpPr>
        <p:spPr>
          <a:xfrm>
            <a:off x="2400300" y="4057650"/>
            <a:ext cx="1028700" cy="257175"/>
          </a:xfrm>
          <a:prstGeom prst="roundRect">
            <a:avLst>
              <a:gd fmla="val 22222" name="adj"/>
            </a:avLst>
          </a:prstGeom>
          <a:solidFill>
            <a:srgbClr val="E7F6EF"/>
          </a:solidFill>
          <a:ln cap="flat" cmpd="sng" w="9525">
            <a:solidFill>
              <a:srgbClr val="E7F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8"/>
          <p:cNvSpPr/>
          <p:nvPr/>
        </p:nvSpPr>
        <p:spPr>
          <a:xfrm>
            <a:off x="2486025" y="4093369"/>
            <a:ext cx="857250" cy="200025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800">
                <a:solidFill>
                  <a:srgbClr val="075E4C"/>
                </a:solidFill>
                <a:latin typeface="Arial"/>
                <a:ea typeface="Arial"/>
                <a:cs typeface="Arial"/>
                <a:sym typeface="Arial"/>
              </a:rPr>
              <a:t>Clear notice</a:t>
            </a:r>
            <a:endParaRPr sz="1100"/>
          </a:p>
        </p:txBody>
      </p:sp>
      <p:sp>
        <p:nvSpPr>
          <p:cNvPr id="392" name="Google Shape;392;p8"/>
          <p:cNvSpPr/>
          <p:nvPr/>
        </p:nvSpPr>
        <p:spPr>
          <a:xfrm>
            <a:off x="3586163" y="4057650"/>
            <a:ext cx="1028700" cy="257175"/>
          </a:xfrm>
          <a:prstGeom prst="roundRect">
            <a:avLst>
              <a:gd fmla="val 22222" name="adj"/>
            </a:avLst>
          </a:prstGeom>
          <a:solidFill>
            <a:srgbClr val="F1F5F9"/>
          </a:solidFill>
          <a:ln cap="flat" cmpd="sng" w="9525">
            <a:solidFill>
              <a:srgbClr val="F1F5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8"/>
          <p:cNvSpPr/>
          <p:nvPr/>
        </p:nvSpPr>
        <p:spPr>
          <a:xfrm>
            <a:off x="3671888" y="4093369"/>
            <a:ext cx="857250" cy="200025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800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rPr>
              <a:t>Data minimization</a:t>
            </a:r>
            <a:endParaRPr sz="1100"/>
          </a:p>
        </p:txBody>
      </p:sp>
      <p:sp>
        <p:nvSpPr>
          <p:cNvPr id="394" name="Google Shape;394;p8"/>
          <p:cNvSpPr/>
          <p:nvPr/>
        </p:nvSpPr>
        <p:spPr>
          <a:xfrm>
            <a:off x="4772025" y="4057650"/>
            <a:ext cx="1028700" cy="257175"/>
          </a:xfrm>
          <a:prstGeom prst="roundRect">
            <a:avLst>
              <a:gd fmla="val 22222" name="adj"/>
            </a:avLst>
          </a:prstGeom>
          <a:solidFill>
            <a:srgbClr val="E7F6EF"/>
          </a:solidFill>
          <a:ln cap="flat" cmpd="sng" w="9525">
            <a:solidFill>
              <a:srgbClr val="E7F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8"/>
          <p:cNvSpPr/>
          <p:nvPr/>
        </p:nvSpPr>
        <p:spPr>
          <a:xfrm>
            <a:off x="4857750" y="4093369"/>
            <a:ext cx="857250" cy="200025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800">
                <a:solidFill>
                  <a:srgbClr val="075E4C"/>
                </a:solidFill>
                <a:latin typeface="Arial"/>
                <a:ea typeface="Arial"/>
                <a:cs typeface="Arial"/>
                <a:sym typeface="Arial"/>
              </a:rPr>
              <a:t>Purpose limitation</a:t>
            </a:r>
            <a:endParaRPr sz="1100"/>
          </a:p>
        </p:txBody>
      </p:sp>
      <p:sp>
        <p:nvSpPr>
          <p:cNvPr id="396" name="Google Shape;396;p8"/>
          <p:cNvSpPr/>
          <p:nvPr/>
        </p:nvSpPr>
        <p:spPr>
          <a:xfrm>
            <a:off x="5957888" y="4057650"/>
            <a:ext cx="1028700" cy="257175"/>
          </a:xfrm>
          <a:prstGeom prst="roundRect">
            <a:avLst>
              <a:gd fmla="val 22222" name="adj"/>
            </a:avLst>
          </a:prstGeom>
          <a:solidFill>
            <a:srgbClr val="F1F5F9"/>
          </a:solidFill>
          <a:ln cap="flat" cmpd="sng" w="9525">
            <a:solidFill>
              <a:srgbClr val="F1F5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8"/>
          <p:cNvSpPr/>
          <p:nvPr/>
        </p:nvSpPr>
        <p:spPr>
          <a:xfrm>
            <a:off x="6043613" y="4093369"/>
            <a:ext cx="857250" cy="200025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800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rPr>
              <a:t>Retention by default</a:t>
            </a:r>
            <a:endParaRPr sz="1100"/>
          </a:p>
        </p:txBody>
      </p:sp>
      <p:sp>
        <p:nvSpPr>
          <p:cNvPr id="398" name="Google Shape;398;p8"/>
          <p:cNvSpPr/>
          <p:nvPr/>
        </p:nvSpPr>
        <p:spPr>
          <a:xfrm>
            <a:off x="7143750" y="4057650"/>
            <a:ext cx="1028700" cy="257175"/>
          </a:xfrm>
          <a:prstGeom prst="roundRect">
            <a:avLst>
              <a:gd fmla="val 22222" name="adj"/>
            </a:avLst>
          </a:prstGeom>
          <a:solidFill>
            <a:srgbClr val="E7F6EF"/>
          </a:solidFill>
          <a:ln cap="flat" cmpd="sng" w="9525">
            <a:solidFill>
              <a:srgbClr val="E7F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8"/>
          <p:cNvSpPr/>
          <p:nvPr/>
        </p:nvSpPr>
        <p:spPr>
          <a:xfrm>
            <a:off x="7229475" y="4093369"/>
            <a:ext cx="857250" cy="200025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800">
                <a:solidFill>
                  <a:srgbClr val="075E4C"/>
                </a:solidFill>
                <a:latin typeface="Arial"/>
                <a:ea typeface="Arial"/>
                <a:cs typeface="Arial"/>
                <a:sym typeface="Arial"/>
              </a:rPr>
              <a:t>User rights</a:t>
            </a:r>
            <a:endParaRPr sz="1100"/>
          </a:p>
        </p:txBody>
      </p:sp>
      <p:sp>
        <p:nvSpPr>
          <p:cNvPr id="400" name="Google Shape;400;p8"/>
          <p:cNvSpPr/>
          <p:nvPr/>
        </p:nvSpPr>
        <p:spPr>
          <a:xfrm>
            <a:off x="300038" y="4750594"/>
            <a:ext cx="8543925" cy="7144"/>
          </a:xfrm>
          <a:prstGeom prst="rect">
            <a:avLst/>
          </a:prstGeom>
          <a:solidFill>
            <a:srgbClr val="EEF2F6"/>
          </a:solidFill>
          <a:ln cap="flat" cmpd="sng" w="9525">
            <a:solidFill>
              <a:srgbClr val="EEF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8"/>
          <p:cNvSpPr/>
          <p:nvPr/>
        </p:nvSpPr>
        <p:spPr>
          <a:xfrm>
            <a:off x="314325" y="4843463"/>
            <a:ext cx="400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700">
                <a:solidFill>
                  <a:srgbClr val="536170"/>
                </a:solidFill>
                <a:latin typeface="Arial"/>
                <a:ea typeface="Arial"/>
                <a:cs typeface="Arial"/>
                <a:sym typeface="Arial"/>
              </a:rPr>
              <a:t>Purpose-bound ride data  |  DPDP product thinking case</a:t>
            </a:r>
            <a:endParaRPr sz="1100"/>
          </a:p>
        </p:txBody>
      </p:sp>
      <p:sp>
        <p:nvSpPr>
          <p:cNvPr id="402" name="Google Shape;402;p8"/>
          <p:cNvSpPr/>
          <p:nvPr/>
        </p:nvSpPr>
        <p:spPr>
          <a:xfrm>
            <a:off x="8572500" y="4843463"/>
            <a:ext cx="285750" cy="157163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700">
                <a:solidFill>
                  <a:srgbClr val="536170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8" name="Google Shape;408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1463" y="214313"/>
            <a:ext cx="271463" cy="271463"/>
          </a:xfrm>
          <a:prstGeom prst="rect">
            <a:avLst/>
          </a:prstGeom>
          <a:noFill/>
          <a:ln>
            <a:noFill/>
          </a:ln>
        </p:spPr>
      </p:pic>
      <p:sp>
        <p:nvSpPr>
          <p:cNvPr id="409" name="Google Shape;409;p9"/>
          <p:cNvSpPr/>
          <p:nvPr/>
        </p:nvSpPr>
        <p:spPr>
          <a:xfrm>
            <a:off x="657225" y="271463"/>
            <a:ext cx="51435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100">
                <a:solidFill>
                  <a:srgbClr val="0B1220"/>
                </a:solidFill>
                <a:latin typeface="Play"/>
                <a:ea typeface="Play"/>
                <a:cs typeface="Play"/>
                <a:sym typeface="Play"/>
              </a:rPr>
              <a:t>Prototype the happy path end to end</a:t>
            </a:r>
            <a:endParaRPr sz="1100"/>
          </a:p>
        </p:txBody>
      </p:sp>
      <p:sp>
        <p:nvSpPr>
          <p:cNvPr id="410" name="Google Shape;410;p9"/>
          <p:cNvSpPr/>
          <p:nvPr/>
        </p:nvSpPr>
        <p:spPr>
          <a:xfrm>
            <a:off x="671513" y="657225"/>
            <a:ext cx="5857875" cy="214313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100">
                <a:solidFill>
                  <a:srgbClr val="536170"/>
                </a:solidFill>
                <a:latin typeface="Arial"/>
                <a:ea typeface="Arial"/>
                <a:cs typeface="Arial"/>
                <a:sym typeface="Arial"/>
              </a:rPr>
              <a:t>The clickable flow should prove comprehension, not every edge case.</a:t>
            </a:r>
            <a:endParaRPr sz="1100"/>
          </a:p>
        </p:txBody>
      </p:sp>
      <p:sp>
        <p:nvSpPr>
          <p:cNvPr id="411" name="Google Shape;411;p9"/>
          <p:cNvSpPr/>
          <p:nvPr/>
        </p:nvSpPr>
        <p:spPr>
          <a:xfrm>
            <a:off x="5965031" y="531495"/>
            <a:ext cx="581501" cy="35719"/>
          </a:xfrm>
          <a:prstGeom prst="rect">
            <a:avLst/>
          </a:prstGeom>
          <a:solidFill>
            <a:srgbClr val="FFC400"/>
          </a:solidFill>
          <a:ln cap="flat" cmpd="sng" w="9525">
            <a:solidFill>
              <a:srgbClr val="FFC4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9"/>
          <p:cNvSpPr/>
          <p:nvPr/>
        </p:nvSpPr>
        <p:spPr>
          <a:xfrm>
            <a:off x="6546533" y="436340"/>
            <a:ext cx="581501" cy="35719"/>
          </a:xfrm>
          <a:prstGeom prst="rect">
            <a:avLst/>
          </a:prstGeom>
          <a:solidFill>
            <a:srgbClr val="FFC400"/>
          </a:solidFill>
          <a:ln cap="flat" cmpd="sng" w="9525">
            <a:solidFill>
              <a:srgbClr val="FFC4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9"/>
          <p:cNvSpPr/>
          <p:nvPr/>
        </p:nvSpPr>
        <p:spPr>
          <a:xfrm>
            <a:off x="7128034" y="499777"/>
            <a:ext cx="581501" cy="35719"/>
          </a:xfrm>
          <a:prstGeom prst="rect">
            <a:avLst/>
          </a:prstGeom>
          <a:solidFill>
            <a:srgbClr val="FFC400"/>
          </a:solidFill>
          <a:ln cap="flat" cmpd="sng" w="9525">
            <a:solidFill>
              <a:srgbClr val="FFC4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9"/>
          <p:cNvSpPr/>
          <p:nvPr/>
        </p:nvSpPr>
        <p:spPr>
          <a:xfrm>
            <a:off x="7709535" y="383477"/>
            <a:ext cx="740093" cy="35719"/>
          </a:xfrm>
          <a:prstGeom prst="rect">
            <a:avLst/>
          </a:prstGeom>
          <a:solidFill>
            <a:srgbClr val="FFC400"/>
          </a:solidFill>
          <a:ln cap="flat" cmpd="sng" w="9525">
            <a:solidFill>
              <a:srgbClr val="FFC4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9"/>
          <p:cNvSpPr/>
          <p:nvPr/>
        </p:nvSpPr>
        <p:spPr>
          <a:xfrm>
            <a:off x="5893594" y="494491"/>
            <a:ext cx="142875" cy="142875"/>
          </a:xfrm>
          <a:prstGeom prst="ellipse">
            <a:avLst/>
          </a:prstGeom>
          <a:solidFill>
            <a:srgbClr val="FFFFFF"/>
          </a:solidFill>
          <a:ln cap="flat" cmpd="sng" w="38100">
            <a:solidFill>
              <a:srgbClr val="007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9"/>
          <p:cNvSpPr/>
          <p:nvPr/>
        </p:nvSpPr>
        <p:spPr>
          <a:xfrm>
            <a:off x="8423196" y="325327"/>
            <a:ext cx="214313" cy="214313"/>
          </a:xfrm>
          <a:prstGeom prst="ellipse">
            <a:avLst/>
          </a:prstGeom>
          <a:solidFill>
            <a:srgbClr val="FFC400"/>
          </a:solidFill>
          <a:ln cap="flat" cmpd="sng" w="9525">
            <a:solidFill>
              <a:srgbClr val="FFC4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9"/>
          <p:cNvSpPr/>
          <p:nvPr/>
        </p:nvSpPr>
        <p:spPr>
          <a:xfrm>
            <a:off x="6995875" y="309467"/>
            <a:ext cx="571500" cy="214313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075E4C"/>
                </a:solidFill>
                <a:latin typeface="Arial"/>
                <a:ea typeface="Arial"/>
                <a:cs typeface="Arial"/>
                <a:sym typeface="Arial"/>
              </a:rPr>
              <a:t>ride</a:t>
            </a:r>
            <a:endParaRPr sz="1100"/>
          </a:p>
        </p:txBody>
      </p:sp>
      <p:sp>
        <p:nvSpPr>
          <p:cNvPr id="418" name="Google Shape;418;p9"/>
          <p:cNvSpPr/>
          <p:nvPr/>
        </p:nvSpPr>
        <p:spPr>
          <a:xfrm>
            <a:off x="471488" y="1185863"/>
            <a:ext cx="242888" cy="242888"/>
          </a:xfrm>
          <a:prstGeom prst="ellipse">
            <a:avLst/>
          </a:prstGeom>
          <a:solidFill>
            <a:srgbClr val="FFC400"/>
          </a:solidFill>
          <a:ln cap="flat" cmpd="sng" w="9525">
            <a:solidFill>
              <a:srgbClr val="FFC4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9"/>
          <p:cNvSpPr/>
          <p:nvPr/>
        </p:nvSpPr>
        <p:spPr>
          <a:xfrm>
            <a:off x="471488" y="1235869"/>
            <a:ext cx="242888" cy="1714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100"/>
          </a:p>
        </p:txBody>
      </p:sp>
      <p:sp>
        <p:nvSpPr>
          <p:cNvPr id="420" name="Google Shape;420;p9"/>
          <p:cNvSpPr/>
          <p:nvPr/>
        </p:nvSpPr>
        <p:spPr>
          <a:xfrm>
            <a:off x="785813" y="1200150"/>
            <a:ext cx="1071563" cy="185738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rPr>
              <a:t>Book ride</a:t>
            </a:r>
            <a:endParaRPr sz="1100"/>
          </a:p>
        </p:txBody>
      </p:sp>
      <p:sp>
        <p:nvSpPr>
          <p:cNvPr id="421" name="Google Shape;421;p9"/>
          <p:cNvSpPr/>
          <p:nvPr/>
        </p:nvSpPr>
        <p:spPr>
          <a:xfrm>
            <a:off x="471488" y="1543050"/>
            <a:ext cx="1285875" cy="2114550"/>
          </a:xfrm>
          <a:prstGeom prst="roundRect">
            <a:avLst>
              <a:gd fmla="val 8889" name="adj"/>
            </a:avLst>
          </a:prstGeom>
          <a:solidFill>
            <a:srgbClr val="111827"/>
          </a:solidFill>
          <a:ln cap="flat" cmpd="sng" w="9525">
            <a:solidFill>
              <a:srgbClr val="1118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9"/>
          <p:cNvSpPr/>
          <p:nvPr/>
        </p:nvSpPr>
        <p:spPr>
          <a:xfrm>
            <a:off x="528638" y="1600200"/>
            <a:ext cx="1171575" cy="2000250"/>
          </a:xfrm>
          <a:prstGeom prst="roundRect">
            <a:avLst>
              <a:gd fmla="val 7317" name="adj"/>
            </a:avLst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9"/>
          <p:cNvSpPr/>
          <p:nvPr/>
        </p:nvSpPr>
        <p:spPr>
          <a:xfrm>
            <a:off x="960120" y="1635919"/>
            <a:ext cx="308610" cy="50006"/>
          </a:xfrm>
          <a:prstGeom prst="roundRect">
            <a:avLst>
              <a:gd fmla="val 50000" name="adj"/>
            </a:avLst>
          </a:prstGeom>
          <a:solidFill>
            <a:srgbClr val="111827"/>
          </a:solidFill>
          <a:ln cap="flat" cmpd="sng" w="9525">
            <a:solidFill>
              <a:srgbClr val="1118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9"/>
          <p:cNvSpPr/>
          <p:nvPr/>
        </p:nvSpPr>
        <p:spPr>
          <a:xfrm>
            <a:off x="600075" y="1721644"/>
            <a:ext cx="314325" cy="128588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600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rPr>
              <a:t>9:41</a:t>
            </a:r>
            <a:endParaRPr sz="1100"/>
          </a:p>
        </p:txBody>
      </p:sp>
      <p:sp>
        <p:nvSpPr>
          <p:cNvPr id="425" name="Google Shape;425;p9"/>
          <p:cNvSpPr/>
          <p:nvPr/>
        </p:nvSpPr>
        <p:spPr>
          <a:xfrm>
            <a:off x="600075" y="1914525"/>
            <a:ext cx="1028700" cy="185738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700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rPr>
              <a:t>Book ride</a:t>
            </a:r>
            <a:endParaRPr sz="1100"/>
          </a:p>
        </p:txBody>
      </p:sp>
      <p:sp>
        <p:nvSpPr>
          <p:cNvPr id="426" name="Google Shape;426;p9"/>
          <p:cNvSpPr/>
          <p:nvPr/>
        </p:nvSpPr>
        <p:spPr>
          <a:xfrm>
            <a:off x="614363" y="2171700"/>
            <a:ext cx="1000125" cy="257175"/>
          </a:xfrm>
          <a:prstGeom prst="roundRect">
            <a:avLst>
              <a:gd fmla="val 22222" name="adj"/>
            </a:avLst>
          </a:prstGeom>
          <a:solidFill>
            <a:srgbClr val="FFF6D8"/>
          </a:solidFill>
          <a:ln cap="flat" cmpd="sng" w="9525">
            <a:solidFill>
              <a:srgbClr val="FFF6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9"/>
          <p:cNvSpPr/>
          <p:nvPr/>
        </p:nvSpPr>
        <p:spPr>
          <a:xfrm>
            <a:off x="700088" y="2221706"/>
            <a:ext cx="828675" cy="1714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700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rPr>
              <a:t>Pickup: MG Road</a:t>
            </a:r>
            <a:endParaRPr sz="1100"/>
          </a:p>
        </p:txBody>
      </p:sp>
      <p:sp>
        <p:nvSpPr>
          <p:cNvPr id="428" name="Google Shape;428;p9"/>
          <p:cNvSpPr/>
          <p:nvPr/>
        </p:nvSpPr>
        <p:spPr>
          <a:xfrm>
            <a:off x="614363" y="2500313"/>
            <a:ext cx="1000125" cy="257175"/>
          </a:xfrm>
          <a:prstGeom prst="roundRect">
            <a:avLst>
              <a:gd fmla="val 22222" name="adj"/>
            </a:avLst>
          </a:prstGeom>
          <a:solidFill>
            <a:srgbClr val="FFF6D8"/>
          </a:solidFill>
          <a:ln cap="flat" cmpd="sng" w="9525">
            <a:solidFill>
              <a:srgbClr val="FFF6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9"/>
          <p:cNvSpPr/>
          <p:nvPr/>
        </p:nvSpPr>
        <p:spPr>
          <a:xfrm>
            <a:off x="700088" y="2550319"/>
            <a:ext cx="828675" cy="1714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700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rPr>
              <a:t>Drop: Indiranagar</a:t>
            </a:r>
            <a:endParaRPr sz="1100"/>
          </a:p>
        </p:txBody>
      </p:sp>
      <p:sp>
        <p:nvSpPr>
          <p:cNvPr id="430" name="Google Shape;430;p9"/>
          <p:cNvSpPr/>
          <p:nvPr/>
        </p:nvSpPr>
        <p:spPr>
          <a:xfrm>
            <a:off x="614363" y="2828925"/>
            <a:ext cx="1000125" cy="257175"/>
          </a:xfrm>
          <a:prstGeom prst="roundRect">
            <a:avLst>
              <a:gd fmla="val 22222" name="adj"/>
            </a:avLst>
          </a:prstGeom>
          <a:solidFill>
            <a:srgbClr val="FFC400"/>
          </a:solidFill>
          <a:ln cap="flat" cmpd="sng" w="9525">
            <a:solidFill>
              <a:srgbClr val="FFC4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9"/>
          <p:cNvSpPr/>
          <p:nvPr/>
        </p:nvSpPr>
        <p:spPr>
          <a:xfrm>
            <a:off x="700088" y="2878931"/>
            <a:ext cx="828675" cy="1714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700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rPr>
              <a:t>Confirm ride</a:t>
            </a:r>
            <a:endParaRPr sz="1100"/>
          </a:p>
        </p:txBody>
      </p:sp>
      <p:sp>
        <p:nvSpPr>
          <p:cNvPr id="432" name="Google Shape;432;p9"/>
          <p:cNvSpPr/>
          <p:nvPr/>
        </p:nvSpPr>
        <p:spPr>
          <a:xfrm>
            <a:off x="1814513" y="2400300"/>
            <a:ext cx="242888" cy="242888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900">
                <a:solidFill>
                  <a:srgbClr val="007A5A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 sz="1100"/>
          </a:p>
        </p:txBody>
      </p:sp>
      <p:sp>
        <p:nvSpPr>
          <p:cNvPr id="433" name="Google Shape;433;p9"/>
          <p:cNvSpPr/>
          <p:nvPr/>
        </p:nvSpPr>
        <p:spPr>
          <a:xfrm>
            <a:off x="2171700" y="1185863"/>
            <a:ext cx="242888" cy="242888"/>
          </a:xfrm>
          <a:prstGeom prst="ellipse">
            <a:avLst/>
          </a:prstGeom>
          <a:solidFill>
            <a:srgbClr val="FFC400"/>
          </a:solidFill>
          <a:ln cap="flat" cmpd="sng" w="9525">
            <a:solidFill>
              <a:srgbClr val="FFC4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9"/>
          <p:cNvSpPr/>
          <p:nvPr/>
        </p:nvSpPr>
        <p:spPr>
          <a:xfrm>
            <a:off x="2171700" y="1235869"/>
            <a:ext cx="242888" cy="1714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100"/>
          </a:p>
        </p:txBody>
      </p:sp>
      <p:sp>
        <p:nvSpPr>
          <p:cNvPr id="435" name="Google Shape;435;p9"/>
          <p:cNvSpPr/>
          <p:nvPr/>
        </p:nvSpPr>
        <p:spPr>
          <a:xfrm>
            <a:off x="2486025" y="1200150"/>
            <a:ext cx="1071563" cy="185738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rPr>
              <a:t>Captain assigned</a:t>
            </a:r>
            <a:endParaRPr sz="1100"/>
          </a:p>
        </p:txBody>
      </p:sp>
      <p:sp>
        <p:nvSpPr>
          <p:cNvPr id="436" name="Google Shape;436;p9"/>
          <p:cNvSpPr/>
          <p:nvPr/>
        </p:nvSpPr>
        <p:spPr>
          <a:xfrm>
            <a:off x="2171700" y="1543050"/>
            <a:ext cx="1285875" cy="2114550"/>
          </a:xfrm>
          <a:prstGeom prst="roundRect">
            <a:avLst>
              <a:gd fmla="val 8889" name="adj"/>
            </a:avLst>
          </a:prstGeom>
          <a:solidFill>
            <a:srgbClr val="111827"/>
          </a:solidFill>
          <a:ln cap="flat" cmpd="sng" w="9525">
            <a:solidFill>
              <a:srgbClr val="1118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9"/>
          <p:cNvSpPr/>
          <p:nvPr/>
        </p:nvSpPr>
        <p:spPr>
          <a:xfrm>
            <a:off x="2228850" y="1600200"/>
            <a:ext cx="1171575" cy="2000250"/>
          </a:xfrm>
          <a:prstGeom prst="roundRect">
            <a:avLst>
              <a:gd fmla="val 7317" name="adj"/>
            </a:avLst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9"/>
          <p:cNvSpPr/>
          <p:nvPr/>
        </p:nvSpPr>
        <p:spPr>
          <a:xfrm>
            <a:off x="2660332" y="1635919"/>
            <a:ext cx="308610" cy="50006"/>
          </a:xfrm>
          <a:prstGeom prst="roundRect">
            <a:avLst>
              <a:gd fmla="val 50000" name="adj"/>
            </a:avLst>
          </a:prstGeom>
          <a:solidFill>
            <a:srgbClr val="111827"/>
          </a:solidFill>
          <a:ln cap="flat" cmpd="sng" w="9525">
            <a:solidFill>
              <a:srgbClr val="1118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9"/>
          <p:cNvSpPr/>
          <p:nvPr/>
        </p:nvSpPr>
        <p:spPr>
          <a:xfrm>
            <a:off x="2300288" y="1721644"/>
            <a:ext cx="314325" cy="128588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600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rPr>
              <a:t>9:41</a:t>
            </a:r>
            <a:endParaRPr sz="1100"/>
          </a:p>
        </p:txBody>
      </p:sp>
      <p:sp>
        <p:nvSpPr>
          <p:cNvPr id="440" name="Google Shape;440;p9"/>
          <p:cNvSpPr/>
          <p:nvPr/>
        </p:nvSpPr>
        <p:spPr>
          <a:xfrm>
            <a:off x="2300288" y="1914525"/>
            <a:ext cx="1028700" cy="185738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700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rPr>
              <a:t>Captain assigned</a:t>
            </a:r>
            <a:endParaRPr sz="1100"/>
          </a:p>
        </p:txBody>
      </p:sp>
      <p:sp>
        <p:nvSpPr>
          <p:cNvPr id="441" name="Google Shape;441;p9"/>
          <p:cNvSpPr/>
          <p:nvPr/>
        </p:nvSpPr>
        <p:spPr>
          <a:xfrm>
            <a:off x="2314575" y="2171700"/>
            <a:ext cx="1000125" cy="257175"/>
          </a:xfrm>
          <a:prstGeom prst="roundRect">
            <a:avLst>
              <a:gd fmla="val 22222" name="adj"/>
            </a:avLst>
          </a:prstGeom>
          <a:solidFill>
            <a:srgbClr val="E7F6EF"/>
          </a:solidFill>
          <a:ln cap="flat" cmpd="sng" w="9525">
            <a:solidFill>
              <a:srgbClr val="E7F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9"/>
          <p:cNvSpPr/>
          <p:nvPr/>
        </p:nvSpPr>
        <p:spPr>
          <a:xfrm>
            <a:off x="2400300" y="2221706"/>
            <a:ext cx="828675" cy="1714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700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rPr>
              <a:t>Protected Connect ON</a:t>
            </a:r>
            <a:endParaRPr sz="1100"/>
          </a:p>
        </p:txBody>
      </p:sp>
      <p:sp>
        <p:nvSpPr>
          <p:cNvPr id="443" name="Google Shape;443;p9"/>
          <p:cNvSpPr/>
          <p:nvPr/>
        </p:nvSpPr>
        <p:spPr>
          <a:xfrm>
            <a:off x="2314575" y="2500313"/>
            <a:ext cx="1000125" cy="257175"/>
          </a:xfrm>
          <a:prstGeom prst="roundRect">
            <a:avLst>
              <a:gd fmla="val 22222" name="adj"/>
            </a:avLst>
          </a:prstGeom>
          <a:solidFill>
            <a:srgbClr val="E7F6EF"/>
          </a:solidFill>
          <a:ln cap="flat" cmpd="sng" w="9525">
            <a:solidFill>
              <a:srgbClr val="E7F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9"/>
          <p:cNvSpPr/>
          <p:nvPr/>
        </p:nvSpPr>
        <p:spPr>
          <a:xfrm>
            <a:off x="2400300" y="2550319"/>
            <a:ext cx="828675" cy="1714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700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rPr>
              <a:t>Chat</a:t>
            </a:r>
            <a:endParaRPr sz="1100"/>
          </a:p>
        </p:txBody>
      </p:sp>
      <p:sp>
        <p:nvSpPr>
          <p:cNvPr id="445" name="Google Shape;445;p9"/>
          <p:cNvSpPr/>
          <p:nvPr/>
        </p:nvSpPr>
        <p:spPr>
          <a:xfrm>
            <a:off x="2314575" y="2828925"/>
            <a:ext cx="1000125" cy="257175"/>
          </a:xfrm>
          <a:prstGeom prst="roundRect">
            <a:avLst>
              <a:gd fmla="val 22222" name="adj"/>
            </a:avLst>
          </a:prstGeom>
          <a:solidFill>
            <a:srgbClr val="FFC400"/>
          </a:solidFill>
          <a:ln cap="flat" cmpd="sng" w="9525">
            <a:solidFill>
              <a:srgbClr val="FFC4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9"/>
          <p:cNvSpPr/>
          <p:nvPr/>
        </p:nvSpPr>
        <p:spPr>
          <a:xfrm>
            <a:off x="2400300" y="2878931"/>
            <a:ext cx="828675" cy="1714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700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rPr>
              <a:t>Call</a:t>
            </a:r>
            <a:endParaRPr sz="1100"/>
          </a:p>
        </p:txBody>
      </p:sp>
      <p:sp>
        <p:nvSpPr>
          <p:cNvPr id="447" name="Google Shape;447;p9"/>
          <p:cNvSpPr/>
          <p:nvPr/>
        </p:nvSpPr>
        <p:spPr>
          <a:xfrm>
            <a:off x="3514725" y="2400300"/>
            <a:ext cx="242888" cy="242888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900">
                <a:solidFill>
                  <a:srgbClr val="007A5A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 sz="1100"/>
          </a:p>
        </p:txBody>
      </p:sp>
      <p:sp>
        <p:nvSpPr>
          <p:cNvPr id="448" name="Google Shape;448;p9"/>
          <p:cNvSpPr/>
          <p:nvPr/>
        </p:nvSpPr>
        <p:spPr>
          <a:xfrm>
            <a:off x="3871913" y="1185863"/>
            <a:ext cx="242888" cy="242888"/>
          </a:xfrm>
          <a:prstGeom prst="ellipse">
            <a:avLst/>
          </a:prstGeom>
          <a:solidFill>
            <a:srgbClr val="FFC400"/>
          </a:solidFill>
          <a:ln cap="flat" cmpd="sng" w="9525">
            <a:solidFill>
              <a:srgbClr val="FFC4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9"/>
          <p:cNvSpPr/>
          <p:nvPr/>
        </p:nvSpPr>
        <p:spPr>
          <a:xfrm>
            <a:off x="3871913" y="1235869"/>
            <a:ext cx="242888" cy="1714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100"/>
          </a:p>
        </p:txBody>
      </p:sp>
      <p:sp>
        <p:nvSpPr>
          <p:cNvPr id="450" name="Google Shape;450;p9"/>
          <p:cNvSpPr/>
          <p:nvPr/>
        </p:nvSpPr>
        <p:spPr>
          <a:xfrm>
            <a:off x="4186238" y="1200150"/>
            <a:ext cx="1071563" cy="185738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rPr>
              <a:t>Pickup guidance</a:t>
            </a:r>
            <a:endParaRPr sz="1100"/>
          </a:p>
        </p:txBody>
      </p:sp>
      <p:sp>
        <p:nvSpPr>
          <p:cNvPr id="451" name="Google Shape;451;p9"/>
          <p:cNvSpPr/>
          <p:nvPr/>
        </p:nvSpPr>
        <p:spPr>
          <a:xfrm>
            <a:off x="3871913" y="1543050"/>
            <a:ext cx="1285875" cy="2114550"/>
          </a:xfrm>
          <a:prstGeom prst="roundRect">
            <a:avLst>
              <a:gd fmla="val 8889" name="adj"/>
            </a:avLst>
          </a:prstGeom>
          <a:solidFill>
            <a:srgbClr val="111827"/>
          </a:solidFill>
          <a:ln cap="flat" cmpd="sng" w="9525">
            <a:solidFill>
              <a:srgbClr val="1118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9"/>
          <p:cNvSpPr/>
          <p:nvPr/>
        </p:nvSpPr>
        <p:spPr>
          <a:xfrm>
            <a:off x="3929063" y="1600200"/>
            <a:ext cx="1171575" cy="2000250"/>
          </a:xfrm>
          <a:prstGeom prst="roundRect">
            <a:avLst>
              <a:gd fmla="val 7317" name="adj"/>
            </a:avLst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9"/>
          <p:cNvSpPr/>
          <p:nvPr/>
        </p:nvSpPr>
        <p:spPr>
          <a:xfrm>
            <a:off x="4360545" y="1635919"/>
            <a:ext cx="308610" cy="50006"/>
          </a:xfrm>
          <a:prstGeom prst="roundRect">
            <a:avLst>
              <a:gd fmla="val 50000" name="adj"/>
            </a:avLst>
          </a:prstGeom>
          <a:solidFill>
            <a:srgbClr val="111827"/>
          </a:solidFill>
          <a:ln cap="flat" cmpd="sng" w="9525">
            <a:solidFill>
              <a:srgbClr val="1118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9"/>
          <p:cNvSpPr/>
          <p:nvPr/>
        </p:nvSpPr>
        <p:spPr>
          <a:xfrm>
            <a:off x="4000500" y="1721644"/>
            <a:ext cx="314325" cy="128588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600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rPr>
              <a:t>9:41</a:t>
            </a:r>
            <a:endParaRPr sz="1100"/>
          </a:p>
        </p:txBody>
      </p:sp>
      <p:sp>
        <p:nvSpPr>
          <p:cNvPr id="455" name="Google Shape;455;p9"/>
          <p:cNvSpPr/>
          <p:nvPr/>
        </p:nvSpPr>
        <p:spPr>
          <a:xfrm>
            <a:off x="4000500" y="1914525"/>
            <a:ext cx="1028700" cy="185738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700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rPr>
              <a:t>Pickup guidance</a:t>
            </a:r>
            <a:endParaRPr sz="1100"/>
          </a:p>
        </p:txBody>
      </p:sp>
      <p:sp>
        <p:nvSpPr>
          <p:cNvPr id="456" name="Google Shape;456;p9"/>
          <p:cNvSpPr/>
          <p:nvPr/>
        </p:nvSpPr>
        <p:spPr>
          <a:xfrm>
            <a:off x="4014788" y="2171700"/>
            <a:ext cx="1000125" cy="257175"/>
          </a:xfrm>
          <a:prstGeom prst="roundRect">
            <a:avLst>
              <a:gd fmla="val 22222" name="adj"/>
            </a:avLst>
          </a:prstGeom>
          <a:solidFill>
            <a:srgbClr val="EAF2FF"/>
          </a:solidFill>
          <a:ln cap="flat" cmpd="sng" w="9525">
            <a:solidFill>
              <a:srgbClr val="EAF2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9"/>
          <p:cNvSpPr/>
          <p:nvPr/>
        </p:nvSpPr>
        <p:spPr>
          <a:xfrm>
            <a:off x="4100513" y="2221706"/>
            <a:ext cx="828675" cy="1714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700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rPr>
              <a:t>Share live location</a:t>
            </a:r>
            <a:endParaRPr sz="1100"/>
          </a:p>
        </p:txBody>
      </p:sp>
      <p:sp>
        <p:nvSpPr>
          <p:cNvPr id="458" name="Google Shape;458;p9"/>
          <p:cNvSpPr/>
          <p:nvPr/>
        </p:nvSpPr>
        <p:spPr>
          <a:xfrm>
            <a:off x="4014788" y="2500313"/>
            <a:ext cx="1000125" cy="257175"/>
          </a:xfrm>
          <a:prstGeom prst="roundRect">
            <a:avLst>
              <a:gd fmla="val 22222" name="adj"/>
            </a:avLst>
          </a:prstGeom>
          <a:solidFill>
            <a:srgbClr val="FFC400"/>
          </a:solidFill>
          <a:ln cap="flat" cmpd="sng" w="9525">
            <a:solidFill>
              <a:srgbClr val="FFC4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9"/>
          <p:cNvSpPr/>
          <p:nvPr/>
        </p:nvSpPr>
        <p:spPr>
          <a:xfrm>
            <a:off x="4100513" y="2550319"/>
            <a:ext cx="828675" cy="1714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700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rPr>
              <a:t>I have reached</a:t>
            </a:r>
            <a:endParaRPr sz="1100"/>
          </a:p>
        </p:txBody>
      </p:sp>
      <p:sp>
        <p:nvSpPr>
          <p:cNvPr id="460" name="Google Shape;460;p9"/>
          <p:cNvSpPr/>
          <p:nvPr/>
        </p:nvSpPr>
        <p:spPr>
          <a:xfrm>
            <a:off x="5214938" y="2400300"/>
            <a:ext cx="242888" cy="242888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900">
                <a:solidFill>
                  <a:srgbClr val="007A5A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 sz="1100"/>
          </a:p>
        </p:txBody>
      </p:sp>
      <p:sp>
        <p:nvSpPr>
          <p:cNvPr id="461" name="Google Shape;461;p9"/>
          <p:cNvSpPr/>
          <p:nvPr/>
        </p:nvSpPr>
        <p:spPr>
          <a:xfrm>
            <a:off x="5572125" y="1185863"/>
            <a:ext cx="242888" cy="242888"/>
          </a:xfrm>
          <a:prstGeom prst="ellipse">
            <a:avLst/>
          </a:prstGeom>
          <a:solidFill>
            <a:srgbClr val="FFC400"/>
          </a:solidFill>
          <a:ln cap="flat" cmpd="sng" w="9525">
            <a:solidFill>
              <a:srgbClr val="FFC4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9"/>
          <p:cNvSpPr/>
          <p:nvPr/>
        </p:nvSpPr>
        <p:spPr>
          <a:xfrm>
            <a:off x="5572125" y="1235869"/>
            <a:ext cx="242888" cy="1714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100"/>
          </a:p>
        </p:txBody>
      </p:sp>
      <p:sp>
        <p:nvSpPr>
          <p:cNvPr id="463" name="Google Shape;463;p9"/>
          <p:cNvSpPr/>
          <p:nvPr/>
        </p:nvSpPr>
        <p:spPr>
          <a:xfrm>
            <a:off x="5886450" y="1200150"/>
            <a:ext cx="1071563" cy="185738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rPr>
              <a:t>Ride completed</a:t>
            </a:r>
            <a:endParaRPr sz="1100"/>
          </a:p>
        </p:txBody>
      </p:sp>
      <p:sp>
        <p:nvSpPr>
          <p:cNvPr id="464" name="Google Shape;464;p9"/>
          <p:cNvSpPr/>
          <p:nvPr/>
        </p:nvSpPr>
        <p:spPr>
          <a:xfrm>
            <a:off x="5572125" y="1543050"/>
            <a:ext cx="1285875" cy="2114550"/>
          </a:xfrm>
          <a:prstGeom prst="roundRect">
            <a:avLst>
              <a:gd fmla="val 8889" name="adj"/>
            </a:avLst>
          </a:prstGeom>
          <a:solidFill>
            <a:srgbClr val="111827"/>
          </a:solidFill>
          <a:ln cap="flat" cmpd="sng" w="9525">
            <a:solidFill>
              <a:srgbClr val="1118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9"/>
          <p:cNvSpPr/>
          <p:nvPr/>
        </p:nvSpPr>
        <p:spPr>
          <a:xfrm>
            <a:off x="5629275" y="1600200"/>
            <a:ext cx="1171575" cy="2000250"/>
          </a:xfrm>
          <a:prstGeom prst="roundRect">
            <a:avLst>
              <a:gd fmla="val 7317" name="adj"/>
            </a:avLst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9"/>
          <p:cNvSpPr/>
          <p:nvPr/>
        </p:nvSpPr>
        <p:spPr>
          <a:xfrm>
            <a:off x="6060758" y="1635919"/>
            <a:ext cx="308610" cy="50006"/>
          </a:xfrm>
          <a:prstGeom prst="roundRect">
            <a:avLst>
              <a:gd fmla="val 50000" name="adj"/>
            </a:avLst>
          </a:prstGeom>
          <a:solidFill>
            <a:srgbClr val="111827"/>
          </a:solidFill>
          <a:ln cap="flat" cmpd="sng" w="9525">
            <a:solidFill>
              <a:srgbClr val="1118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9"/>
          <p:cNvSpPr/>
          <p:nvPr/>
        </p:nvSpPr>
        <p:spPr>
          <a:xfrm>
            <a:off x="5700713" y="1721644"/>
            <a:ext cx="314325" cy="128588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600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rPr>
              <a:t>9:41</a:t>
            </a:r>
            <a:endParaRPr sz="1100"/>
          </a:p>
        </p:txBody>
      </p:sp>
      <p:sp>
        <p:nvSpPr>
          <p:cNvPr id="468" name="Google Shape;468;p9"/>
          <p:cNvSpPr/>
          <p:nvPr/>
        </p:nvSpPr>
        <p:spPr>
          <a:xfrm>
            <a:off x="5700713" y="1914525"/>
            <a:ext cx="1028700" cy="185738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700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rPr>
              <a:t>Ride completed</a:t>
            </a:r>
            <a:endParaRPr sz="1100"/>
          </a:p>
        </p:txBody>
      </p:sp>
      <p:sp>
        <p:nvSpPr>
          <p:cNvPr id="469" name="Google Shape;469;p9"/>
          <p:cNvSpPr/>
          <p:nvPr/>
        </p:nvSpPr>
        <p:spPr>
          <a:xfrm>
            <a:off x="5715000" y="2171700"/>
            <a:ext cx="1000125" cy="257175"/>
          </a:xfrm>
          <a:prstGeom prst="roundRect">
            <a:avLst>
              <a:gd fmla="val 22222" name="adj"/>
            </a:avLst>
          </a:prstGeom>
          <a:solidFill>
            <a:srgbClr val="F1F5F9"/>
          </a:solidFill>
          <a:ln cap="flat" cmpd="sng" w="9525">
            <a:solidFill>
              <a:srgbClr val="F1F5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9"/>
          <p:cNvSpPr/>
          <p:nvPr/>
        </p:nvSpPr>
        <p:spPr>
          <a:xfrm>
            <a:off x="5800725" y="2221706"/>
            <a:ext cx="828675" cy="1714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700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rPr>
              <a:t>Fare: Rs123</a:t>
            </a:r>
            <a:endParaRPr sz="1100"/>
          </a:p>
        </p:txBody>
      </p:sp>
      <p:sp>
        <p:nvSpPr>
          <p:cNvPr id="471" name="Google Shape;471;p9"/>
          <p:cNvSpPr/>
          <p:nvPr/>
        </p:nvSpPr>
        <p:spPr>
          <a:xfrm>
            <a:off x="5715000" y="2500313"/>
            <a:ext cx="1000125" cy="257175"/>
          </a:xfrm>
          <a:prstGeom prst="roundRect">
            <a:avLst>
              <a:gd fmla="val 22222" name="adj"/>
            </a:avLst>
          </a:prstGeom>
          <a:solidFill>
            <a:srgbClr val="F1F5F9"/>
          </a:solidFill>
          <a:ln cap="flat" cmpd="sng" w="9525">
            <a:solidFill>
              <a:srgbClr val="F1F5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9"/>
          <p:cNvSpPr/>
          <p:nvPr/>
        </p:nvSpPr>
        <p:spPr>
          <a:xfrm>
            <a:off x="5800725" y="2550319"/>
            <a:ext cx="828675" cy="1714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700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rPr>
              <a:t>Rate Captain</a:t>
            </a:r>
            <a:endParaRPr sz="1100"/>
          </a:p>
        </p:txBody>
      </p:sp>
      <p:sp>
        <p:nvSpPr>
          <p:cNvPr id="473" name="Google Shape;473;p9"/>
          <p:cNvSpPr/>
          <p:nvPr/>
        </p:nvSpPr>
        <p:spPr>
          <a:xfrm>
            <a:off x="5715000" y="2828925"/>
            <a:ext cx="1000125" cy="257175"/>
          </a:xfrm>
          <a:prstGeom prst="roundRect">
            <a:avLst>
              <a:gd fmla="val 22222" name="adj"/>
            </a:avLst>
          </a:prstGeom>
          <a:solidFill>
            <a:srgbClr val="FFC400"/>
          </a:solidFill>
          <a:ln cap="flat" cmpd="sng" w="9525">
            <a:solidFill>
              <a:srgbClr val="FFC4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9"/>
          <p:cNvSpPr/>
          <p:nvPr/>
        </p:nvSpPr>
        <p:spPr>
          <a:xfrm>
            <a:off x="5800725" y="2878931"/>
            <a:ext cx="828675" cy="1714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700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rPr>
              <a:t>Done</a:t>
            </a:r>
            <a:endParaRPr sz="1100"/>
          </a:p>
        </p:txBody>
      </p:sp>
      <p:sp>
        <p:nvSpPr>
          <p:cNvPr id="475" name="Google Shape;475;p9"/>
          <p:cNvSpPr/>
          <p:nvPr/>
        </p:nvSpPr>
        <p:spPr>
          <a:xfrm>
            <a:off x="6915150" y="2400300"/>
            <a:ext cx="242888" cy="242888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900">
                <a:solidFill>
                  <a:srgbClr val="007A5A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 sz="1100"/>
          </a:p>
        </p:txBody>
      </p:sp>
      <p:sp>
        <p:nvSpPr>
          <p:cNvPr id="476" name="Google Shape;476;p9"/>
          <p:cNvSpPr/>
          <p:nvPr/>
        </p:nvSpPr>
        <p:spPr>
          <a:xfrm>
            <a:off x="7272338" y="1185863"/>
            <a:ext cx="242888" cy="242888"/>
          </a:xfrm>
          <a:prstGeom prst="ellipse">
            <a:avLst/>
          </a:prstGeom>
          <a:solidFill>
            <a:srgbClr val="FFC400"/>
          </a:solidFill>
          <a:ln cap="flat" cmpd="sng" w="9525">
            <a:solidFill>
              <a:srgbClr val="FFC4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9"/>
          <p:cNvSpPr/>
          <p:nvPr/>
        </p:nvSpPr>
        <p:spPr>
          <a:xfrm>
            <a:off x="7272338" y="1235869"/>
            <a:ext cx="242888" cy="1714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100"/>
          </a:p>
        </p:txBody>
      </p:sp>
      <p:sp>
        <p:nvSpPr>
          <p:cNvPr id="478" name="Google Shape;478;p9"/>
          <p:cNvSpPr/>
          <p:nvPr/>
        </p:nvSpPr>
        <p:spPr>
          <a:xfrm>
            <a:off x="7586663" y="1200150"/>
            <a:ext cx="1071563" cy="185738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rPr>
              <a:t>Privacy details</a:t>
            </a:r>
            <a:endParaRPr sz="1100"/>
          </a:p>
        </p:txBody>
      </p:sp>
      <p:sp>
        <p:nvSpPr>
          <p:cNvPr id="479" name="Google Shape;479;p9"/>
          <p:cNvSpPr/>
          <p:nvPr/>
        </p:nvSpPr>
        <p:spPr>
          <a:xfrm>
            <a:off x="7272338" y="1543050"/>
            <a:ext cx="1285875" cy="2114550"/>
          </a:xfrm>
          <a:prstGeom prst="roundRect">
            <a:avLst>
              <a:gd fmla="val 8889" name="adj"/>
            </a:avLst>
          </a:prstGeom>
          <a:solidFill>
            <a:srgbClr val="111827"/>
          </a:solidFill>
          <a:ln cap="flat" cmpd="sng" w="9525">
            <a:solidFill>
              <a:srgbClr val="1118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9"/>
          <p:cNvSpPr/>
          <p:nvPr/>
        </p:nvSpPr>
        <p:spPr>
          <a:xfrm>
            <a:off x="7329488" y="1600200"/>
            <a:ext cx="1171575" cy="2000250"/>
          </a:xfrm>
          <a:prstGeom prst="roundRect">
            <a:avLst>
              <a:gd fmla="val 7317" name="adj"/>
            </a:avLst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9"/>
          <p:cNvSpPr/>
          <p:nvPr/>
        </p:nvSpPr>
        <p:spPr>
          <a:xfrm>
            <a:off x="7760970" y="1635919"/>
            <a:ext cx="308610" cy="50006"/>
          </a:xfrm>
          <a:prstGeom prst="roundRect">
            <a:avLst>
              <a:gd fmla="val 50000" name="adj"/>
            </a:avLst>
          </a:prstGeom>
          <a:solidFill>
            <a:srgbClr val="111827"/>
          </a:solidFill>
          <a:ln cap="flat" cmpd="sng" w="9525">
            <a:solidFill>
              <a:srgbClr val="1118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9"/>
          <p:cNvSpPr/>
          <p:nvPr/>
        </p:nvSpPr>
        <p:spPr>
          <a:xfrm>
            <a:off x="7400925" y="1721644"/>
            <a:ext cx="314325" cy="128588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600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rPr>
              <a:t>9:41</a:t>
            </a:r>
            <a:endParaRPr sz="1100"/>
          </a:p>
        </p:txBody>
      </p:sp>
      <p:sp>
        <p:nvSpPr>
          <p:cNvPr id="483" name="Google Shape;483;p9"/>
          <p:cNvSpPr/>
          <p:nvPr/>
        </p:nvSpPr>
        <p:spPr>
          <a:xfrm>
            <a:off x="7400925" y="1914525"/>
            <a:ext cx="1028700" cy="185738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700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rPr>
              <a:t>Privacy details</a:t>
            </a:r>
            <a:endParaRPr sz="1100"/>
          </a:p>
        </p:txBody>
      </p:sp>
      <p:sp>
        <p:nvSpPr>
          <p:cNvPr id="484" name="Google Shape;484;p9"/>
          <p:cNvSpPr/>
          <p:nvPr/>
        </p:nvSpPr>
        <p:spPr>
          <a:xfrm>
            <a:off x="7415213" y="2171700"/>
            <a:ext cx="1000125" cy="257175"/>
          </a:xfrm>
          <a:prstGeom prst="roundRect">
            <a:avLst>
              <a:gd fmla="val 22222" name="adj"/>
            </a:avLst>
          </a:prstGeom>
          <a:solidFill>
            <a:srgbClr val="E7F6EF"/>
          </a:solidFill>
          <a:ln cap="flat" cmpd="sng" w="9525">
            <a:solidFill>
              <a:srgbClr val="E7F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9"/>
          <p:cNvSpPr/>
          <p:nvPr/>
        </p:nvSpPr>
        <p:spPr>
          <a:xfrm>
            <a:off x="7500938" y="2221706"/>
            <a:ext cx="828675" cy="1714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700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rPr>
              <a:t>What was shared</a:t>
            </a:r>
            <a:endParaRPr sz="1100"/>
          </a:p>
        </p:txBody>
      </p:sp>
      <p:sp>
        <p:nvSpPr>
          <p:cNvPr id="486" name="Google Shape;486;p9"/>
          <p:cNvSpPr/>
          <p:nvPr/>
        </p:nvSpPr>
        <p:spPr>
          <a:xfrm>
            <a:off x="7415213" y="2500313"/>
            <a:ext cx="1000125" cy="257175"/>
          </a:xfrm>
          <a:prstGeom prst="roundRect">
            <a:avLst>
              <a:gd fmla="val 22222" name="adj"/>
            </a:avLst>
          </a:prstGeom>
          <a:solidFill>
            <a:srgbClr val="E7F6EF"/>
          </a:solidFill>
          <a:ln cap="flat" cmpd="sng" w="9525">
            <a:solidFill>
              <a:srgbClr val="E7F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9"/>
          <p:cNvSpPr/>
          <p:nvPr/>
        </p:nvSpPr>
        <p:spPr>
          <a:xfrm>
            <a:off x="7500938" y="2550319"/>
            <a:ext cx="828675" cy="1714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700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rPr>
              <a:t>Access expired</a:t>
            </a:r>
            <a:endParaRPr sz="1100"/>
          </a:p>
        </p:txBody>
      </p:sp>
      <p:sp>
        <p:nvSpPr>
          <p:cNvPr id="488" name="Google Shape;488;p9"/>
          <p:cNvSpPr/>
          <p:nvPr/>
        </p:nvSpPr>
        <p:spPr>
          <a:xfrm>
            <a:off x="7415213" y="2828925"/>
            <a:ext cx="1000125" cy="257175"/>
          </a:xfrm>
          <a:prstGeom prst="roundRect">
            <a:avLst>
              <a:gd fmla="val 22222" name="adj"/>
            </a:avLst>
          </a:prstGeom>
          <a:solidFill>
            <a:srgbClr val="FFC400"/>
          </a:solidFill>
          <a:ln cap="flat" cmpd="sng" w="9525">
            <a:solidFill>
              <a:srgbClr val="FFC4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p9"/>
          <p:cNvSpPr/>
          <p:nvPr/>
        </p:nvSpPr>
        <p:spPr>
          <a:xfrm>
            <a:off x="7500938" y="2878931"/>
            <a:ext cx="828675" cy="1714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700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rPr>
              <a:t>Learn rights</a:t>
            </a:r>
            <a:endParaRPr sz="1100"/>
          </a:p>
        </p:txBody>
      </p:sp>
      <p:sp>
        <p:nvSpPr>
          <p:cNvPr id="490" name="Google Shape;490;p9"/>
          <p:cNvSpPr/>
          <p:nvPr/>
        </p:nvSpPr>
        <p:spPr>
          <a:xfrm>
            <a:off x="514350" y="3943350"/>
            <a:ext cx="8115300" cy="500063"/>
          </a:xfrm>
          <a:prstGeom prst="roundRect">
            <a:avLst>
              <a:gd fmla="val 17143" name="adj"/>
            </a:avLst>
          </a:prstGeom>
          <a:solidFill>
            <a:srgbClr val="FFFFFF"/>
          </a:solidFill>
          <a:ln cap="flat" cmpd="sng" w="9525">
            <a:solidFill>
              <a:srgbClr val="DCE4EC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dir="5400000" dist="9525">
              <a:srgbClr val="000000">
                <a:alpha val="5882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p9"/>
          <p:cNvSpPr/>
          <p:nvPr/>
        </p:nvSpPr>
        <p:spPr>
          <a:xfrm>
            <a:off x="785813" y="4057650"/>
            <a:ext cx="271463" cy="271463"/>
          </a:xfrm>
          <a:prstGeom prst="ellipse">
            <a:avLst/>
          </a:prstGeom>
          <a:solidFill>
            <a:srgbClr val="E7F6EF"/>
          </a:solidFill>
          <a:ln cap="flat" cmpd="sng" w="9525">
            <a:solidFill>
              <a:srgbClr val="E7F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p9"/>
          <p:cNvSpPr/>
          <p:nvPr/>
        </p:nvSpPr>
        <p:spPr>
          <a:xfrm>
            <a:off x="785813" y="4107656"/>
            <a:ext cx="271463" cy="200025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rgbClr val="075E4C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100"/>
          </a:p>
        </p:txBody>
      </p:sp>
      <p:sp>
        <p:nvSpPr>
          <p:cNvPr id="493" name="Google Shape;493;p9"/>
          <p:cNvSpPr/>
          <p:nvPr/>
        </p:nvSpPr>
        <p:spPr>
          <a:xfrm>
            <a:off x="1157288" y="4043363"/>
            <a:ext cx="1643063" cy="1714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rPr>
              <a:t>Local clickable prototype</a:t>
            </a:r>
            <a:endParaRPr sz="1100"/>
          </a:p>
        </p:txBody>
      </p:sp>
      <p:sp>
        <p:nvSpPr>
          <p:cNvPr id="494" name="Google Shape;494;p9"/>
          <p:cNvSpPr/>
          <p:nvPr/>
        </p:nvSpPr>
        <p:spPr>
          <a:xfrm>
            <a:off x="1157288" y="4214813"/>
            <a:ext cx="1785937" cy="157163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700">
                <a:solidFill>
                  <a:srgbClr val="536170"/>
                </a:solidFill>
                <a:latin typeface="Arial"/>
                <a:ea typeface="Arial"/>
                <a:cs typeface="Arial"/>
                <a:sym typeface="Arial"/>
              </a:rPr>
              <a:t>No backend needed for the hiring case</a:t>
            </a:r>
            <a:endParaRPr sz="1100"/>
          </a:p>
        </p:txBody>
      </p:sp>
      <p:sp>
        <p:nvSpPr>
          <p:cNvPr id="495" name="Google Shape;495;p9"/>
          <p:cNvSpPr/>
          <p:nvPr/>
        </p:nvSpPr>
        <p:spPr>
          <a:xfrm>
            <a:off x="3357563" y="4057650"/>
            <a:ext cx="271463" cy="271463"/>
          </a:xfrm>
          <a:prstGeom prst="ellipse">
            <a:avLst/>
          </a:prstGeom>
          <a:solidFill>
            <a:srgbClr val="E7F6EF"/>
          </a:solidFill>
          <a:ln cap="flat" cmpd="sng" w="9525">
            <a:solidFill>
              <a:srgbClr val="E7F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9"/>
          <p:cNvSpPr/>
          <p:nvPr/>
        </p:nvSpPr>
        <p:spPr>
          <a:xfrm>
            <a:off x="3357563" y="4107656"/>
            <a:ext cx="271463" cy="200025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rgbClr val="075E4C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100"/>
          </a:p>
        </p:txBody>
      </p:sp>
      <p:sp>
        <p:nvSpPr>
          <p:cNvPr id="497" name="Google Shape;497;p9"/>
          <p:cNvSpPr/>
          <p:nvPr/>
        </p:nvSpPr>
        <p:spPr>
          <a:xfrm>
            <a:off x="3729038" y="4043363"/>
            <a:ext cx="1643063" cy="1714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rPr>
              <a:t>Happy path only</a:t>
            </a:r>
            <a:endParaRPr sz="1100"/>
          </a:p>
        </p:txBody>
      </p:sp>
      <p:sp>
        <p:nvSpPr>
          <p:cNvPr id="498" name="Google Shape;498;p9"/>
          <p:cNvSpPr/>
          <p:nvPr/>
        </p:nvSpPr>
        <p:spPr>
          <a:xfrm>
            <a:off x="3729038" y="4214813"/>
            <a:ext cx="1785938" cy="157163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700">
                <a:solidFill>
                  <a:srgbClr val="536170"/>
                </a:solidFill>
                <a:latin typeface="Arial"/>
                <a:ea typeface="Arial"/>
                <a:cs typeface="Arial"/>
                <a:sym typeface="Arial"/>
              </a:rPr>
              <a:t>Edge cases covered in deck</a:t>
            </a:r>
            <a:endParaRPr sz="1100"/>
          </a:p>
        </p:txBody>
      </p:sp>
      <p:sp>
        <p:nvSpPr>
          <p:cNvPr id="499" name="Google Shape;499;p9"/>
          <p:cNvSpPr/>
          <p:nvPr/>
        </p:nvSpPr>
        <p:spPr>
          <a:xfrm>
            <a:off x="5929313" y="4057650"/>
            <a:ext cx="271463" cy="271463"/>
          </a:xfrm>
          <a:prstGeom prst="ellipse">
            <a:avLst/>
          </a:prstGeom>
          <a:solidFill>
            <a:srgbClr val="E7F6EF"/>
          </a:solidFill>
          <a:ln cap="flat" cmpd="sng" w="9525">
            <a:solidFill>
              <a:srgbClr val="E7F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9"/>
          <p:cNvSpPr/>
          <p:nvPr/>
        </p:nvSpPr>
        <p:spPr>
          <a:xfrm>
            <a:off x="5929313" y="4107656"/>
            <a:ext cx="271463" cy="200025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rgbClr val="075E4C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100"/>
          </a:p>
        </p:txBody>
      </p:sp>
      <p:sp>
        <p:nvSpPr>
          <p:cNvPr id="501" name="Google Shape;501;p9"/>
          <p:cNvSpPr/>
          <p:nvPr/>
        </p:nvSpPr>
        <p:spPr>
          <a:xfrm>
            <a:off x="6300788" y="4043363"/>
            <a:ext cx="1643063" cy="1714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rPr>
              <a:t>Publish after review</a:t>
            </a:r>
            <a:endParaRPr sz="1100"/>
          </a:p>
        </p:txBody>
      </p:sp>
      <p:sp>
        <p:nvSpPr>
          <p:cNvPr id="502" name="Google Shape;502;p9"/>
          <p:cNvSpPr/>
          <p:nvPr/>
        </p:nvSpPr>
        <p:spPr>
          <a:xfrm>
            <a:off x="6300788" y="4214813"/>
            <a:ext cx="1785938" cy="157163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700">
                <a:solidFill>
                  <a:srgbClr val="536170"/>
                </a:solidFill>
                <a:latin typeface="Arial"/>
                <a:ea typeface="Arial"/>
                <a:cs typeface="Arial"/>
                <a:sym typeface="Arial"/>
              </a:rPr>
              <a:t>Share as prototype link</a:t>
            </a:r>
            <a:endParaRPr sz="1100"/>
          </a:p>
        </p:txBody>
      </p:sp>
      <p:sp>
        <p:nvSpPr>
          <p:cNvPr id="503" name="Google Shape;503;p9"/>
          <p:cNvSpPr/>
          <p:nvPr/>
        </p:nvSpPr>
        <p:spPr>
          <a:xfrm>
            <a:off x="300038" y="4750594"/>
            <a:ext cx="8543925" cy="7144"/>
          </a:xfrm>
          <a:prstGeom prst="rect">
            <a:avLst/>
          </a:prstGeom>
          <a:solidFill>
            <a:srgbClr val="EEF2F6"/>
          </a:solidFill>
          <a:ln cap="flat" cmpd="sng" w="9525">
            <a:solidFill>
              <a:srgbClr val="EEF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p9"/>
          <p:cNvSpPr/>
          <p:nvPr/>
        </p:nvSpPr>
        <p:spPr>
          <a:xfrm>
            <a:off x="314325" y="4843463"/>
            <a:ext cx="400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700">
                <a:solidFill>
                  <a:srgbClr val="536170"/>
                </a:solidFill>
                <a:latin typeface="Arial"/>
                <a:ea typeface="Arial"/>
                <a:cs typeface="Arial"/>
                <a:sym typeface="Arial"/>
              </a:rPr>
              <a:t>Purpose-bound ride data  |  DPDP product thinking case</a:t>
            </a:r>
            <a:endParaRPr sz="1100"/>
          </a:p>
        </p:txBody>
      </p:sp>
      <p:sp>
        <p:nvSpPr>
          <p:cNvPr id="505" name="Google Shape;505;p9"/>
          <p:cNvSpPr/>
          <p:nvPr/>
        </p:nvSpPr>
        <p:spPr>
          <a:xfrm>
            <a:off x="8572500" y="4843463"/>
            <a:ext cx="285750" cy="157163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700">
                <a:solidFill>
                  <a:srgbClr val="536170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1" name="Google Shape;511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1463" y="214313"/>
            <a:ext cx="271463" cy="271463"/>
          </a:xfrm>
          <a:prstGeom prst="rect">
            <a:avLst/>
          </a:prstGeom>
          <a:noFill/>
          <a:ln>
            <a:noFill/>
          </a:ln>
        </p:spPr>
      </p:pic>
      <p:sp>
        <p:nvSpPr>
          <p:cNvPr id="512" name="Google Shape;512;p10"/>
          <p:cNvSpPr/>
          <p:nvPr/>
        </p:nvSpPr>
        <p:spPr>
          <a:xfrm>
            <a:off x="657225" y="271463"/>
            <a:ext cx="51435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100">
                <a:solidFill>
                  <a:srgbClr val="0B1220"/>
                </a:solidFill>
                <a:latin typeface="Play"/>
                <a:ea typeface="Play"/>
                <a:cs typeface="Play"/>
                <a:sym typeface="Play"/>
              </a:rPr>
              <a:t>Measure protection without pickup harm</a:t>
            </a:r>
            <a:endParaRPr sz="1100"/>
          </a:p>
        </p:txBody>
      </p:sp>
      <p:sp>
        <p:nvSpPr>
          <p:cNvPr id="513" name="Google Shape;513;p10"/>
          <p:cNvSpPr/>
          <p:nvPr/>
        </p:nvSpPr>
        <p:spPr>
          <a:xfrm>
            <a:off x="671513" y="657225"/>
            <a:ext cx="5857875" cy="214313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100">
                <a:solidFill>
                  <a:srgbClr val="536170"/>
                </a:solidFill>
                <a:latin typeface="Arial"/>
                <a:ea typeface="Arial"/>
                <a:cs typeface="Arial"/>
                <a:sym typeface="Arial"/>
              </a:rPr>
              <a:t>The dashboard keeps the privacy outcome and ride experience guardrails visible together.</a:t>
            </a:r>
            <a:endParaRPr sz="1100"/>
          </a:p>
        </p:txBody>
      </p:sp>
      <p:sp>
        <p:nvSpPr>
          <p:cNvPr id="514" name="Google Shape;514;p10"/>
          <p:cNvSpPr/>
          <p:nvPr/>
        </p:nvSpPr>
        <p:spPr>
          <a:xfrm>
            <a:off x="5965031" y="531495"/>
            <a:ext cx="581501" cy="35719"/>
          </a:xfrm>
          <a:prstGeom prst="rect">
            <a:avLst/>
          </a:prstGeom>
          <a:solidFill>
            <a:srgbClr val="FFC400"/>
          </a:solidFill>
          <a:ln cap="flat" cmpd="sng" w="9525">
            <a:solidFill>
              <a:srgbClr val="FFC4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p10"/>
          <p:cNvSpPr/>
          <p:nvPr/>
        </p:nvSpPr>
        <p:spPr>
          <a:xfrm>
            <a:off x="6546533" y="436340"/>
            <a:ext cx="581501" cy="35719"/>
          </a:xfrm>
          <a:prstGeom prst="rect">
            <a:avLst/>
          </a:prstGeom>
          <a:solidFill>
            <a:srgbClr val="FFC400"/>
          </a:solidFill>
          <a:ln cap="flat" cmpd="sng" w="9525">
            <a:solidFill>
              <a:srgbClr val="FFC4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p10"/>
          <p:cNvSpPr/>
          <p:nvPr/>
        </p:nvSpPr>
        <p:spPr>
          <a:xfrm>
            <a:off x="7128034" y="499777"/>
            <a:ext cx="581501" cy="35719"/>
          </a:xfrm>
          <a:prstGeom prst="rect">
            <a:avLst/>
          </a:prstGeom>
          <a:solidFill>
            <a:srgbClr val="FFC400"/>
          </a:solidFill>
          <a:ln cap="flat" cmpd="sng" w="9525">
            <a:solidFill>
              <a:srgbClr val="FFC4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p10"/>
          <p:cNvSpPr/>
          <p:nvPr/>
        </p:nvSpPr>
        <p:spPr>
          <a:xfrm>
            <a:off x="7709535" y="383477"/>
            <a:ext cx="740093" cy="35719"/>
          </a:xfrm>
          <a:prstGeom prst="rect">
            <a:avLst/>
          </a:prstGeom>
          <a:solidFill>
            <a:srgbClr val="FFC400"/>
          </a:solidFill>
          <a:ln cap="flat" cmpd="sng" w="9525">
            <a:solidFill>
              <a:srgbClr val="FFC4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p10"/>
          <p:cNvSpPr/>
          <p:nvPr/>
        </p:nvSpPr>
        <p:spPr>
          <a:xfrm>
            <a:off x="5893594" y="494491"/>
            <a:ext cx="142875" cy="142875"/>
          </a:xfrm>
          <a:prstGeom prst="ellipse">
            <a:avLst/>
          </a:prstGeom>
          <a:solidFill>
            <a:srgbClr val="FFFFFF"/>
          </a:solidFill>
          <a:ln cap="flat" cmpd="sng" w="38100">
            <a:solidFill>
              <a:srgbClr val="007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p10"/>
          <p:cNvSpPr/>
          <p:nvPr/>
        </p:nvSpPr>
        <p:spPr>
          <a:xfrm>
            <a:off x="8423196" y="325327"/>
            <a:ext cx="214313" cy="214313"/>
          </a:xfrm>
          <a:prstGeom prst="ellipse">
            <a:avLst/>
          </a:prstGeom>
          <a:solidFill>
            <a:srgbClr val="FFC400"/>
          </a:solidFill>
          <a:ln cap="flat" cmpd="sng" w="9525">
            <a:solidFill>
              <a:srgbClr val="FFC4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" name="Google Shape;520;p10"/>
          <p:cNvSpPr/>
          <p:nvPr/>
        </p:nvSpPr>
        <p:spPr>
          <a:xfrm>
            <a:off x="6995875" y="309467"/>
            <a:ext cx="571500" cy="214313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075E4C"/>
                </a:solidFill>
                <a:latin typeface="Arial"/>
                <a:ea typeface="Arial"/>
                <a:cs typeface="Arial"/>
                <a:sym typeface="Arial"/>
              </a:rPr>
              <a:t>ride</a:t>
            </a:r>
            <a:endParaRPr sz="1100"/>
          </a:p>
        </p:txBody>
      </p:sp>
      <p:sp>
        <p:nvSpPr>
          <p:cNvPr id="521" name="Google Shape;521;p10"/>
          <p:cNvSpPr/>
          <p:nvPr/>
        </p:nvSpPr>
        <p:spPr>
          <a:xfrm>
            <a:off x="385763" y="1128713"/>
            <a:ext cx="2014538" cy="3071813"/>
          </a:xfrm>
          <a:prstGeom prst="roundRect">
            <a:avLst>
              <a:gd fmla="val 4255" name="adj"/>
            </a:avLst>
          </a:prstGeom>
          <a:solidFill>
            <a:srgbClr val="FFFFFF"/>
          </a:solidFill>
          <a:ln cap="flat" cmpd="sng" w="9525">
            <a:solidFill>
              <a:srgbClr val="DCE4EC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dir="5400000" dist="9525">
              <a:srgbClr val="000000">
                <a:alpha val="5882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p10"/>
          <p:cNvSpPr/>
          <p:nvPr/>
        </p:nvSpPr>
        <p:spPr>
          <a:xfrm>
            <a:off x="600075" y="1314450"/>
            <a:ext cx="1285875" cy="214313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400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rPr>
              <a:t>Key metrics</a:t>
            </a:r>
            <a:endParaRPr sz="1100"/>
          </a:p>
        </p:txBody>
      </p:sp>
      <p:sp>
        <p:nvSpPr>
          <p:cNvPr id="523" name="Google Shape;523;p10"/>
          <p:cNvSpPr/>
          <p:nvPr/>
        </p:nvSpPr>
        <p:spPr>
          <a:xfrm>
            <a:off x="600075" y="1657350"/>
            <a:ext cx="300038" cy="300038"/>
          </a:xfrm>
          <a:prstGeom prst="ellipse">
            <a:avLst/>
          </a:prstGeom>
          <a:solidFill>
            <a:srgbClr val="FFF6D8"/>
          </a:solidFill>
          <a:ln cap="flat" cmpd="sng" w="9525">
            <a:solidFill>
              <a:srgbClr val="FFF6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10"/>
          <p:cNvSpPr/>
          <p:nvPr/>
        </p:nvSpPr>
        <p:spPr>
          <a:xfrm>
            <a:off x="600075" y="1707356"/>
            <a:ext cx="300038" cy="2286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rgbClr val="D97706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endParaRPr sz="1100"/>
          </a:p>
        </p:txBody>
      </p:sp>
      <p:sp>
        <p:nvSpPr>
          <p:cNvPr id="525" name="Google Shape;525;p10"/>
          <p:cNvSpPr/>
          <p:nvPr/>
        </p:nvSpPr>
        <p:spPr>
          <a:xfrm>
            <a:off x="1000125" y="1650206"/>
            <a:ext cx="800100" cy="157163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rPr>
              <a:t>NSM</a:t>
            </a:r>
            <a:endParaRPr sz="1100"/>
          </a:p>
        </p:txBody>
      </p:sp>
      <p:sp>
        <p:nvSpPr>
          <p:cNvPr id="526" name="Google Shape;526;p10"/>
          <p:cNvSpPr/>
          <p:nvPr/>
        </p:nvSpPr>
        <p:spPr>
          <a:xfrm>
            <a:off x="1000125" y="1821656"/>
            <a:ext cx="1071563" cy="242888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700">
                <a:solidFill>
                  <a:srgbClr val="536170"/>
                </a:solidFill>
                <a:latin typeface="Arial"/>
                <a:ea typeface="Arial"/>
                <a:cs typeface="Arial"/>
                <a:sym typeface="Arial"/>
              </a:rPr>
              <a:t>Ride Data Protection Completion Rate</a:t>
            </a:r>
            <a:endParaRPr sz="1100"/>
          </a:p>
        </p:txBody>
      </p:sp>
      <p:sp>
        <p:nvSpPr>
          <p:cNvPr id="527" name="Google Shape;527;p10"/>
          <p:cNvSpPr/>
          <p:nvPr/>
        </p:nvSpPr>
        <p:spPr>
          <a:xfrm>
            <a:off x="600075" y="2171700"/>
            <a:ext cx="300038" cy="300038"/>
          </a:xfrm>
          <a:prstGeom prst="ellipse">
            <a:avLst/>
          </a:prstGeom>
          <a:solidFill>
            <a:srgbClr val="E7F6EF"/>
          </a:solidFill>
          <a:ln cap="flat" cmpd="sng" w="9525">
            <a:solidFill>
              <a:srgbClr val="E7F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10"/>
          <p:cNvSpPr/>
          <p:nvPr/>
        </p:nvSpPr>
        <p:spPr>
          <a:xfrm>
            <a:off x="600075" y="2221706"/>
            <a:ext cx="300038" cy="2286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rgbClr val="075E4C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sz="1100"/>
          </a:p>
        </p:txBody>
      </p:sp>
      <p:sp>
        <p:nvSpPr>
          <p:cNvPr id="529" name="Google Shape;529;p10"/>
          <p:cNvSpPr/>
          <p:nvPr/>
        </p:nvSpPr>
        <p:spPr>
          <a:xfrm>
            <a:off x="1000125" y="2164556"/>
            <a:ext cx="800100" cy="157163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rPr>
              <a:t>Support</a:t>
            </a:r>
            <a:endParaRPr sz="1100"/>
          </a:p>
        </p:txBody>
      </p:sp>
      <p:sp>
        <p:nvSpPr>
          <p:cNvPr id="530" name="Google Shape;530;p10"/>
          <p:cNvSpPr/>
          <p:nvPr/>
        </p:nvSpPr>
        <p:spPr>
          <a:xfrm>
            <a:off x="1000125" y="2336006"/>
            <a:ext cx="1071563" cy="242888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700">
                <a:solidFill>
                  <a:srgbClr val="536170"/>
                </a:solidFill>
                <a:latin typeface="Arial"/>
                <a:ea typeface="Arial"/>
                <a:cs typeface="Arial"/>
                <a:sym typeface="Arial"/>
              </a:rPr>
              <a:t>Protected contact, expiry SLA, privacy complaints</a:t>
            </a:r>
            <a:endParaRPr sz="1100"/>
          </a:p>
        </p:txBody>
      </p:sp>
      <p:sp>
        <p:nvSpPr>
          <p:cNvPr id="531" name="Google Shape;531;p10"/>
          <p:cNvSpPr/>
          <p:nvPr/>
        </p:nvSpPr>
        <p:spPr>
          <a:xfrm>
            <a:off x="600075" y="2686050"/>
            <a:ext cx="300038" cy="300038"/>
          </a:xfrm>
          <a:prstGeom prst="ellipse">
            <a:avLst/>
          </a:prstGeom>
          <a:solidFill>
            <a:srgbClr val="EAF2FF"/>
          </a:solidFill>
          <a:ln cap="flat" cmpd="sng" w="9525">
            <a:solidFill>
              <a:srgbClr val="EAF2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2" name="Google Shape;532;p10"/>
          <p:cNvSpPr/>
          <p:nvPr/>
        </p:nvSpPr>
        <p:spPr>
          <a:xfrm>
            <a:off x="600075" y="2736056"/>
            <a:ext cx="300038" cy="2286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endParaRPr sz="1100"/>
          </a:p>
        </p:txBody>
      </p:sp>
      <p:sp>
        <p:nvSpPr>
          <p:cNvPr id="533" name="Google Shape;533;p10"/>
          <p:cNvSpPr/>
          <p:nvPr/>
        </p:nvSpPr>
        <p:spPr>
          <a:xfrm>
            <a:off x="1000125" y="2678906"/>
            <a:ext cx="800100" cy="157163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rPr>
              <a:t>Guardrails</a:t>
            </a:r>
            <a:endParaRPr sz="1100"/>
          </a:p>
        </p:txBody>
      </p:sp>
      <p:sp>
        <p:nvSpPr>
          <p:cNvPr id="534" name="Google Shape;534;p10"/>
          <p:cNvSpPr/>
          <p:nvPr/>
        </p:nvSpPr>
        <p:spPr>
          <a:xfrm>
            <a:off x="1000125" y="2850356"/>
            <a:ext cx="1071563" cy="242888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700">
                <a:solidFill>
                  <a:srgbClr val="536170"/>
                </a:solidFill>
                <a:latin typeface="Arial"/>
                <a:ea typeface="Arial"/>
                <a:cs typeface="Arial"/>
                <a:sym typeface="Arial"/>
              </a:rPr>
              <a:t>Pickup success and cancellation rate</a:t>
            </a:r>
            <a:endParaRPr sz="1100"/>
          </a:p>
        </p:txBody>
      </p:sp>
      <p:sp>
        <p:nvSpPr>
          <p:cNvPr id="535" name="Google Shape;535;p10"/>
          <p:cNvSpPr/>
          <p:nvPr/>
        </p:nvSpPr>
        <p:spPr>
          <a:xfrm>
            <a:off x="600075" y="3200400"/>
            <a:ext cx="300038" cy="300038"/>
          </a:xfrm>
          <a:prstGeom prst="ellipse">
            <a:avLst/>
          </a:prstGeom>
          <a:solidFill>
            <a:srgbClr val="F1EAFF"/>
          </a:solidFill>
          <a:ln cap="flat" cmpd="sng" w="9525">
            <a:solidFill>
              <a:srgbClr val="F1EA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6" name="Google Shape;536;p10"/>
          <p:cNvSpPr/>
          <p:nvPr/>
        </p:nvSpPr>
        <p:spPr>
          <a:xfrm>
            <a:off x="600075" y="3250406"/>
            <a:ext cx="300038" cy="2286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rgbClr val="7C3AED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sz="1100"/>
          </a:p>
        </p:txBody>
      </p:sp>
      <p:sp>
        <p:nvSpPr>
          <p:cNvPr id="537" name="Google Shape;537;p10"/>
          <p:cNvSpPr/>
          <p:nvPr/>
        </p:nvSpPr>
        <p:spPr>
          <a:xfrm>
            <a:off x="1000125" y="3193256"/>
            <a:ext cx="800100" cy="157163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rPr>
              <a:t>Segments</a:t>
            </a:r>
            <a:endParaRPr sz="1100"/>
          </a:p>
        </p:txBody>
      </p:sp>
      <p:sp>
        <p:nvSpPr>
          <p:cNvPr id="538" name="Google Shape;538;p10"/>
          <p:cNvSpPr/>
          <p:nvPr/>
        </p:nvSpPr>
        <p:spPr>
          <a:xfrm>
            <a:off x="1000125" y="3364706"/>
            <a:ext cx="1071563" cy="242888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700">
                <a:solidFill>
                  <a:srgbClr val="536170"/>
                </a:solidFill>
                <a:latin typeface="Arial"/>
                <a:ea typeface="Arial"/>
                <a:cs typeface="Arial"/>
                <a:sym typeface="Arial"/>
              </a:rPr>
              <a:t>City, ride type, app version, network</a:t>
            </a:r>
            <a:endParaRPr sz="1100"/>
          </a:p>
        </p:txBody>
      </p:sp>
      <p:sp>
        <p:nvSpPr>
          <p:cNvPr id="539" name="Google Shape;539;p10"/>
          <p:cNvSpPr/>
          <p:nvPr/>
        </p:nvSpPr>
        <p:spPr>
          <a:xfrm>
            <a:off x="2614613" y="1128713"/>
            <a:ext cx="3943350" cy="1685925"/>
          </a:xfrm>
          <a:prstGeom prst="roundRect">
            <a:avLst>
              <a:gd fmla="val 5085" name="adj"/>
            </a:avLst>
          </a:prstGeom>
          <a:solidFill>
            <a:srgbClr val="FFFFFF"/>
          </a:solidFill>
          <a:ln cap="flat" cmpd="sng" w="9525">
            <a:solidFill>
              <a:srgbClr val="DCE4EC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dir="5400000" dist="9525">
              <a:srgbClr val="000000">
                <a:alpha val="5882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p10"/>
          <p:cNvSpPr/>
          <p:nvPr/>
        </p:nvSpPr>
        <p:spPr>
          <a:xfrm>
            <a:off x="2814638" y="1314450"/>
            <a:ext cx="2571750" cy="185738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rPr>
              <a:t>Ride Data Protection Completion Rate</a:t>
            </a:r>
            <a:endParaRPr sz="1100"/>
          </a:p>
        </p:txBody>
      </p:sp>
      <p:pic>
        <p:nvPicPr>
          <p:cNvPr id="541" name="Google Shape;541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14638" y="1600200"/>
            <a:ext cx="3429000" cy="1000200"/>
          </a:xfrm>
          <a:prstGeom prst="rect">
            <a:avLst/>
          </a:prstGeom>
          <a:noFill/>
          <a:ln>
            <a:noFill/>
          </a:ln>
        </p:spPr>
      </p:pic>
      <p:sp>
        <p:nvSpPr>
          <p:cNvPr id="542" name="Google Shape;542;p10"/>
          <p:cNvSpPr/>
          <p:nvPr/>
        </p:nvSpPr>
        <p:spPr>
          <a:xfrm>
            <a:off x="6743700" y="1128713"/>
            <a:ext cx="1785938" cy="1685925"/>
          </a:xfrm>
          <a:prstGeom prst="roundRect">
            <a:avLst>
              <a:gd fmla="val 5085" name="adj"/>
            </a:avLst>
          </a:prstGeom>
          <a:solidFill>
            <a:srgbClr val="FFFFFF"/>
          </a:solidFill>
          <a:ln cap="flat" cmpd="sng" w="9525">
            <a:solidFill>
              <a:srgbClr val="DCE4EC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dir="5400000" dist="9525">
              <a:srgbClr val="000000">
                <a:alpha val="5882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3" name="Google Shape;543;p10"/>
          <p:cNvSpPr/>
          <p:nvPr/>
        </p:nvSpPr>
        <p:spPr>
          <a:xfrm>
            <a:off x="7015163" y="1343025"/>
            <a:ext cx="1214438" cy="1714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rPr>
              <a:t>Current NSM</a:t>
            </a:r>
            <a:endParaRPr sz="1100"/>
          </a:p>
        </p:txBody>
      </p:sp>
      <p:sp>
        <p:nvSpPr>
          <p:cNvPr id="544" name="Google Shape;544;p10"/>
          <p:cNvSpPr/>
          <p:nvPr/>
        </p:nvSpPr>
        <p:spPr>
          <a:xfrm>
            <a:off x="7015163" y="1607344"/>
            <a:ext cx="1214438" cy="471488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000">
                <a:solidFill>
                  <a:srgbClr val="007A5A"/>
                </a:solidFill>
                <a:latin typeface="Arial"/>
                <a:ea typeface="Arial"/>
                <a:cs typeface="Arial"/>
                <a:sym typeface="Arial"/>
              </a:rPr>
              <a:t>74%</a:t>
            </a:r>
            <a:endParaRPr sz="1100"/>
          </a:p>
        </p:txBody>
      </p:sp>
      <p:sp>
        <p:nvSpPr>
          <p:cNvPr id="545" name="Google Shape;545;p10"/>
          <p:cNvSpPr/>
          <p:nvPr/>
        </p:nvSpPr>
        <p:spPr>
          <a:xfrm>
            <a:off x="7058025" y="2185988"/>
            <a:ext cx="1128713" cy="242888"/>
          </a:xfrm>
          <a:prstGeom prst="roundRect">
            <a:avLst>
              <a:gd fmla="val 23529" name="adj"/>
            </a:avLst>
          </a:prstGeom>
          <a:solidFill>
            <a:srgbClr val="E7F6EF"/>
          </a:solidFill>
          <a:ln cap="flat" cmpd="sng" w="9525">
            <a:solidFill>
              <a:srgbClr val="E7F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6" name="Google Shape;546;p10"/>
          <p:cNvSpPr/>
          <p:nvPr/>
        </p:nvSpPr>
        <p:spPr>
          <a:xfrm>
            <a:off x="7143750" y="2221706"/>
            <a:ext cx="957263" cy="185738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>
                <a:solidFill>
                  <a:srgbClr val="075E4C"/>
                </a:solidFill>
                <a:latin typeface="Arial"/>
                <a:ea typeface="Arial"/>
                <a:cs typeface="Arial"/>
                <a:sym typeface="Arial"/>
              </a:rPr>
              <a:t>+16pp vs baseline</a:t>
            </a:r>
            <a:endParaRPr sz="1100"/>
          </a:p>
        </p:txBody>
      </p:sp>
      <p:sp>
        <p:nvSpPr>
          <p:cNvPr id="547" name="Google Shape;547;p10"/>
          <p:cNvSpPr/>
          <p:nvPr/>
        </p:nvSpPr>
        <p:spPr>
          <a:xfrm>
            <a:off x="2614613" y="2957513"/>
            <a:ext cx="1171575" cy="671513"/>
          </a:xfrm>
          <a:prstGeom prst="roundRect">
            <a:avLst>
              <a:gd fmla="val 12766" name="adj"/>
            </a:avLst>
          </a:prstGeom>
          <a:solidFill>
            <a:srgbClr val="FFFFFF"/>
          </a:solidFill>
          <a:ln cap="flat" cmpd="sng" w="9525">
            <a:solidFill>
              <a:srgbClr val="DCE4EC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dir="5400000" dist="9525">
              <a:srgbClr val="000000">
                <a:alpha val="5882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10"/>
          <p:cNvSpPr/>
          <p:nvPr/>
        </p:nvSpPr>
        <p:spPr>
          <a:xfrm>
            <a:off x="2714625" y="3093244"/>
            <a:ext cx="271463" cy="271463"/>
          </a:xfrm>
          <a:prstGeom prst="ellipse">
            <a:avLst/>
          </a:prstGeom>
          <a:solidFill>
            <a:srgbClr val="007A5A"/>
          </a:solidFill>
          <a:ln cap="flat" cmpd="sng" w="9525">
            <a:solidFill>
              <a:srgbClr val="007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9" name="Google Shape;549;p10"/>
          <p:cNvSpPr/>
          <p:nvPr/>
        </p:nvSpPr>
        <p:spPr>
          <a:xfrm>
            <a:off x="2714625" y="3143250"/>
            <a:ext cx="271463" cy="200025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endParaRPr sz="1100"/>
          </a:p>
        </p:txBody>
      </p:sp>
      <p:sp>
        <p:nvSpPr>
          <p:cNvPr id="550" name="Google Shape;550;p10"/>
          <p:cNvSpPr/>
          <p:nvPr/>
        </p:nvSpPr>
        <p:spPr>
          <a:xfrm>
            <a:off x="3071813" y="3050381"/>
            <a:ext cx="628650" cy="214313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rPr>
              <a:t>88%</a:t>
            </a:r>
            <a:endParaRPr sz="1100"/>
          </a:p>
        </p:txBody>
      </p:sp>
      <p:sp>
        <p:nvSpPr>
          <p:cNvPr id="551" name="Google Shape;551;p10"/>
          <p:cNvSpPr/>
          <p:nvPr/>
        </p:nvSpPr>
        <p:spPr>
          <a:xfrm>
            <a:off x="3071813" y="3300413"/>
            <a:ext cx="6286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700">
                <a:solidFill>
                  <a:srgbClr val="536170"/>
                </a:solidFill>
                <a:latin typeface="Arial"/>
                <a:ea typeface="Arial"/>
                <a:cs typeface="Arial"/>
                <a:sym typeface="Arial"/>
              </a:rPr>
              <a:t>Protected contact</a:t>
            </a:r>
            <a:endParaRPr sz="1100"/>
          </a:p>
        </p:txBody>
      </p:sp>
      <p:sp>
        <p:nvSpPr>
          <p:cNvPr id="552" name="Google Shape;552;p10"/>
          <p:cNvSpPr/>
          <p:nvPr/>
        </p:nvSpPr>
        <p:spPr>
          <a:xfrm>
            <a:off x="3071813" y="3486150"/>
            <a:ext cx="628650" cy="1143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600">
                <a:solidFill>
                  <a:srgbClr val="007A5A"/>
                </a:solidFill>
                <a:latin typeface="Arial"/>
                <a:ea typeface="Arial"/>
                <a:cs typeface="Arial"/>
                <a:sym typeface="Arial"/>
              </a:rPr>
              <a:t>+12pp</a:t>
            </a:r>
            <a:endParaRPr sz="1100"/>
          </a:p>
        </p:txBody>
      </p:sp>
      <p:sp>
        <p:nvSpPr>
          <p:cNvPr id="553" name="Google Shape;553;p10"/>
          <p:cNvSpPr/>
          <p:nvPr/>
        </p:nvSpPr>
        <p:spPr>
          <a:xfrm>
            <a:off x="3914775" y="2957513"/>
            <a:ext cx="1171575" cy="671513"/>
          </a:xfrm>
          <a:prstGeom prst="roundRect">
            <a:avLst>
              <a:gd fmla="val 12766" name="adj"/>
            </a:avLst>
          </a:prstGeom>
          <a:solidFill>
            <a:srgbClr val="FFFFFF"/>
          </a:solidFill>
          <a:ln cap="flat" cmpd="sng" w="9525">
            <a:solidFill>
              <a:srgbClr val="DCE4EC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dir="5400000" dist="9525">
              <a:srgbClr val="000000">
                <a:alpha val="5882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4" name="Google Shape;554;p10"/>
          <p:cNvSpPr/>
          <p:nvPr/>
        </p:nvSpPr>
        <p:spPr>
          <a:xfrm>
            <a:off x="4014788" y="3093244"/>
            <a:ext cx="271463" cy="271463"/>
          </a:xfrm>
          <a:prstGeom prst="ellipse">
            <a:avLst/>
          </a:prstGeom>
          <a:solidFill>
            <a:srgbClr val="007A5A"/>
          </a:solidFill>
          <a:ln cap="flat" cmpd="sng" w="9525">
            <a:solidFill>
              <a:srgbClr val="007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5" name="Google Shape;555;p10"/>
          <p:cNvSpPr/>
          <p:nvPr/>
        </p:nvSpPr>
        <p:spPr>
          <a:xfrm>
            <a:off x="4014788" y="3143250"/>
            <a:ext cx="271463" cy="200025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endParaRPr sz="1100"/>
          </a:p>
        </p:txBody>
      </p:sp>
      <p:sp>
        <p:nvSpPr>
          <p:cNvPr id="556" name="Google Shape;556;p10"/>
          <p:cNvSpPr/>
          <p:nvPr/>
        </p:nvSpPr>
        <p:spPr>
          <a:xfrm>
            <a:off x="4371975" y="3050381"/>
            <a:ext cx="628650" cy="214313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rPr>
              <a:t>99.2%</a:t>
            </a:r>
            <a:endParaRPr sz="1100"/>
          </a:p>
        </p:txBody>
      </p:sp>
      <p:sp>
        <p:nvSpPr>
          <p:cNvPr id="557" name="Google Shape;557;p10"/>
          <p:cNvSpPr/>
          <p:nvPr/>
        </p:nvSpPr>
        <p:spPr>
          <a:xfrm>
            <a:off x="4371975" y="3300413"/>
            <a:ext cx="6286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700">
                <a:solidFill>
                  <a:srgbClr val="536170"/>
                </a:solidFill>
                <a:latin typeface="Arial"/>
                <a:ea typeface="Arial"/>
                <a:cs typeface="Arial"/>
                <a:sym typeface="Arial"/>
              </a:rPr>
              <a:t>Expiry SLA met</a:t>
            </a:r>
            <a:endParaRPr sz="1100"/>
          </a:p>
        </p:txBody>
      </p:sp>
      <p:sp>
        <p:nvSpPr>
          <p:cNvPr id="558" name="Google Shape;558;p10"/>
          <p:cNvSpPr/>
          <p:nvPr/>
        </p:nvSpPr>
        <p:spPr>
          <a:xfrm>
            <a:off x="4371975" y="3486150"/>
            <a:ext cx="628650" cy="1143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600">
                <a:solidFill>
                  <a:srgbClr val="007A5A"/>
                </a:solidFill>
                <a:latin typeface="Arial"/>
                <a:ea typeface="Arial"/>
                <a:cs typeface="Arial"/>
                <a:sym typeface="Arial"/>
              </a:rPr>
              <a:t>+2.1pp</a:t>
            </a:r>
            <a:endParaRPr sz="1100"/>
          </a:p>
        </p:txBody>
      </p:sp>
      <p:sp>
        <p:nvSpPr>
          <p:cNvPr id="559" name="Google Shape;559;p10"/>
          <p:cNvSpPr/>
          <p:nvPr/>
        </p:nvSpPr>
        <p:spPr>
          <a:xfrm>
            <a:off x="5214938" y="2957513"/>
            <a:ext cx="1171575" cy="671513"/>
          </a:xfrm>
          <a:prstGeom prst="roundRect">
            <a:avLst>
              <a:gd fmla="val 12766" name="adj"/>
            </a:avLst>
          </a:prstGeom>
          <a:solidFill>
            <a:srgbClr val="FFFFFF"/>
          </a:solidFill>
          <a:ln cap="flat" cmpd="sng" w="9525">
            <a:solidFill>
              <a:srgbClr val="DCE4EC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dir="5400000" dist="9525">
              <a:srgbClr val="000000">
                <a:alpha val="5882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0" name="Google Shape;560;p10"/>
          <p:cNvSpPr/>
          <p:nvPr/>
        </p:nvSpPr>
        <p:spPr>
          <a:xfrm>
            <a:off x="5314950" y="3093244"/>
            <a:ext cx="271463" cy="271463"/>
          </a:xfrm>
          <a:prstGeom prst="ellipse">
            <a:avLst/>
          </a:prstGeom>
          <a:solidFill>
            <a:srgbClr val="007A5A"/>
          </a:solidFill>
          <a:ln cap="flat" cmpd="sng" w="9525">
            <a:solidFill>
              <a:srgbClr val="007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1" name="Google Shape;561;p10"/>
          <p:cNvSpPr/>
          <p:nvPr/>
        </p:nvSpPr>
        <p:spPr>
          <a:xfrm>
            <a:off x="5314950" y="3143250"/>
            <a:ext cx="271463" cy="200025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endParaRPr sz="1100"/>
          </a:p>
        </p:txBody>
      </p:sp>
      <p:sp>
        <p:nvSpPr>
          <p:cNvPr id="562" name="Google Shape;562;p10"/>
          <p:cNvSpPr/>
          <p:nvPr/>
        </p:nvSpPr>
        <p:spPr>
          <a:xfrm>
            <a:off x="5672138" y="3050381"/>
            <a:ext cx="628650" cy="214313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rPr>
              <a:t>0.72</a:t>
            </a:r>
            <a:endParaRPr sz="1100"/>
          </a:p>
        </p:txBody>
      </p:sp>
      <p:sp>
        <p:nvSpPr>
          <p:cNvPr id="563" name="Google Shape;563;p10"/>
          <p:cNvSpPr/>
          <p:nvPr/>
        </p:nvSpPr>
        <p:spPr>
          <a:xfrm>
            <a:off x="5672138" y="3300413"/>
            <a:ext cx="6286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700">
                <a:solidFill>
                  <a:srgbClr val="536170"/>
                </a:solidFill>
                <a:latin typeface="Arial"/>
                <a:ea typeface="Arial"/>
                <a:cs typeface="Arial"/>
                <a:sym typeface="Arial"/>
              </a:rPr>
              <a:t>Privacy complaints</a:t>
            </a:r>
            <a:endParaRPr sz="1100"/>
          </a:p>
        </p:txBody>
      </p:sp>
      <p:sp>
        <p:nvSpPr>
          <p:cNvPr id="564" name="Google Shape;564;p10"/>
          <p:cNvSpPr/>
          <p:nvPr/>
        </p:nvSpPr>
        <p:spPr>
          <a:xfrm>
            <a:off x="5672138" y="3486150"/>
            <a:ext cx="628650" cy="1143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600">
                <a:solidFill>
                  <a:srgbClr val="007A5A"/>
                </a:solidFill>
                <a:latin typeface="Arial"/>
                <a:ea typeface="Arial"/>
                <a:cs typeface="Arial"/>
                <a:sym typeface="Arial"/>
              </a:rPr>
              <a:t>-31%</a:t>
            </a:r>
            <a:endParaRPr sz="1100"/>
          </a:p>
        </p:txBody>
      </p:sp>
      <p:sp>
        <p:nvSpPr>
          <p:cNvPr id="565" name="Google Shape;565;p10"/>
          <p:cNvSpPr/>
          <p:nvPr/>
        </p:nvSpPr>
        <p:spPr>
          <a:xfrm>
            <a:off x="6515100" y="2957513"/>
            <a:ext cx="1171575" cy="671513"/>
          </a:xfrm>
          <a:prstGeom prst="roundRect">
            <a:avLst>
              <a:gd fmla="val 12766" name="adj"/>
            </a:avLst>
          </a:prstGeom>
          <a:solidFill>
            <a:srgbClr val="FFFFFF"/>
          </a:solidFill>
          <a:ln cap="flat" cmpd="sng" w="9525">
            <a:solidFill>
              <a:srgbClr val="DCE4EC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dir="5400000" dist="9525">
              <a:srgbClr val="000000">
                <a:alpha val="5882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p10"/>
          <p:cNvSpPr/>
          <p:nvPr/>
        </p:nvSpPr>
        <p:spPr>
          <a:xfrm>
            <a:off x="6615113" y="3093244"/>
            <a:ext cx="271463" cy="271463"/>
          </a:xfrm>
          <a:prstGeom prst="ellipse">
            <a:avLst/>
          </a:prstGeom>
          <a:solidFill>
            <a:srgbClr val="D97706"/>
          </a:solidFill>
          <a:ln cap="flat" cmpd="sng" w="9525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10"/>
          <p:cNvSpPr/>
          <p:nvPr/>
        </p:nvSpPr>
        <p:spPr>
          <a:xfrm>
            <a:off x="6615113" y="3143250"/>
            <a:ext cx="271463" cy="200025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endParaRPr sz="1100"/>
          </a:p>
        </p:txBody>
      </p:sp>
      <p:sp>
        <p:nvSpPr>
          <p:cNvPr id="568" name="Google Shape;568;p10"/>
          <p:cNvSpPr/>
          <p:nvPr/>
        </p:nvSpPr>
        <p:spPr>
          <a:xfrm>
            <a:off x="6972300" y="3050381"/>
            <a:ext cx="628650" cy="214313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rPr>
              <a:t>96.8%</a:t>
            </a:r>
            <a:endParaRPr sz="1100"/>
          </a:p>
        </p:txBody>
      </p:sp>
      <p:sp>
        <p:nvSpPr>
          <p:cNvPr id="569" name="Google Shape;569;p10"/>
          <p:cNvSpPr/>
          <p:nvPr/>
        </p:nvSpPr>
        <p:spPr>
          <a:xfrm>
            <a:off x="6972300" y="3300413"/>
            <a:ext cx="6286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700">
                <a:solidFill>
                  <a:srgbClr val="536170"/>
                </a:solidFill>
                <a:latin typeface="Arial"/>
                <a:ea typeface="Arial"/>
                <a:cs typeface="Arial"/>
                <a:sym typeface="Arial"/>
              </a:rPr>
              <a:t>Pickup success</a:t>
            </a:r>
            <a:endParaRPr sz="1100"/>
          </a:p>
        </p:txBody>
      </p:sp>
      <p:sp>
        <p:nvSpPr>
          <p:cNvPr id="570" name="Google Shape;570;p10"/>
          <p:cNvSpPr/>
          <p:nvPr/>
        </p:nvSpPr>
        <p:spPr>
          <a:xfrm>
            <a:off x="6972300" y="3486150"/>
            <a:ext cx="628650" cy="1143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600">
                <a:solidFill>
                  <a:srgbClr val="D97706"/>
                </a:solidFill>
                <a:latin typeface="Arial"/>
                <a:ea typeface="Arial"/>
                <a:cs typeface="Arial"/>
                <a:sym typeface="Arial"/>
              </a:rPr>
              <a:t>-0.4pp</a:t>
            </a:r>
            <a:endParaRPr sz="1100"/>
          </a:p>
        </p:txBody>
      </p:sp>
      <p:sp>
        <p:nvSpPr>
          <p:cNvPr id="571" name="Google Shape;571;p10"/>
          <p:cNvSpPr/>
          <p:nvPr/>
        </p:nvSpPr>
        <p:spPr>
          <a:xfrm>
            <a:off x="7815263" y="2957513"/>
            <a:ext cx="1171575" cy="671513"/>
          </a:xfrm>
          <a:prstGeom prst="roundRect">
            <a:avLst>
              <a:gd fmla="val 12766" name="adj"/>
            </a:avLst>
          </a:prstGeom>
          <a:solidFill>
            <a:srgbClr val="FFFFFF"/>
          </a:solidFill>
          <a:ln cap="flat" cmpd="sng" w="9525">
            <a:solidFill>
              <a:srgbClr val="DCE4EC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dir="5400000" dist="9525">
              <a:srgbClr val="000000">
                <a:alpha val="5882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2" name="Google Shape;572;p10"/>
          <p:cNvSpPr/>
          <p:nvPr/>
        </p:nvSpPr>
        <p:spPr>
          <a:xfrm>
            <a:off x="7915275" y="3093244"/>
            <a:ext cx="271463" cy="271463"/>
          </a:xfrm>
          <a:prstGeom prst="ellipse">
            <a:avLst/>
          </a:prstGeom>
          <a:solidFill>
            <a:srgbClr val="D97706"/>
          </a:solidFill>
          <a:ln cap="flat" cmpd="sng" w="9525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3" name="Google Shape;573;p10"/>
          <p:cNvSpPr/>
          <p:nvPr/>
        </p:nvSpPr>
        <p:spPr>
          <a:xfrm>
            <a:off x="7915275" y="3143250"/>
            <a:ext cx="271463" cy="200025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 sz="1100"/>
          </a:p>
        </p:txBody>
      </p:sp>
      <p:sp>
        <p:nvSpPr>
          <p:cNvPr id="574" name="Google Shape;574;p10"/>
          <p:cNvSpPr/>
          <p:nvPr/>
        </p:nvSpPr>
        <p:spPr>
          <a:xfrm>
            <a:off x="8272463" y="3050381"/>
            <a:ext cx="628650" cy="214313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rPr>
              <a:t>6.1%</a:t>
            </a:r>
            <a:endParaRPr sz="1100"/>
          </a:p>
        </p:txBody>
      </p:sp>
      <p:sp>
        <p:nvSpPr>
          <p:cNvPr id="575" name="Google Shape;575;p10"/>
          <p:cNvSpPr/>
          <p:nvPr/>
        </p:nvSpPr>
        <p:spPr>
          <a:xfrm>
            <a:off x="8272463" y="3300413"/>
            <a:ext cx="6286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700">
                <a:solidFill>
                  <a:srgbClr val="536170"/>
                </a:solidFill>
                <a:latin typeface="Arial"/>
                <a:ea typeface="Arial"/>
                <a:cs typeface="Arial"/>
                <a:sym typeface="Arial"/>
              </a:rPr>
              <a:t>Cancellation</a:t>
            </a:r>
            <a:endParaRPr sz="1100"/>
          </a:p>
        </p:txBody>
      </p:sp>
      <p:sp>
        <p:nvSpPr>
          <p:cNvPr id="576" name="Google Shape;576;p10"/>
          <p:cNvSpPr/>
          <p:nvPr/>
        </p:nvSpPr>
        <p:spPr>
          <a:xfrm>
            <a:off x="8272463" y="3486150"/>
            <a:ext cx="628650" cy="1143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600">
                <a:solidFill>
                  <a:srgbClr val="D97706"/>
                </a:solidFill>
                <a:latin typeface="Arial"/>
                <a:ea typeface="Arial"/>
                <a:cs typeface="Arial"/>
                <a:sym typeface="Arial"/>
              </a:rPr>
              <a:t>-0.3pp</a:t>
            </a:r>
            <a:endParaRPr sz="1100"/>
          </a:p>
        </p:txBody>
      </p:sp>
      <p:sp>
        <p:nvSpPr>
          <p:cNvPr id="577" name="Google Shape;577;p10"/>
          <p:cNvSpPr/>
          <p:nvPr/>
        </p:nvSpPr>
        <p:spPr>
          <a:xfrm>
            <a:off x="2614625" y="3800475"/>
            <a:ext cx="5915100" cy="591300"/>
          </a:xfrm>
          <a:prstGeom prst="roundRect">
            <a:avLst>
              <a:gd fmla="val 21429" name="adj"/>
            </a:avLst>
          </a:prstGeom>
          <a:solidFill>
            <a:srgbClr val="FFF6D8"/>
          </a:solidFill>
          <a:ln cap="flat" cmpd="sng" w="9525">
            <a:solidFill>
              <a:srgbClr val="F3D477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dir="5400000" dist="9525">
              <a:srgbClr val="000000">
                <a:alpha val="5882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8" name="Google Shape;578;p10"/>
          <p:cNvSpPr/>
          <p:nvPr/>
        </p:nvSpPr>
        <p:spPr>
          <a:xfrm>
            <a:off x="2800350" y="3936206"/>
            <a:ext cx="5500688" cy="1714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rPr>
              <a:t>Success target: +25pp protection completion and 99% expiry SLA. Guardrail: pickup success and cancellation no worse than 2pp.</a:t>
            </a:r>
            <a:endParaRPr sz="1100"/>
          </a:p>
        </p:txBody>
      </p:sp>
      <p:sp>
        <p:nvSpPr>
          <p:cNvPr id="579" name="Google Shape;579;p10"/>
          <p:cNvSpPr/>
          <p:nvPr/>
        </p:nvSpPr>
        <p:spPr>
          <a:xfrm>
            <a:off x="300038" y="4750594"/>
            <a:ext cx="8543925" cy="7144"/>
          </a:xfrm>
          <a:prstGeom prst="rect">
            <a:avLst/>
          </a:prstGeom>
          <a:solidFill>
            <a:srgbClr val="EEF2F6"/>
          </a:solidFill>
          <a:ln cap="flat" cmpd="sng" w="9525">
            <a:solidFill>
              <a:srgbClr val="EEF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0" name="Google Shape;580;p10"/>
          <p:cNvSpPr/>
          <p:nvPr/>
        </p:nvSpPr>
        <p:spPr>
          <a:xfrm>
            <a:off x="314325" y="4843463"/>
            <a:ext cx="400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700">
                <a:solidFill>
                  <a:srgbClr val="536170"/>
                </a:solidFill>
                <a:latin typeface="Arial"/>
                <a:ea typeface="Arial"/>
                <a:cs typeface="Arial"/>
                <a:sym typeface="Arial"/>
              </a:rPr>
              <a:t>Purpose-bound ride data  |  DPDP product thinking case</a:t>
            </a:r>
            <a:endParaRPr sz="1100"/>
          </a:p>
        </p:txBody>
      </p:sp>
      <p:sp>
        <p:nvSpPr>
          <p:cNvPr id="581" name="Google Shape;581;p10"/>
          <p:cNvSpPr/>
          <p:nvPr/>
        </p:nvSpPr>
        <p:spPr>
          <a:xfrm>
            <a:off x="8572500" y="4843463"/>
            <a:ext cx="285750" cy="157163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700">
                <a:solidFill>
                  <a:srgbClr val="536170"/>
                </a:solidFill>
                <a:latin typeface="Arial"/>
                <a:ea typeface="Arial"/>
                <a:cs typeface="Arial"/>
                <a:sym typeface="Arial"/>
              </a:rPr>
              <a:t>08</a:t>
            </a:r>
            <a:endParaRPr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7" name="Google Shape;587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1463" y="214313"/>
            <a:ext cx="271463" cy="271463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11"/>
          <p:cNvSpPr/>
          <p:nvPr/>
        </p:nvSpPr>
        <p:spPr>
          <a:xfrm>
            <a:off x="657225" y="271463"/>
            <a:ext cx="51435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100">
                <a:solidFill>
                  <a:srgbClr val="0B1220"/>
                </a:solidFill>
                <a:latin typeface="Play"/>
                <a:ea typeface="Play"/>
                <a:cs typeface="Play"/>
                <a:sym typeface="Play"/>
              </a:rPr>
              <a:t>Debug a 15% NSM drop like a product incident</a:t>
            </a:r>
            <a:endParaRPr sz="1100"/>
          </a:p>
        </p:txBody>
      </p:sp>
      <p:sp>
        <p:nvSpPr>
          <p:cNvPr id="589" name="Google Shape;589;p11"/>
          <p:cNvSpPr/>
          <p:nvPr/>
        </p:nvSpPr>
        <p:spPr>
          <a:xfrm>
            <a:off x="671525" y="901944"/>
            <a:ext cx="5857800" cy="1716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100">
                <a:solidFill>
                  <a:srgbClr val="536170"/>
                </a:solidFill>
                <a:latin typeface="Arial"/>
                <a:ea typeface="Arial"/>
                <a:cs typeface="Arial"/>
                <a:sym typeface="Arial"/>
              </a:rPr>
              <a:t>Separate measurement issues, mix shifts, and real behavior changes before choosing a fix.</a:t>
            </a:r>
            <a:endParaRPr sz="1100"/>
          </a:p>
        </p:txBody>
      </p:sp>
      <p:sp>
        <p:nvSpPr>
          <p:cNvPr id="590" name="Google Shape;590;p11"/>
          <p:cNvSpPr/>
          <p:nvPr/>
        </p:nvSpPr>
        <p:spPr>
          <a:xfrm>
            <a:off x="5965031" y="531495"/>
            <a:ext cx="581501" cy="35719"/>
          </a:xfrm>
          <a:prstGeom prst="rect">
            <a:avLst/>
          </a:prstGeom>
          <a:solidFill>
            <a:srgbClr val="FFC400"/>
          </a:solidFill>
          <a:ln cap="flat" cmpd="sng" w="9525">
            <a:solidFill>
              <a:srgbClr val="FFC4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1" name="Google Shape;591;p11"/>
          <p:cNvSpPr/>
          <p:nvPr/>
        </p:nvSpPr>
        <p:spPr>
          <a:xfrm>
            <a:off x="6546533" y="436340"/>
            <a:ext cx="581501" cy="35719"/>
          </a:xfrm>
          <a:prstGeom prst="rect">
            <a:avLst/>
          </a:prstGeom>
          <a:solidFill>
            <a:srgbClr val="FFC400"/>
          </a:solidFill>
          <a:ln cap="flat" cmpd="sng" w="9525">
            <a:solidFill>
              <a:srgbClr val="FFC4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2" name="Google Shape;592;p11"/>
          <p:cNvSpPr/>
          <p:nvPr/>
        </p:nvSpPr>
        <p:spPr>
          <a:xfrm>
            <a:off x="7128034" y="499777"/>
            <a:ext cx="581501" cy="35719"/>
          </a:xfrm>
          <a:prstGeom prst="rect">
            <a:avLst/>
          </a:prstGeom>
          <a:solidFill>
            <a:srgbClr val="FFC400"/>
          </a:solidFill>
          <a:ln cap="flat" cmpd="sng" w="9525">
            <a:solidFill>
              <a:srgbClr val="FFC4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3" name="Google Shape;593;p11"/>
          <p:cNvSpPr/>
          <p:nvPr/>
        </p:nvSpPr>
        <p:spPr>
          <a:xfrm>
            <a:off x="7709535" y="383477"/>
            <a:ext cx="740093" cy="35719"/>
          </a:xfrm>
          <a:prstGeom prst="rect">
            <a:avLst/>
          </a:prstGeom>
          <a:solidFill>
            <a:srgbClr val="FFC400"/>
          </a:solidFill>
          <a:ln cap="flat" cmpd="sng" w="9525">
            <a:solidFill>
              <a:srgbClr val="FFC4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4" name="Google Shape;594;p11"/>
          <p:cNvSpPr/>
          <p:nvPr/>
        </p:nvSpPr>
        <p:spPr>
          <a:xfrm>
            <a:off x="5893594" y="494491"/>
            <a:ext cx="142875" cy="142875"/>
          </a:xfrm>
          <a:prstGeom prst="ellipse">
            <a:avLst/>
          </a:prstGeom>
          <a:solidFill>
            <a:srgbClr val="FFFFFF"/>
          </a:solidFill>
          <a:ln cap="flat" cmpd="sng" w="38100">
            <a:solidFill>
              <a:srgbClr val="007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5" name="Google Shape;595;p11"/>
          <p:cNvSpPr/>
          <p:nvPr/>
        </p:nvSpPr>
        <p:spPr>
          <a:xfrm>
            <a:off x="8423196" y="325327"/>
            <a:ext cx="214313" cy="214313"/>
          </a:xfrm>
          <a:prstGeom prst="ellipse">
            <a:avLst/>
          </a:prstGeom>
          <a:solidFill>
            <a:srgbClr val="FFC400"/>
          </a:solidFill>
          <a:ln cap="flat" cmpd="sng" w="9525">
            <a:solidFill>
              <a:srgbClr val="FFC4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6" name="Google Shape;596;p11"/>
          <p:cNvSpPr/>
          <p:nvPr/>
        </p:nvSpPr>
        <p:spPr>
          <a:xfrm>
            <a:off x="6995875" y="309467"/>
            <a:ext cx="571500" cy="214313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075E4C"/>
                </a:solidFill>
                <a:latin typeface="Arial"/>
                <a:ea typeface="Arial"/>
                <a:cs typeface="Arial"/>
                <a:sym typeface="Arial"/>
              </a:rPr>
              <a:t>ride</a:t>
            </a:r>
            <a:endParaRPr sz="1100"/>
          </a:p>
        </p:txBody>
      </p:sp>
      <p:sp>
        <p:nvSpPr>
          <p:cNvPr id="597" name="Google Shape;597;p11"/>
          <p:cNvSpPr/>
          <p:nvPr/>
        </p:nvSpPr>
        <p:spPr>
          <a:xfrm>
            <a:off x="385763" y="1143000"/>
            <a:ext cx="4614863" cy="2386013"/>
          </a:xfrm>
          <a:prstGeom prst="roundRect">
            <a:avLst>
              <a:gd fmla="val 3593" name="adj"/>
            </a:avLst>
          </a:prstGeom>
          <a:solidFill>
            <a:srgbClr val="FFFFFF"/>
          </a:solidFill>
          <a:ln cap="flat" cmpd="sng" w="9525">
            <a:solidFill>
              <a:srgbClr val="DCE4EC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dir="5400000" dist="9525">
              <a:srgbClr val="000000">
                <a:alpha val="5882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8" name="Google Shape;598;p11"/>
          <p:cNvSpPr/>
          <p:nvPr/>
        </p:nvSpPr>
        <p:spPr>
          <a:xfrm>
            <a:off x="1843088" y="1343025"/>
            <a:ext cx="1928813" cy="257175"/>
          </a:xfrm>
          <a:prstGeom prst="rect">
            <a:avLst/>
          </a:prstGeom>
          <a:solidFill>
            <a:srgbClr val="0B1220"/>
          </a:solidFill>
          <a:ln cap="flat" cmpd="sng" w="9525">
            <a:solidFill>
              <a:srgbClr val="0B12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Why did completion drop?</a:t>
            </a:r>
            <a:endParaRPr sz="1100"/>
          </a:p>
        </p:txBody>
      </p:sp>
      <p:sp>
        <p:nvSpPr>
          <p:cNvPr id="599" name="Google Shape;599;p11"/>
          <p:cNvSpPr/>
          <p:nvPr/>
        </p:nvSpPr>
        <p:spPr>
          <a:xfrm>
            <a:off x="614363" y="1900238"/>
            <a:ext cx="1214438" cy="1357313"/>
          </a:xfrm>
          <a:prstGeom prst="roundRect">
            <a:avLst>
              <a:gd fmla="val 7059" name="adj"/>
            </a:avLst>
          </a:prstGeom>
          <a:solidFill>
            <a:srgbClr val="E7F6EF"/>
          </a:solidFill>
          <a:ln cap="flat" cmpd="sng" w="9525">
            <a:solidFill>
              <a:srgbClr val="DCE4EC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dir="5400000" dist="9525">
              <a:srgbClr val="000000">
                <a:alpha val="5882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0" name="Google Shape;600;p11"/>
          <p:cNvSpPr/>
          <p:nvPr/>
        </p:nvSpPr>
        <p:spPr>
          <a:xfrm>
            <a:off x="714375" y="2014538"/>
            <a:ext cx="1014413" cy="257175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rgbClr val="075E4C"/>
                </a:solidFill>
                <a:latin typeface="Arial"/>
                <a:ea typeface="Arial"/>
                <a:cs typeface="Arial"/>
                <a:sym typeface="Arial"/>
              </a:rPr>
              <a:t>Instrumentation</a:t>
            </a:r>
            <a:endParaRPr sz="1100"/>
          </a:p>
        </p:txBody>
      </p:sp>
      <p:sp>
        <p:nvSpPr>
          <p:cNvPr id="601" name="Google Shape;601;p11"/>
          <p:cNvSpPr/>
          <p:nvPr/>
        </p:nvSpPr>
        <p:spPr>
          <a:xfrm>
            <a:off x="742950" y="2371725"/>
            <a:ext cx="957263" cy="214313"/>
          </a:xfrm>
          <a:prstGeom prst="roundRect">
            <a:avLst>
              <a:gd fmla="val 26667" name="adj"/>
            </a:avLst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2" name="Google Shape;602;p11"/>
          <p:cNvSpPr/>
          <p:nvPr/>
        </p:nvSpPr>
        <p:spPr>
          <a:xfrm>
            <a:off x="828675" y="2407444"/>
            <a:ext cx="785813" cy="157163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700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rPr>
              <a:t>Event tracking gap</a:t>
            </a:r>
            <a:endParaRPr sz="1100"/>
          </a:p>
        </p:txBody>
      </p:sp>
      <p:sp>
        <p:nvSpPr>
          <p:cNvPr id="603" name="Google Shape;603;p11"/>
          <p:cNvSpPr/>
          <p:nvPr/>
        </p:nvSpPr>
        <p:spPr>
          <a:xfrm>
            <a:off x="742950" y="2643188"/>
            <a:ext cx="957263" cy="214313"/>
          </a:xfrm>
          <a:prstGeom prst="roundRect">
            <a:avLst>
              <a:gd fmla="val 26667" name="adj"/>
            </a:avLst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p11"/>
          <p:cNvSpPr/>
          <p:nvPr/>
        </p:nvSpPr>
        <p:spPr>
          <a:xfrm>
            <a:off x="828675" y="2678906"/>
            <a:ext cx="785813" cy="157163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700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rPr>
              <a:t>Session stitching bug</a:t>
            </a:r>
            <a:endParaRPr sz="1100"/>
          </a:p>
        </p:txBody>
      </p:sp>
      <p:sp>
        <p:nvSpPr>
          <p:cNvPr id="605" name="Google Shape;605;p11"/>
          <p:cNvSpPr/>
          <p:nvPr/>
        </p:nvSpPr>
        <p:spPr>
          <a:xfrm>
            <a:off x="742950" y="2914650"/>
            <a:ext cx="957263" cy="214313"/>
          </a:xfrm>
          <a:prstGeom prst="roundRect">
            <a:avLst>
              <a:gd fmla="val 26667" name="adj"/>
            </a:avLst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6" name="Google Shape;606;p11"/>
          <p:cNvSpPr/>
          <p:nvPr/>
        </p:nvSpPr>
        <p:spPr>
          <a:xfrm>
            <a:off x="828675" y="2950369"/>
            <a:ext cx="785813" cy="157163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700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rPr>
              <a:t>Late event backfill</a:t>
            </a:r>
            <a:endParaRPr sz="1100"/>
          </a:p>
        </p:txBody>
      </p:sp>
      <p:sp>
        <p:nvSpPr>
          <p:cNvPr id="607" name="Google Shape;607;p11"/>
          <p:cNvSpPr/>
          <p:nvPr/>
        </p:nvSpPr>
        <p:spPr>
          <a:xfrm>
            <a:off x="2057400" y="1900238"/>
            <a:ext cx="1214438" cy="1357313"/>
          </a:xfrm>
          <a:prstGeom prst="roundRect">
            <a:avLst>
              <a:gd fmla="val 7059" name="adj"/>
            </a:avLst>
          </a:prstGeom>
          <a:solidFill>
            <a:srgbClr val="FFF6D8"/>
          </a:solidFill>
          <a:ln cap="flat" cmpd="sng" w="9525">
            <a:solidFill>
              <a:srgbClr val="DCE4EC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dir="5400000" dist="9525">
              <a:srgbClr val="000000">
                <a:alpha val="5882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11"/>
          <p:cNvSpPr/>
          <p:nvPr/>
        </p:nvSpPr>
        <p:spPr>
          <a:xfrm>
            <a:off x="2157413" y="2014538"/>
            <a:ext cx="1014413" cy="257175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rgbClr val="D97706"/>
                </a:solidFill>
                <a:latin typeface="Arial"/>
                <a:ea typeface="Arial"/>
                <a:cs typeface="Arial"/>
                <a:sym typeface="Arial"/>
              </a:rPr>
              <a:t>Mix shift</a:t>
            </a:r>
            <a:endParaRPr sz="1100"/>
          </a:p>
        </p:txBody>
      </p:sp>
      <p:sp>
        <p:nvSpPr>
          <p:cNvPr id="609" name="Google Shape;609;p11"/>
          <p:cNvSpPr/>
          <p:nvPr/>
        </p:nvSpPr>
        <p:spPr>
          <a:xfrm>
            <a:off x="2185988" y="2371725"/>
            <a:ext cx="957263" cy="214313"/>
          </a:xfrm>
          <a:prstGeom prst="roundRect">
            <a:avLst>
              <a:gd fmla="val 26667" name="adj"/>
            </a:avLst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0" name="Google Shape;610;p11"/>
          <p:cNvSpPr/>
          <p:nvPr/>
        </p:nvSpPr>
        <p:spPr>
          <a:xfrm>
            <a:off x="2271713" y="2407444"/>
            <a:ext cx="785813" cy="157163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700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rPr>
              <a:t>More new users</a:t>
            </a:r>
            <a:endParaRPr sz="1100"/>
          </a:p>
        </p:txBody>
      </p:sp>
      <p:sp>
        <p:nvSpPr>
          <p:cNvPr id="611" name="Google Shape;611;p11"/>
          <p:cNvSpPr/>
          <p:nvPr/>
        </p:nvSpPr>
        <p:spPr>
          <a:xfrm>
            <a:off x="2185988" y="2643188"/>
            <a:ext cx="957263" cy="214313"/>
          </a:xfrm>
          <a:prstGeom prst="roundRect">
            <a:avLst>
              <a:gd fmla="val 26667" name="adj"/>
            </a:avLst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2" name="Google Shape;612;p11"/>
          <p:cNvSpPr/>
          <p:nvPr/>
        </p:nvSpPr>
        <p:spPr>
          <a:xfrm>
            <a:off x="2271713" y="2678906"/>
            <a:ext cx="785813" cy="157163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700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rPr>
              <a:t>Different city or time mix</a:t>
            </a:r>
            <a:endParaRPr sz="1100"/>
          </a:p>
        </p:txBody>
      </p:sp>
      <p:sp>
        <p:nvSpPr>
          <p:cNvPr id="613" name="Google Shape;613;p11"/>
          <p:cNvSpPr/>
          <p:nvPr/>
        </p:nvSpPr>
        <p:spPr>
          <a:xfrm>
            <a:off x="2185988" y="2914650"/>
            <a:ext cx="957263" cy="214313"/>
          </a:xfrm>
          <a:prstGeom prst="roundRect">
            <a:avLst>
              <a:gd fmla="val 26667" name="adj"/>
            </a:avLst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4" name="Google Shape;614;p11"/>
          <p:cNvSpPr/>
          <p:nvPr/>
        </p:nvSpPr>
        <p:spPr>
          <a:xfrm>
            <a:off x="2271713" y="2950369"/>
            <a:ext cx="785813" cy="157163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700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rPr>
              <a:t>Ride-type change</a:t>
            </a:r>
            <a:endParaRPr sz="1100"/>
          </a:p>
        </p:txBody>
      </p:sp>
      <p:sp>
        <p:nvSpPr>
          <p:cNvPr id="615" name="Google Shape;615;p11"/>
          <p:cNvSpPr/>
          <p:nvPr/>
        </p:nvSpPr>
        <p:spPr>
          <a:xfrm>
            <a:off x="3500438" y="1900238"/>
            <a:ext cx="1214438" cy="1357313"/>
          </a:xfrm>
          <a:prstGeom prst="roundRect">
            <a:avLst>
              <a:gd fmla="val 7059" name="adj"/>
            </a:avLst>
          </a:prstGeom>
          <a:solidFill>
            <a:srgbClr val="FDECEC"/>
          </a:solidFill>
          <a:ln cap="flat" cmpd="sng" w="9525">
            <a:solidFill>
              <a:srgbClr val="F3B5AE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dir="5400000" dist="9525">
              <a:srgbClr val="000000">
                <a:alpha val="5882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6" name="Google Shape;616;p11"/>
          <p:cNvSpPr/>
          <p:nvPr/>
        </p:nvSpPr>
        <p:spPr>
          <a:xfrm>
            <a:off x="3600450" y="2014538"/>
            <a:ext cx="1014413" cy="257175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rgbClr val="D92D20"/>
                </a:solidFill>
                <a:latin typeface="Arial"/>
                <a:ea typeface="Arial"/>
                <a:cs typeface="Arial"/>
                <a:sym typeface="Arial"/>
              </a:rPr>
              <a:t>Real drop</a:t>
            </a:r>
            <a:endParaRPr sz="1100"/>
          </a:p>
        </p:txBody>
      </p:sp>
      <p:sp>
        <p:nvSpPr>
          <p:cNvPr id="617" name="Google Shape;617;p11"/>
          <p:cNvSpPr/>
          <p:nvPr/>
        </p:nvSpPr>
        <p:spPr>
          <a:xfrm>
            <a:off x="3629025" y="2371725"/>
            <a:ext cx="957263" cy="214313"/>
          </a:xfrm>
          <a:prstGeom prst="roundRect">
            <a:avLst>
              <a:gd fmla="val 26667" name="adj"/>
            </a:avLst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8" name="Google Shape;618;p11"/>
          <p:cNvSpPr/>
          <p:nvPr/>
        </p:nvSpPr>
        <p:spPr>
          <a:xfrm>
            <a:off x="3714750" y="2407444"/>
            <a:ext cx="785813" cy="157163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700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rPr>
              <a:t>Lower Protected Connect use</a:t>
            </a:r>
            <a:endParaRPr sz="1100"/>
          </a:p>
        </p:txBody>
      </p:sp>
      <p:sp>
        <p:nvSpPr>
          <p:cNvPr id="619" name="Google Shape;619;p11"/>
          <p:cNvSpPr/>
          <p:nvPr/>
        </p:nvSpPr>
        <p:spPr>
          <a:xfrm>
            <a:off x="3629025" y="2643188"/>
            <a:ext cx="957263" cy="214313"/>
          </a:xfrm>
          <a:prstGeom prst="roundRect">
            <a:avLst>
              <a:gd fmla="val 26667" name="adj"/>
            </a:avLst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0" name="Google Shape;620;p11"/>
          <p:cNvSpPr/>
          <p:nvPr/>
        </p:nvSpPr>
        <p:spPr>
          <a:xfrm>
            <a:off x="3714750" y="2678906"/>
            <a:ext cx="785813" cy="157163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700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rPr>
              <a:t>Users expire early</a:t>
            </a:r>
            <a:endParaRPr sz="1100"/>
          </a:p>
        </p:txBody>
      </p:sp>
      <p:sp>
        <p:nvSpPr>
          <p:cNvPr id="621" name="Google Shape;621;p11"/>
          <p:cNvSpPr/>
          <p:nvPr/>
        </p:nvSpPr>
        <p:spPr>
          <a:xfrm>
            <a:off x="3629025" y="2914650"/>
            <a:ext cx="957263" cy="214313"/>
          </a:xfrm>
          <a:prstGeom prst="roundRect">
            <a:avLst>
              <a:gd fmla="val 26667" name="adj"/>
            </a:avLst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2" name="Google Shape;622;p11"/>
          <p:cNvSpPr/>
          <p:nvPr/>
        </p:nvSpPr>
        <p:spPr>
          <a:xfrm>
            <a:off x="3714750" y="2950369"/>
            <a:ext cx="785813" cy="157163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700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rPr>
              <a:t>Bypass to off-platform share</a:t>
            </a:r>
            <a:endParaRPr sz="1100"/>
          </a:p>
        </p:txBody>
      </p:sp>
      <p:sp>
        <p:nvSpPr>
          <p:cNvPr id="623" name="Google Shape;623;p11"/>
          <p:cNvSpPr/>
          <p:nvPr/>
        </p:nvSpPr>
        <p:spPr>
          <a:xfrm>
            <a:off x="5229225" y="1143000"/>
            <a:ext cx="3514725" cy="2386013"/>
          </a:xfrm>
          <a:prstGeom prst="roundRect">
            <a:avLst>
              <a:gd fmla="val 3593" name="adj"/>
            </a:avLst>
          </a:prstGeom>
          <a:solidFill>
            <a:srgbClr val="FFFFFF"/>
          </a:solidFill>
          <a:ln cap="flat" cmpd="sng" w="9525">
            <a:solidFill>
              <a:srgbClr val="DCE4EC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dir="5400000" dist="9525">
              <a:srgbClr val="000000">
                <a:alpha val="5882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p11"/>
          <p:cNvSpPr/>
          <p:nvPr/>
        </p:nvSpPr>
        <p:spPr>
          <a:xfrm>
            <a:off x="5443538" y="1328738"/>
            <a:ext cx="1714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rPr>
              <a:t>Data to analyze first</a:t>
            </a:r>
            <a:endParaRPr sz="1100"/>
          </a:p>
        </p:txBody>
      </p:sp>
      <p:sp>
        <p:nvSpPr>
          <p:cNvPr id="625" name="Google Shape;625;p11"/>
          <p:cNvSpPr/>
          <p:nvPr/>
        </p:nvSpPr>
        <p:spPr>
          <a:xfrm>
            <a:off x="5472113" y="1685925"/>
            <a:ext cx="200025" cy="200025"/>
          </a:xfrm>
          <a:prstGeom prst="ellipse">
            <a:avLst/>
          </a:prstGeom>
          <a:solidFill>
            <a:srgbClr val="E7F6EF"/>
          </a:solidFill>
          <a:ln cap="flat" cmpd="sng" w="9525">
            <a:solidFill>
              <a:srgbClr val="E7F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6" name="Google Shape;626;p11"/>
          <p:cNvSpPr/>
          <p:nvPr/>
        </p:nvSpPr>
        <p:spPr>
          <a:xfrm>
            <a:off x="5472113" y="1735931"/>
            <a:ext cx="200025" cy="128588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rgbClr val="075E4C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100"/>
          </a:p>
        </p:txBody>
      </p:sp>
      <p:sp>
        <p:nvSpPr>
          <p:cNvPr id="627" name="Google Shape;627;p11"/>
          <p:cNvSpPr/>
          <p:nvPr/>
        </p:nvSpPr>
        <p:spPr>
          <a:xfrm>
            <a:off x="5757863" y="1685925"/>
            <a:ext cx="1857375" cy="157163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rPr>
              <a:t>Event logs</a:t>
            </a:r>
            <a:endParaRPr sz="1100"/>
          </a:p>
        </p:txBody>
      </p:sp>
      <p:sp>
        <p:nvSpPr>
          <p:cNvPr id="628" name="Google Shape;628;p11"/>
          <p:cNvSpPr/>
          <p:nvPr/>
        </p:nvSpPr>
        <p:spPr>
          <a:xfrm>
            <a:off x="8201025" y="1685925"/>
            <a:ext cx="342900" cy="142875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700">
                <a:solidFill>
                  <a:srgbClr val="007A5A"/>
                </a:solidFill>
                <a:latin typeface="Arial"/>
                <a:ea typeface="Arial"/>
                <a:cs typeface="Arial"/>
                <a:sym typeface="Arial"/>
              </a:rPr>
              <a:t>check</a:t>
            </a:r>
            <a:endParaRPr sz="1100"/>
          </a:p>
        </p:txBody>
      </p:sp>
      <p:sp>
        <p:nvSpPr>
          <p:cNvPr id="629" name="Google Shape;629;p11"/>
          <p:cNvSpPr/>
          <p:nvPr/>
        </p:nvSpPr>
        <p:spPr>
          <a:xfrm>
            <a:off x="5757863" y="1900238"/>
            <a:ext cx="2571750" cy="7144"/>
          </a:xfrm>
          <a:prstGeom prst="rect">
            <a:avLst/>
          </a:prstGeom>
          <a:solidFill>
            <a:srgbClr val="EEF2F6"/>
          </a:solidFill>
          <a:ln cap="flat" cmpd="sng" w="9525">
            <a:solidFill>
              <a:srgbClr val="EEF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p11"/>
          <p:cNvSpPr/>
          <p:nvPr/>
        </p:nvSpPr>
        <p:spPr>
          <a:xfrm>
            <a:off x="5472113" y="1964531"/>
            <a:ext cx="200025" cy="200025"/>
          </a:xfrm>
          <a:prstGeom prst="ellipse">
            <a:avLst/>
          </a:prstGeom>
          <a:solidFill>
            <a:srgbClr val="E7F6EF"/>
          </a:solidFill>
          <a:ln cap="flat" cmpd="sng" w="9525">
            <a:solidFill>
              <a:srgbClr val="E7F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1" name="Google Shape;631;p11"/>
          <p:cNvSpPr/>
          <p:nvPr/>
        </p:nvSpPr>
        <p:spPr>
          <a:xfrm>
            <a:off x="5472113" y="2014538"/>
            <a:ext cx="200025" cy="128588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rgbClr val="075E4C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100"/>
          </a:p>
        </p:txBody>
      </p:sp>
      <p:sp>
        <p:nvSpPr>
          <p:cNvPr id="632" name="Google Shape;632;p11"/>
          <p:cNvSpPr/>
          <p:nvPr/>
        </p:nvSpPr>
        <p:spPr>
          <a:xfrm>
            <a:off x="5757863" y="1964531"/>
            <a:ext cx="1857375" cy="157163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rPr>
              <a:t>Cohort and mix</a:t>
            </a:r>
            <a:endParaRPr sz="1100"/>
          </a:p>
        </p:txBody>
      </p:sp>
      <p:sp>
        <p:nvSpPr>
          <p:cNvPr id="633" name="Google Shape;633;p11"/>
          <p:cNvSpPr/>
          <p:nvPr/>
        </p:nvSpPr>
        <p:spPr>
          <a:xfrm>
            <a:off x="8201025" y="1964531"/>
            <a:ext cx="342900" cy="142875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700">
                <a:solidFill>
                  <a:srgbClr val="007A5A"/>
                </a:solidFill>
                <a:latin typeface="Arial"/>
                <a:ea typeface="Arial"/>
                <a:cs typeface="Arial"/>
                <a:sym typeface="Arial"/>
              </a:rPr>
              <a:t>check</a:t>
            </a:r>
            <a:endParaRPr sz="1100"/>
          </a:p>
        </p:txBody>
      </p:sp>
      <p:sp>
        <p:nvSpPr>
          <p:cNvPr id="634" name="Google Shape;634;p11"/>
          <p:cNvSpPr/>
          <p:nvPr/>
        </p:nvSpPr>
        <p:spPr>
          <a:xfrm>
            <a:off x="5757863" y="2178844"/>
            <a:ext cx="2571750" cy="7144"/>
          </a:xfrm>
          <a:prstGeom prst="rect">
            <a:avLst/>
          </a:prstGeom>
          <a:solidFill>
            <a:srgbClr val="EEF2F6"/>
          </a:solidFill>
          <a:ln cap="flat" cmpd="sng" w="9525">
            <a:solidFill>
              <a:srgbClr val="EEF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5" name="Google Shape;635;p11"/>
          <p:cNvSpPr/>
          <p:nvPr/>
        </p:nvSpPr>
        <p:spPr>
          <a:xfrm>
            <a:off x="5472113" y="2243138"/>
            <a:ext cx="200025" cy="200025"/>
          </a:xfrm>
          <a:prstGeom prst="ellipse">
            <a:avLst/>
          </a:prstGeom>
          <a:solidFill>
            <a:srgbClr val="E7F6EF"/>
          </a:solidFill>
          <a:ln cap="flat" cmpd="sng" w="9525">
            <a:solidFill>
              <a:srgbClr val="E7F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6" name="Google Shape;636;p11"/>
          <p:cNvSpPr/>
          <p:nvPr/>
        </p:nvSpPr>
        <p:spPr>
          <a:xfrm>
            <a:off x="5472113" y="2293144"/>
            <a:ext cx="200025" cy="128588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rgbClr val="075E4C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100"/>
          </a:p>
        </p:txBody>
      </p:sp>
      <p:sp>
        <p:nvSpPr>
          <p:cNvPr id="637" name="Google Shape;637;p11"/>
          <p:cNvSpPr/>
          <p:nvPr/>
        </p:nvSpPr>
        <p:spPr>
          <a:xfrm>
            <a:off x="5757863" y="2243138"/>
            <a:ext cx="1857375" cy="157163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rPr>
              <a:t>Protected Connect funnel</a:t>
            </a:r>
            <a:endParaRPr sz="1100"/>
          </a:p>
        </p:txBody>
      </p:sp>
      <p:sp>
        <p:nvSpPr>
          <p:cNvPr id="638" name="Google Shape;638;p11"/>
          <p:cNvSpPr/>
          <p:nvPr/>
        </p:nvSpPr>
        <p:spPr>
          <a:xfrm>
            <a:off x="8201025" y="2243138"/>
            <a:ext cx="342900" cy="142875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700">
                <a:solidFill>
                  <a:srgbClr val="007A5A"/>
                </a:solidFill>
                <a:latin typeface="Arial"/>
                <a:ea typeface="Arial"/>
                <a:cs typeface="Arial"/>
                <a:sym typeface="Arial"/>
              </a:rPr>
              <a:t>check</a:t>
            </a:r>
            <a:endParaRPr sz="1100"/>
          </a:p>
        </p:txBody>
      </p:sp>
      <p:sp>
        <p:nvSpPr>
          <p:cNvPr id="639" name="Google Shape;639;p11"/>
          <p:cNvSpPr/>
          <p:nvPr/>
        </p:nvSpPr>
        <p:spPr>
          <a:xfrm>
            <a:off x="5757863" y="2457450"/>
            <a:ext cx="2571750" cy="7144"/>
          </a:xfrm>
          <a:prstGeom prst="rect">
            <a:avLst/>
          </a:prstGeom>
          <a:solidFill>
            <a:srgbClr val="EEF2F6"/>
          </a:solidFill>
          <a:ln cap="flat" cmpd="sng" w="9525">
            <a:solidFill>
              <a:srgbClr val="EEF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0" name="Google Shape;640;p11"/>
          <p:cNvSpPr/>
          <p:nvPr/>
        </p:nvSpPr>
        <p:spPr>
          <a:xfrm>
            <a:off x="5472113" y="2521744"/>
            <a:ext cx="200025" cy="200025"/>
          </a:xfrm>
          <a:prstGeom prst="ellipse">
            <a:avLst/>
          </a:prstGeom>
          <a:solidFill>
            <a:srgbClr val="E7F6EF"/>
          </a:solidFill>
          <a:ln cap="flat" cmpd="sng" w="9525">
            <a:solidFill>
              <a:srgbClr val="E7F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p11"/>
          <p:cNvSpPr/>
          <p:nvPr/>
        </p:nvSpPr>
        <p:spPr>
          <a:xfrm>
            <a:off x="5472113" y="2571750"/>
            <a:ext cx="200025" cy="128588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rgbClr val="075E4C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100"/>
          </a:p>
        </p:txBody>
      </p:sp>
      <p:sp>
        <p:nvSpPr>
          <p:cNvPr id="642" name="Google Shape;642;p11"/>
          <p:cNvSpPr/>
          <p:nvPr/>
        </p:nvSpPr>
        <p:spPr>
          <a:xfrm>
            <a:off x="5757863" y="2521744"/>
            <a:ext cx="1857375" cy="157163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rPr>
              <a:t>Trip Data Lease health</a:t>
            </a:r>
            <a:endParaRPr sz="1100"/>
          </a:p>
        </p:txBody>
      </p:sp>
      <p:sp>
        <p:nvSpPr>
          <p:cNvPr id="643" name="Google Shape;643;p11"/>
          <p:cNvSpPr/>
          <p:nvPr/>
        </p:nvSpPr>
        <p:spPr>
          <a:xfrm>
            <a:off x="8201025" y="2521744"/>
            <a:ext cx="342900" cy="142875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700">
                <a:solidFill>
                  <a:srgbClr val="007A5A"/>
                </a:solidFill>
                <a:latin typeface="Arial"/>
                <a:ea typeface="Arial"/>
                <a:cs typeface="Arial"/>
                <a:sym typeface="Arial"/>
              </a:rPr>
              <a:t>check</a:t>
            </a:r>
            <a:endParaRPr sz="1100"/>
          </a:p>
        </p:txBody>
      </p:sp>
      <p:sp>
        <p:nvSpPr>
          <p:cNvPr id="644" name="Google Shape;644;p11"/>
          <p:cNvSpPr/>
          <p:nvPr/>
        </p:nvSpPr>
        <p:spPr>
          <a:xfrm>
            <a:off x="5757863" y="2736056"/>
            <a:ext cx="2571750" cy="7144"/>
          </a:xfrm>
          <a:prstGeom prst="rect">
            <a:avLst/>
          </a:prstGeom>
          <a:solidFill>
            <a:srgbClr val="EEF2F6"/>
          </a:solidFill>
          <a:ln cap="flat" cmpd="sng" w="9525">
            <a:solidFill>
              <a:srgbClr val="EEF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5" name="Google Shape;645;p11"/>
          <p:cNvSpPr/>
          <p:nvPr/>
        </p:nvSpPr>
        <p:spPr>
          <a:xfrm>
            <a:off x="5472113" y="2800350"/>
            <a:ext cx="200025" cy="200025"/>
          </a:xfrm>
          <a:prstGeom prst="ellipse">
            <a:avLst/>
          </a:prstGeom>
          <a:solidFill>
            <a:srgbClr val="E7F6EF"/>
          </a:solidFill>
          <a:ln cap="flat" cmpd="sng" w="9525">
            <a:solidFill>
              <a:srgbClr val="E7F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6" name="Google Shape;646;p11"/>
          <p:cNvSpPr/>
          <p:nvPr/>
        </p:nvSpPr>
        <p:spPr>
          <a:xfrm>
            <a:off x="5472113" y="2850356"/>
            <a:ext cx="200025" cy="128588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rgbClr val="075E4C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100"/>
          </a:p>
        </p:txBody>
      </p:sp>
      <p:sp>
        <p:nvSpPr>
          <p:cNvPr id="647" name="Google Shape;647;p11"/>
          <p:cNvSpPr/>
          <p:nvPr/>
        </p:nvSpPr>
        <p:spPr>
          <a:xfrm>
            <a:off x="5757863" y="2800350"/>
            <a:ext cx="1857375" cy="157163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rPr>
              <a:t>Provider health</a:t>
            </a:r>
            <a:endParaRPr sz="1100"/>
          </a:p>
        </p:txBody>
      </p:sp>
      <p:sp>
        <p:nvSpPr>
          <p:cNvPr id="648" name="Google Shape;648;p11"/>
          <p:cNvSpPr/>
          <p:nvPr/>
        </p:nvSpPr>
        <p:spPr>
          <a:xfrm>
            <a:off x="8201025" y="2800350"/>
            <a:ext cx="342900" cy="142875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700">
                <a:solidFill>
                  <a:srgbClr val="007A5A"/>
                </a:solidFill>
                <a:latin typeface="Arial"/>
                <a:ea typeface="Arial"/>
                <a:cs typeface="Arial"/>
                <a:sym typeface="Arial"/>
              </a:rPr>
              <a:t>check</a:t>
            </a:r>
            <a:endParaRPr sz="1100"/>
          </a:p>
        </p:txBody>
      </p:sp>
      <p:sp>
        <p:nvSpPr>
          <p:cNvPr id="649" name="Google Shape;649;p11"/>
          <p:cNvSpPr/>
          <p:nvPr/>
        </p:nvSpPr>
        <p:spPr>
          <a:xfrm>
            <a:off x="5757863" y="3014663"/>
            <a:ext cx="2571750" cy="7144"/>
          </a:xfrm>
          <a:prstGeom prst="rect">
            <a:avLst/>
          </a:prstGeom>
          <a:solidFill>
            <a:srgbClr val="EEF2F6"/>
          </a:solidFill>
          <a:ln cap="flat" cmpd="sng" w="9525">
            <a:solidFill>
              <a:srgbClr val="EEF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0" name="Google Shape;650;p11"/>
          <p:cNvSpPr/>
          <p:nvPr/>
        </p:nvSpPr>
        <p:spPr>
          <a:xfrm>
            <a:off x="5472113" y="3078956"/>
            <a:ext cx="200025" cy="200025"/>
          </a:xfrm>
          <a:prstGeom prst="ellipse">
            <a:avLst/>
          </a:prstGeom>
          <a:solidFill>
            <a:srgbClr val="E7F6EF"/>
          </a:solidFill>
          <a:ln cap="flat" cmpd="sng" w="9525">
            <a:solidFill>
              <a:srgbClr val="E7F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1" name="Google Shape;651;p11"/>
          <p:cNvSpPr/>
          <p:nvPr/>
        </p:nvSpPr>
        <p:spPr>
          <a:xfrm>
            <a:off x="5472113" y="3128963"/>
            <a:ext cx="200025" cy="128588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rgbClr val="075E4C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sz="1100"/>
          </a:p>
        </p:txBody>
      </p:sp>
      <p:sp>
        <p:nvSpPr>
          <p:cNvPr id="652" name="Google Shape;652;p11"/>
          <p:cNvSpPr/>
          <p:nvPr/>
        </p:nvSpPr>
        <p:spPr>
          <a:xfrm>
            <a:off x="5757863" y="3078956"/>
            <a:ext cx="1857375" cy="157163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rPr>
              <a:t>Bypass signals</a:t>
            </a:r>
            <a:endParaRPr sz="1100"/>
          </a:p>
        </p:txBody>
      </p:sp>
      <p:sp>
        <p:nvSpPr>
          <p:cNvPr id="653" name="Google Shape;653;p11"/>
          <p:cNvSpPr/>
          <p:nvPr/>
        </p:nvSpPr>
        <p:spPr>
          <a:xfrm>
            <a:off x="8201025" y="3078956"/>
            <a:ext cx="342900" cy="142875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700">
                <a:solidFill>
                  <a:srgbClr val="007A5A"/>
                </a:solidFill>
                <a:latin typeface="Arial"/>
                <a:ea typeface="Arial"/>
                <a:cs typeface="Arial"/>
                <a:sym typeface="Arial"/>
              </a:rPr>
              <a:t>check</a:t>
            </a:r>
            <a:endParaRPr sz="1100"/>
          </a:p>
        </p:txBody>
      </p:sp>
      <p:sp>
        <p:nvSpPr>
          <p:cNvPr id="654" name="Google Shape;654;p11"/>
          <p:cNvSpPr/>
          <p:nvPr/>
        </p:nvSpPr>
        <p:spPr>
          <a:xfrm>
            <a:off x="385763" y="3757613"/>
            <a:ext cx="8358188" cy="542925"/>
          </a:xfrm>
          <a:prstGeom prst="roundRect">
            <a:avLst>
              <a:gd fmla="val 15789" name="adj"/>
            </a:avLst>
          </a:prstGeom>
          <a:solidFill>
            <a:srgbClr val="FFFFFF"/>
          </a:solidFill>
          <a:ln cap="flat" cmpd="sng" w="9525">
            <a:solidFill>
              <a:srgbClr val="DCE4EC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dir="5400000" dist="9525">
              <a:srgbClr val="000000">
                <a:alpha val="5882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11"/>
          <p:cNvSpPr/>
          <p:nvPr/>
        </p:nvSpPr>
        <p:spPr>
          <a:xfrm>
            <a:off x="614363" y="3914775"/>
            <a:ext cx="1000125" cy="200025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400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rPr>
              <a:t>Next steps</a:t>
            </a:r>
            <a:endParaRPr sz="1100"/>
          </a:p>
        </p:txBody>
      </p:sp>
      <p:sp>
        <p:nvSpPr>
          <p:cNvPr id="656" name="Google Shape;656;p11"/>
          <p:cNvSpPr/>
          <p:nvPr/>
        </p:nvSpPr>
        <p:spPr>
          <a:xfrm>
            <a:off x="1743075" y="3900488"/>
            <a:ext cx="242888" cy="242888"/>
          </a:xfrm>
          <a:prstGeom prst="ellipse">
            <a:avLst/>
          </a:prstGeom>
          <a:solidFill>
            <a:srgbClr val="E7F6EF"/>
          </a:solidFill>
          <a:ln cap="flat" cmpd="sng" w="9525">
            <a:solidFill>
              <a:srgbClr val="E7F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7" name="Google Shape;657;p11"/>
          <p:cNvSpPr/>
          <p:nvPr/>
        </p:nvSpPr>
        <p:spPr>
          <a:xfrm>
            <a:off x="1743075" y="3950494"/>
            <a:ext cx="242888" cy="1714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rgbClr val="075E4C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100"/>
          </a:p>
        </p:txBody>
      </p:sp>
      <p:sp>
        <p:nvSpPr>
          <p:cNvPr id="658" name="Google Shape;658;p11"/>
          <p:cNvSpPr/>
          <p:nvPr/>
        </p:nvSpPr>
        <p:spPr>
          <a:xfrm>
            <a:off x="2043113" y="3943350"/>
            <a:ext cx="800100" cy="157163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rPr>
              <a:t>Verify logs</a:t>
            </a:r>
            <a:endParaRPr sz="1100"/>
          </a:p>
        </p:txBody>
      </p:sp>
      <p:sp>
        <p:nvSpPr>
          <p:cNvPr id="659" name="Google Shape;659;p11"/>
          <p:cNvSpPr/>
          <p:nvPr/>
        </p:nvSpPr>
        <p:spPr>
          <a:xfrm>
            <a:off x="2743200" y="3929063"/>
            <a:ext cx="185738" cy="157163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rgbClr val="007A5A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 sz="1100"/>
          </a:p>
        </p:txBody>
      </p:sp>
      <p:sp>
        <p:nvSpPr>
          <p:cNvPr id="660" name="Google Shape;660;p11"/>
          <p:cNvSpPr/>
          <p:nvPr/>
        </p:nvSpPr>
        <p:spPr>
          <a:xfrm>
            <a:off x="2843213" y="3900488"/>
            <a:ext cx="242888" cy="242888"/>
          </a:xfrm>
          <a:prstGeom prst="ellipse">
            <a:avLst/>
          </a:prstGeom>
          <a:solidFill>
            <a:srgbClr val="E7F6EF"/>
          </a:solidFill>
          <a:ln cap="flat" cmpd="sng" w="9525">
            <a:solidFill>
              <a:srgbClr val="E7F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1" name="Google Shape;661;p11"/>
          <p:cNvSpPr/>
          <p:nvPr/>
        </p:nvSpPr>
        <p:spPr>
          <a:xfrm>
            <a:off x="2843213" y="3950494"/>
            <a:ext cx="242888" cy="1714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rgbClr val="075E4C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100"/>
          </a:p>
        </p:txBody>
      </p:sp>
      <p:sp>
        <p:nvSpPr>
          <p:cNvPr id="662" name="Google Shape;662;p11"/>
          <p:cNvSpPr/>
          <p:nvPr/>
        </p:nvSpPr>
        <p:spPr>
          <a:xfrm>
            <a:off x="3143250" y="3943350"/>
            <a:ext cx="800100" cy="157163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rPr>
              <a:t>Isolate cohort</a:t>
            </a:r>
            <a:endParaRPr sz="1100"/>
          </a:p>
        </p:txBody>
      </p:sp>
      <p:sp>
        <p:nvSpPr>
          <p:cNvPr id="663" name="Google Shape;663;p11"/>
          <p:cNvSpPr/>
          <p:nvPr/>
        </p:nvSpPr>
        <p:spPr>
          <a:xfrm>
            <a:off x="3843338" y="3929063"/>
            <a:ext cx="185738" cy="157163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rgbClr val="007A5A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 sz="1100"/>
          </a:p>
        </p:txBody>
      </p:sp>
      <p:sp>
        <p:nvSpPr>
          <p:cNvPr id="664" name="Google Shape;664;p11"/>
          <p:cNvSpPr/>
          <p:nvPr/>
        </p:nvSpPr>
        <p:spPr>
          <a:xfrm>
            <a:off x="3943350" y="3900488"/>
            <a:ext cx="242888" cy="242888"/>
          </a:xfrm>
          <a:prstGeom prst="ellipse">
            <a:avLst/>
          </a:prstGeom>
          <a:solidFill>
            <a:srgbClr val="E7F6EF"/>
          </a:solidFill>
          <a:ln cap="flat" cmpd="sng" w="9525">
            <a:solidFill>
              <a:srgbClr val="E7F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5" name="Google Shape;665;p11"/>
          <p:cNvSpPr/>
          <p:nvPr/>
        </p:nvSpPr>
        <p:spPr>
          <a:xfrm>
            <a:off x="3943350" y="3950494"/>
            <a:ext cx="242888" cy="1714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rgbClr val="075E4C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100"/>
          </a:p>
        </p:txBody>
      </p:sp>
      <p:sp>
        <p:nvSpPr>
          <p:cNvPr id="666" name="Google Shape;666;p11"/>
          <p:cNvSpPr/>
          <p:nvPr/>
        </p:nvSpPr>
        <p:spPr>
          <a:xfrm>
            <a:off x="4243388" y="3943350"/>
            <a:ext cx="800100" cy="157163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rPr>
              <a:t>Confirm cause</a:t>
            </a:r>
            <a:endParaRPr sz="1100"/>
          </a:p>
        </p:txBody>
      </p:sp>
      <p:sp>
        <p:nvSpPr>
          <p:cNvPr id="667" name="Google Shape;667;p11"/>
          <p:cNvSpPr/>
          <p:nvPr/>
        </p:nvSpPr>
        <p:spPr>
          <a:xfrm>
            <a:off x="4943475" y="3929063"/>
            <a:ext cx="185738" cy="157163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rgbClr val="007A5A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 sz="1100"/>
          </a:p>
        </p:txBody>
      </p:sp>
      <p:sp>
        <p:nvSpPr>
          <p:cNvPr id="668" name="Google Shape;668;p11"/>
          <p:cNvSpPr/>
          <p:nvPr/>
        </p:nvSpPr>
        <p:spPr>
          <a:xfrm>
            <a:off x="5043488" y="3900488"/>
            <a:ext cx="242888" cy="242888"/>
          </a:xfrm>
          <a:prstGeom prst="ellipse">
            <a:avLst/>
          </a:prstGeom>
          <a:solidFill>
            <a:srgbClr val="E7F6EF"/>
          </a:solidFill>
          <a:ln cap="flat" cmpd="sng" w="9525">
            <a:solidFill>
              <a:srgbClr val="E7F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9" name="Google Shape;669;p11"/>
          <p:cNvSpPr/>
          <p:nvPr/>
        </p:nvSpPr>
        <p:spPr>
          <a:xfrm>
            <a:off x="5043488" y="3950494"/>
            <a:ext cx="242888" cy="1714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rgbClr val="075E4C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100"/>
          </a:p>
        </p:txBody>
      </p:sp>
      <p:sp>
        <p:nvSpPr>
          <p:cNvPr id="670" name="Google Shape;670;p11"/>
          <p:cNvSpPr/>
          <p:nvPr/>
        </p:nvSpPr>
        <p:spPr>
          <a:xfrm>
            <a:off x="5343525" y="3943350"/>
            <a:ext cx="800100" cy="157163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rPr>
              <a:t>Patch or rollback</a:t>
            </a:r>
            <a:endParaRPr sz="1100"/>
          </a:p>
        </p:txBody>
      </p:sp>
      <p:sp>
        <p:nvSpPr>
          <p:cNvPr id="671" name="Google Shape;671;p11"/>
          <p:cNvSpPr/>
          <p:nvPr/>
        </p:nvSpPr>
        <p:spPr>
          <a:xfrm>
            <a:off x="6043613" y="3929063"/>
            <a:ext cx="185738" cy="157163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rgbClr val="007A5A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 sz="1100"/>
          </a:p>
        </p:txBody>
      </p:sp>
      <p:sp>
        <p:nvSpPr>
          <p:cNvPr id="672" name="Google Shape;672;p11"/>
          <p:cNvSpPr/>
          <p:nvPr/>
        </p:nvSpPr>
        <p:spPr>
          <a:xfrm>
            <a:off x="6143625" y="3900488"/>
            <a:ext cx="242888" cy="242888"/>
          </a:xfrm>
          <a:prstGeom prst="ellipse">
            <a:avLst/>
          </a:prstGeom>
          <a:solidFill>
            <a:srgbClr val="E7F6EF"/>
          </a:solidFill>
          <a:ln cap="flat" cmpd="sng" w="9525">
            <a:solidFill>
              <a:srgbClr val="E7F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3" name="Google Shape;673;p11"/>
          <p:cNvSpPr/>
          <p:nvPr/>
        </p:nvSpPr>
        <p:spPr>
          <a:xfrm>
            <a:off x="6143625" y="3950494"/>
            <a:ext cx="242888" cy="1714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rgbClr val="075E4C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100"/>
          </a:p>
        </p:txBody>
      </p:sp>
      <p:sp>
        <p:nvSpPr>
          <p:cNvPr id="674" name="Google Shape;674;p11"/>
          <p:cNvSpPr/>
          <p:nvPr/>
        </p:nvSpPr>
        <p:spPr>
          <a:xfrm>
            <a:off x="6443663" y="3943350"/>
            <a:ext cx="800100" cy="157163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rPr>
              <a:t>Communicate</a:t>
            </a:r>
            <a:endParaRPr sz="1100"/>
          </a:p>
        </p:txBody>
      </p:sp>
      <p:sp>
        <p:nvSpPr>
          <p:cNvPr id="675" name="Google Shape;675;p11"/>
          <p:cNvSpPr/>
          <p:nvPr/>
        </p:nvSpPr>
        <p:spPr>
          <a:xfrm>
            <a:off x="7143750" y="3929063"/>
            <a:ext cx="185738" cy="157163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rgbClr val="007A5A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 sz="1100"/>
          </a:p>
        </p:txBody>
      </p:sp>
      <p:sp>
        <p:nvSpPr>
          <p:cNvPr id="676" name="Google Shape;676;p11"/>
          <p:cNvSpPr/>
          <p:nvPr/>
        </p:nvSpPr>
        <p:spPr>
          <a:xfrm>
            <a:off x="7243763" y="3900488"/>
            <a:ext cx="242888" cy="242888"/>
          </a:xfrm>
          <a:prstGeom prst="ellipse">
            <a:avLst/>
          </a:prstGeom>
          <a:solidFill>
            <a:srgbClr val="E7F6EF"/>
          </a:solidFill>
          <a:ln cap="flat" cmpd="sng" w="9525">
            <a:solidFill>
              <a:srgbClr val="E7F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7" name="Google Shape;677;p11"/>
          <p:cNvSpPr/>
          <p:nvPr/>
        </p:nvSpPr>
        <p:spPr>
          <a:xfrm>
            <a:off x="7243763" y="3950494"/>
            <a:ext cx="242888" cy="1714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rgbClr val="075E4C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sz="1100"/>
          </a:p>
        </p:txBody>
      </p:sp>
      <p:sp>
        <p:nvSpPr>
          <p:cNvPr id="678" name="Google Shape;678;p11"/>
          <p:cNvSpPr/>
          <p:nvPr/>
        </p:nvSpPr>
        <p:spPr>
          <a:xfrm>
            <a:off x="7543800" y="3943350"/>
            <a:ext cx="800100" cy="157163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rPr>
              <a:t>Monitor recovery</a:t>
            </a:r>
            <a:endParaRPr sz="1100"/>
          </a:p>
        </p:txBody>
      </p:sp>
      <p:sp>
        <p:nvSpPr>
          <p:cNvPr id="679" name="Google Shape;679;p11"/>
          <p:cNvSpPr/>
          <p:nvPr/>
        </p:nvSpPr>
        <p:spPr>
          <a:xfrm>
            <a:off x="300038" y="4750594"/>
            <a:ext cx="8543925" cy="7144"/>
          </a:xfrm>
          <a:prstGeom prst="rect">
            <a:avLst/>
          </a:prstGeom>
          <a:solidFill>
            <a:srgbClr val="EEF2F6"/>
          </a:solidFill>
          <a:ln cap="flat" cmpd="sng" w="9525">
            <a:solidFill>
              <a:srgbClr val="EEF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0" name="Google Shape;680;p11"/>
          <p:cNvSpPr/>
          <p:nvPr/>
        </p:nvSpPr>
        <p:spPr>
          <a:xfrm>
            <a:off x="314325" y="4843463"/>
            <a:ext cx="400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700">
                <a:solidFill>
                  <a:srgbClr val="536170"/>
                </a:solidFill>
                <a:latin typeface="Arial"/>
                <a:ea typeface="Arial"/>
                <a:cs typeface="Arial"/>
                <a:sym typeface="Arial"/>
              </a:rPr>
              <a:t>Purpose-bound ride data  |  DPDP product thinking case</a:t>
            </a:r>
            <a:endParaRPr sz="1100"/>
          </a:p>
        </p:txBody>
      </p:sp>
      <p:sp>
        <p:nvSpPr>
          <p:cNvPr id="681" name="Google Shape;681;p11"/>
          <p:cNvSpPr/>
          <p:nvPr/>
        </p:nvSpPr>
        <p:spPr>
          <a:xfrm>
            <a:off x="8572500" y="4843463"/>
            <a:ext cx="285750" cy="157163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700">
                <a:solidFill>
                  <a:srgbClr val="536170"/>
                </a:solidFill>
                <a:latin typeface="Arial"/>
                <a:ea typeface="Arial"/>
                <a:cs typeface="Arial"/>
                <a:sym typeface="Arial"/>
              </a:rPr>
              <a:t>09</a:t>
            </a:r>
            <a:endParaRPr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686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7" name="Google Shape;687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1463" y="214313"/>
            <a:ext cx="271463" cy="271463"/>
          </a:xfrm>
          <a:prstGeom prst="rect">
            <a:avLst/>
          </a:prstGeom>
          <a:noFill/>
          <a:ln>
            <a:noFill/>
          </a:ln>
        </p:spPr>
      </p:pic>
      <p:sp>
        <p:nvSpPr>
          <p:cNvPr id="688" name="Google Shape;688;p12"/>
          <p:cNvSpPr/>
          <p:nvPr/>
        </p:nvSpPr>
        <p:spPr>
          <a:xfrm>
            <a:off x="657225" y="271463"/>
            <a:ext cx="51435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100">
                <a:solidFill>
                  <a:srgbClr val="0B1220"/>
                </a:solidFill>
                <a:latin typeface="Play"/>
                <a:ea typeface="Play"/>
                <a:cs typeface="Play"/>
                <a:sym typeface="Play"/>
              </a:rPr>
              <a:t>Ship privacy as default ride infrastructure</a:t>
            </a:r>
            <a:endParaRPr sz="1100"/>
          </a:p>
        </p:txBody>
      </p:sp>
      <p:sp>
        <p:nvSpPr>
          <p:cNvPr id="689" name="Google Shape;689;p12"/>
          <p:cNvSpPr/>
          <p:nvPr/>
        </p:nvSpPr>
        <p:spPr>
          <a:xfrm>
            <a:off x="671513" y="864290"/>
            <a:ext cx="5857800" cy="2142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100">
                <a:solidFill>
                  <a:srgbClr val="536170"/>
                </a:solidFill>
                <a:latin typeface="Arial"/>
                <a:ea typeface="Arial"/>
                <a:cs typeface="Arial"/>
                <a:sym typeface="Arial"/>
              </a:rPr>
              <a:t>The plan protects trust while keeping the ride experience moving.</a:t>
            </a:r>
            <a:endParaRPr sz="1100"/>
          </a:p>
        </p:txBody>
      </p:sp>
      <p:sp>
        <p:nvSpPr>
          <p:cNvPr id="690" name="Google Shape;690;p12"/>
          <p:cNvSpPr/>
          <p:nvPr/>
        </p:nvSpPr>
        <p:spPr>
          <a:xfrm>
            <a:off x="5965031" y="531495"/>
            <a:ext cx="581501" cy="35719"/>
          </a:xfrm>
          <a:prstGeom prst="rect">
            <a:avLst/>
          </a:prstGeom>
          <a:solidFill>
            <a:srgbClr val="FFC400"/>
          </a:solidFill>
          <a:ln cap="flat" cmpd="sng" w="9525">
            <a:solidFill>
              <a:srgbClr val="FFC4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1" name="Google Shape;691;p12"/>
          <p:cNvSpPr/>
          <p:nvPr/>
        </p:nvSpPr>
        <p:spPr>
          <a:xfrm>
            <a:off x="6546533" y="436340"/>
            <a:ext cx="581501" cy="35719"/>
          </a:xfrm>
          <a:prstGeom prst="rect">
            <a:avLst/>
          </a:prstGeom>
          <a:solidFill>
            <a:srgbClr val="FFC400"/>
          </a:solidFill>
          <a:ln cap="flat" cmpd="sng" w="9525">
            <a:solidFill>
              <a:srgbClr val="FFC4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2" name="Google Shape;692;p12"/>
          <p:cNvSpPr/>
          <p:nvPr/>
        </p:nvSpPr>
        <p:spPr>
          <a:xfrm>
            <a:off x="7128034" y="499777"/>
            <a:ext cx="581501" cy="35719"/>
          </a:xfrm>
          <a:prstGeom prst="rect">
            <a:avLst/>
          </a:prstGeom>
          <a:solidFill>
            <a:srgbClr val="FFC400"/>
          </a:solidFill>
          <a:ln cap="flat" cmpd="sng" w="9525">
            <a:solidFill>
              <a:srgbClr val="FFC4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3" name="Google Shape;693;p12"/>
          <p:cNvSpPr/>
          <p:nvPr/>
        </p:nvSpPr>
        <p:spPr>
          <a:xfrm>
            <a:off x="7709535" y="383477"/>
            <a:ext cx="740093" cy="35719"/>
          </a:xfrm>
          <a:prstGeom prst="rect">
            <a:avLst/>
          </a:prstGeom>
          <a:solidFill>
            <a:srgbClr val="FFC400"/>
          </a:solidFill>
          <a:ln cap="flat" cmpd="sng" w="9525">
            <a:solidFill>
              <a:srgbClr val="FFC4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4" name="Google Shape;694;p12"/>
          <p:cNvSpPr/>
          <p:nvPr/>
        </p:nvSpPr>
        <p:spPr>
          <a:xfrm>
            <a:off x="5893594" y="494491"/>
            <a:ext cx="142875" cy="142875"/>
          </a:xfrm>
          <a:prstGeom prst="ellipse">
            <a:avLst/>
          </a:prstGeom>
          <a:solidFill>
            <a:srgbClr val="FFFFFF"/>
          </a:solidFill>
          <a:ln cap="flat" cmpd="sng" w="38100">
            <a:solidFill>
              <a:srgbClr val="007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5" name="Google Shape;695;p12"/>
          <p:cNvSpPr/>
          <p:nvPr/>
        </p:nvSpPr>
        <p:spPr>
          <a:xfrm>
            <a:off x="8423196" y="325327"/>
            <a:ext cx="214313" cy="214313"/>
          </a:xfrm>
          <a:prstGeom prst="ellipse">
            <a:avLst/>
          </a:prstGeom>
          <a:solidFill>
            <a:srgbClr val="FFC400"/>
          </a:solidFill>
          <a:ln cap="flat" cmpd="sng" w="9525">
            <a:solidFill>
              <a:srgbClr val="FFC4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6" name="Google Shape;696;p12"/>
          <p:cNvSpPr/>
          <p:nvPr/>
        </p:nvSpPr>
        <p:spPr>
          <a:xfrm>
            <a:off x="6995875" y="309467"/>
            <a:ext cx="571500" cy="214313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075E4C"/>
                </a:solidFill>
                <a:latin typeface="Arial"/>
                <a:ea typeface="Arial"/>
                <a:cs typeface="Arial"/>
                <a:sym typeface="Arial"/>
              </a:rPr>
              <a:t>ride</a:t>
            </a:r>
            <a:endParaRPr sz="1100"/>
          </a:p>
        </p:txBody>
      </p:sp>
      <p:sp>
        <p:nvSpPr>
          <p:cNvPr id="697" name="Google Shape;697;p12"/>
          <p:cNvSpPr/>
          <p:nvPr/>
        </p:nvSpPr>
        <p:spPr>
          <a:xfrm>
            <a:off x="385763" y="1071563"/>
            <a:ext cx="8358188" cy="1071563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9525">
            <a:solidFill>
              <a:srgbClr val="DCE4EC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dir="5400000" dist="9525">
              <a:srgbClr val="000000">
                <a:alpha val="5882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8" name="Google Shape;698;p12"/>
          <p:cNvSpPr/>
          <p:nvPr/>
        </p:nvSpPr>
        <p:spPr>
          <a:xfrm>
            <a:off x="600075" y="1185863"/>
            <a:ext cx="1571625" cy="214313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rgbClr val="D97706"/>
                </a:solidFill>
                <a:latin typeface="Arial"/>
                <a:ea typeface="Arial"/>
                <a:cs typeface="Arial"/>
                <a:sym typeface="Arial"/>
              </a:rPr>
              <a:t>Rollout roadmap</a:t>
            </a:r>
            <a:endParaRPr sz="1100"/>
          </a:p>
        </p:txBody>
      </p:sp>
      <p:sp>
        <p:nvSpPr>
          <p:cNvPr id="699" name="Google Shape;699;p12"/>
          <p:cNvSpPr/>
          <p:nvPr/>
        </p:nvSpPr>
        <p:spPr>
          <a:xfrm>
            <a:off x="714375" y="1471613"/>
            <a:ext cx="257175" cy="257175"/>
          </a:xfrm>
          <a:prstGeom prst="ellipse">
            <a:avLst/>
          </a:prstGeom>
          <a:solidFill>
            <a:srgbClr val="FFC400"/>
          </a:solidFill>
          <a:ln cap="flat" cmpd="sng" w="9525">
            <a:solidFill>
              <a:srgbClr val="FFC4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0" name="Google Shape;700;p12"/>
          <p:cNvSpPr/>
          <p:nvPr/>
        </p:nvSpPr>
        <p:spPr>
          <a:xfrm>
            <a:off x="714375" y="1521619"/>
            <a:ext cx="257175" cy="185738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100"/>
          </a:p>
        </p:txBody>
      </p:sp>
      <p:sp>
        <p:nvSpPr>
          <p:cNvPr id="701" name="Google Shape;701;p12"/>
          <p:cNvSpPr/>
          <p:nvPr/>
        </p:nvSpPr>
        <p:spPr>
          <a:xfrm>
            <a:off x="1028700" y="1464469"/>
            <a:ext cx="900113" cy="1714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rPr>
              <a:t>Audit</a:t>
            </a:r>
            <a:endParaRPr sz="1100"/>
          </a:p>
        </p:txBody>
      </p:sp>
      <p:sp>
        <p:nvSpPr>
          <p:cNvPr id="702" name="Google Shape;702;p12"/>
          <p:cNvSpPr/>
          <p:nvPr/>
        </p:nvSpPr>
        <p:spPr>
          <a:xfrm>
            <a:off x="714375" y="1728788"/>
            <a:ext cx="1143000" cy="242888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800">
                <a:solidFill>
                  <a:srgbClr val="536170"/>
                </a:solidFill>
                <a:latin typeface="Arial"/>
                <a:ea typeface="Arial"/>
                <a:cs typeface="Arial"/>
                <a:sym typeface="Arial"/>
              </a:rPr>
              <a:t>Map rider data flows</a:t>
            </a:r>
            <a:endParaRPr sz="1100"/>
          </a:p>
        </p:txBody>
      </p:sp>
      <p:sp>
        <p:nvSpPr>
          <p:cNvPr id="703" name="Google Shape;703;p12"/>
          <p:cNvSpPr/>
          <p:nvPr/>
        </p:nvSpPr>
        <p:spPr>
          <a:xfrm>
            <a:off x="1928813" y="1514475"/>
            <a:ext cx="171450" cy="157163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rgbClr val="536170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 sz="1100"/>
          </a:p>
        </p:txBody>
      </p:sp>
      <p:sp>
        <p:nvSpPr>
          <p:cNvPr id="704" name="Google Shape;704;p12"/>
          <p:cNvSpPr/>
          <p:nvPr/>
        </p:nvSpPr>
        <p:spPr>
          <a:xfrm>
            <a:off x="2271713" y="1471613"/>
            <a:ext cx="257175" cy="257175"/>
          </a:xfrm>
          <a:prstGeom prst="ellipse">
            <a:avLst/>
          </a:prstGeom>
          <a:solidFill>
            <a:srgbClr val="FFC400"/>
          </a:solidFill>
          <a:ln cap="flat" cmpd="sng" w="9525">
            <a:solidFill>
              <a:srgbClr val="FFC4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5" name="Google Shape;705;p12"/>
          <p:cNvSpPr/>
          <p:nvPr/>
        </p:nvSpPr>
        <p:spPr>
          <a:xfrm>
            <a:off x="2271713" y="1521619"/>
            <a:ext cx="257175" cy="185738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100"/>
          </a:p>
        </p:txBody>
      </p:sp>
      <p:sp>
        <p:nvSpPr>
          <p:cNvPr id="706" name="Google Shape;706;p12"/>
          <p:cNvSpPr/>
          <p:nvPr/>
        </p:nvSpPr>
        <p:spPr>
          <a:xfrm>
            <a:off x="2586038" y="1464469"/>
            <a:ext cx="900113" cy="1714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rPr>
              <a:t>Prototype</a:t>
            </a:r>
            <a:endParaRPr sz="1100"/>
          </a:p>
        </p:txBody>
      </p:sp>
      <p:sp>
        <p:nvSpPr>
          <p:cNvPr id="707" name="Google Shape;707;p12"/>
          <p:cNvSpPr/>
          <p:nvPr/>
        </p:nvSpPr>
        <p:spPr>
          <a:xfrm>
            <a:off x="2271713" y="1728788"/>
            <a:ext cx="1143000" cy="242888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800">
                <a:solidFill>
                  <a:srgbClr val="536170"/>
                </a:solidFill>
                <a:latin typeface="Arial"/>
                <a:ea typeface="Arial"/>
                <a:cs typeface="Arial"/>
                <a:sym typeface="Arial"/>
              </a:rPr>
              <a:t>Test clarity and usability</a:t>
            </a:r>
            <a:endParaRPr sz="1100"/>
          </a:p>
        </p:txBody>
      </p:sp>
      <p:sp>
        <p:nvSpPr>
          <p:cNvPr id="708" name="Google Shape;708;p12"/>
          <p:cNvSpPr/>
          <p:nvPr/>
        </p:nvSpPr>
        <p:spPr>
          <a:xfrm>
            <a:off x="3486150" y="1514475"/>
            <a:ext cx="171450" cy="157163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rgbClr val="536170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 sz="1100"/>
          </a:p>
        </p:txBody>
      </p:sp>
      <p:sp>
        <p:nvSpPr>
          <p:cNvPr id="709" name="Google Shape;709;p12"/>
          <p:cNvSpPr/>
          <p:nvPr/>
        </p:nvSpPr>
        <p:spPr>
          <a:xfrm>
            <a:off x="3829050" y="1471613"/>
            <a:ext cx="257175" cy="257175"/>
          </a:xfrm>
          <a:prstGeom prst="ellipse">
            <a:avLst/>
          </a:prstGeom>
          <a:solidFill>
            <a:srgbClr val="FFC400"/>
          </a:solidFill>
          <a:ln cap="flat" cmpd="sng" w="9525">
            <a:solidFill>
              <a:srgbClr val="FFC4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0" name="Google Shape;710;p12"/>
          <p:cNvSpPr/>
          <p:nvPr/>
        </p:nvSpPr>
        <p:spPr>
          <a:xfrm>
            <a:off x="3829050" y="1521619"/>
            <a:ext cx="257175" cy="185738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100"/>
          </a:p>
        </p:txBody>
      </p:sp>
      <p:sp>
        <p:nvSpPr>
          <p:cNvPr id="711" name="Google Shape;711;p12"/>
          <p:cNvSpPr/>
          <p:nvPr/>
        </p:nvSpPr>
        <p:spPr>
          <a:xfrm>
            <a:off x="4143375" y="1464469"/>
            <a:ext cx="900113" cy="1714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rPr>
              <a:t>Dogfood</a:t>
            </a:r>
            <a:endParaRPr sz="1100"/>
          </a:p>
        </p:txBody>
      </p:sp>
      <p:sp>
        <p:nvSpPr>
          <p:cNvPr id="712" name="Google Shape;712;p12"/>
          <p:cNvSpPr/>
          <p:nvPr/>
        </p:nvSpPr>
        <p:spPr>
          <a:xfrm>
            <a:off x="3829050" y="1728788"/>
            <a:ext cx="1143000" cy="242888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800">
                <a:solidFill>
                  <a:srgbClr val="536170"/>
                </a:solidFill>
                <a:latin typeface="Arial"/>
                <a:ea typeface="Arial"/>
                <a:cs typeface="Arial"/>
                <a:sym typeface="Arial"/>
              </a:rPr>
              <a:t>Use internal riders and Captains</a:t>
            </a:r>
            <a:endParaRPr sz="1100"/>
          </a:p>
        </p:txBody>
      </p:sp>
      <p:sp>
        <p:nvSpPr>
          <p:cNvPr id="713" name="Google Shape;713;p12"/>
          <p:cNvSpPr/>
          <p:nvPr/>
        </p:nvSpPr>
        <p:spPr>
          <a:xfrm>
            <a:off x="5043488" y="1514475"/>
            <a:ext cx="171450" cy="157163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rgbClr val="536170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 sz="1100"/>
          </a:p>
        </p:txBody>
      </p:sp>
      <p:sp>
        <p:nvSpPr>
          <p:cNvPr id="714" name="Google Shape;714;p12"/>
          <p:cNvSpPr/>
          <p:nvPr/>
        </p:nvSpPr>
        <p:spPr>
          <a:xfrm>
            <a:off x="5386388" y="1471613"/>
            <a:ext cx="257175" cy="257175"/>
          </a:xfrm>
          <a:prstGeom prst="ellipse">
            <a:avLst/>
          </a:prstGeom>
          <a:solidFill>
            <a:srgbClr val="FFC400"/>
          </a:solidFill>
          <a:ln cap="flat" cmpd="sng" w="9525">
            <a:solidFill>
              <a:srgbClr val="FFC4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5" name="Google Shape;715;p12"/>
          <p:cNvSpPr/>
          <p:nvPr/>
        </p:nvSpPr>
        <p:spPr>
          <a:xfrm>
            <a:off x="5386388" y="1521619"/>
            <a:ext cx="257175" cy="185738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100"/>
          </a:p>
        </p:txBody>
      </p:sp>
      <p:sp>
        <p:nvSpPr>
          <p:cNvPr id="716" name="Google Shape;716;p12"/>
          <p:cNvSpPr/>
          <p:nvPr/>
        </p:nvSpPr>
        <p:spPr>
          <a:xfrm>
            <a:off x="5700713" y="1464469"/>
            <a:ext cx="900113" cy="1714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rPr>
              <a:t>One-city beta</a:t>
            </a:r>
            <a:endParaRPr sz="1100"/>
          </a:p>
        </p:txBody>
      </p:sp>
      <p:sp>
        <p:nvSpPr>
          <p:cNvPr id="717" name="Google Shape;717;p12"/>
          <p:cNvSpPr/>
          <p:nvPr/>
        </p:nvSpPr>
        <p:spPr>
          <a:xfrm>
            <a:off x="5386388" y="1728788"/>
            <a:ext cx="1143000" cy="242888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800">
                <a:solidFill>
                  <a:srgbClr val="536170"/>
                </a:solidFill>
                <a:latin typeface="Arial"/>
                <a:ea typeface="Arial"/>
                <a:cs typeface="Arial"/>
                <a:sym typeface="Arial"/>
              </a:rPr>
              <a:t>Watch incidents and NPS</a:t>
            </a:r>
            <a:endParaRPr sz="1100"/>
          </a:p>
        </p:txBody>
      </p:sp>
      <p:sp>
        <p:nvSpPr>
          <p:cNvPr id="718" name="Google Shape;718;p12"/>
          <p:cNvSpPr/>
          <p:nvPr/>
        </p:nvSpPr>
        <p:spPr>
          <a:xfrm>
            <a:off x="6600825" y="1514475"/>
            <a:ext cx="171450" cy="157163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rgbClr val="536170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 sz="1100"/>
          </a:p>
        </p:txBody>
      </p:sp>
      <p:sp>
        <p:nvSpPr>
          <p:cNvPr id="719" name="Google Shape;719;p12"/>
          <p:cNvSpPr/>
          <p:nvPr/>
        </p:nvSpPr>
        <p:spPr>
          <a:xfrm>
            <a:off x="6943725" y="1471613"/>
            <a:ext cx="257175" cy="257175"/>
          </a:xfrm>
          <a:prstGeom prst="ellipse">
            <a:avLst/>
          </a:prstGeom>
          <a:solidFill>
            <a:srgbClr val="FFC400"/>
          </a:solidFill>
          <a:ln cap="flat" cmpd="sng" w="9525">
            <a:solidFill>
              <a:srgbClr val="FFC4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0" name="Google Shape;720;p12"/>
          <p:cNvSpPr/>
          <p:nvPr/>
        </p:nvSpPr>
        <p:spPr>
          <a:xfrm>
            <a:off x="6943725" y="1521619"/>
            <a:ext cx="257175" cy="185738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100"/>
          </a:p>
        </p:txBody>
      </p:sp>
      <p:sp>
        <p:nvSpPr>
          <p:cNvPr id="721" name="Google Shape;721;p12"/>
          <p:cNvSpPr/>
          <p:nvPr/>
        </p:nvSpPr>
        <p:spPr>
          <a:xfrm>
            <a:off x="7258050" y="1464469"/>
            <a:ext cx="900113" cy="1714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rPr>
              <a:t>Expand</a:t>
            </a:r>
            <a:endParaRPr sz="1100"/>
          </a:p>
        </p:txBody>
      </p:sp>
      <p:sp>
        <p:nvSpPr>
          <p:cNvPr id="722" name="Google Shape;722;p12"/>
          <p:cNvSpPr/>
          <p:nvPr/>
        </p:nvSpPr>
        <p:spPr>
          <a:xfrm>
            <a:off x="6943725" y="1728788"/>
            <a:ext cx="1143000" cy="242888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800">
                <a:solidFill>
                  <a:srgbClr val="536170"/>
                </a:solidFill>
                <a:latin typeface="Arial"/>
                <a:ea typeface="Arial"/>
                <a:cs typeface="Arial"/>
                <a:sym typeface="Arial"/>
              </a:rPr>
              <a:t>Roll out city by city</a:t>
            </a:r>
            <a:endParaRPr sz="1100"/>
          </a:p>
        </p:txBody>
      </p:sp>
      <p:sp>
        <p:nvSpPr>
          <p:cNvPr id="723" name="Google Shape;723;p12"/>
          <p:cNvSpPr/>
          <p:nvPr/>
        </p:nvSpPr>
        <p:spPr>
          <a:xfrm>
            <a:off x="1257300" y="2171700"/>
            <a:ext cx="6629400" cy="257175"/>
          </a:xfrm>
          <a:prstGeom prst="roundRect">
            <a:avLst>
              <a:gd fmla="val 22222" name="adj"/>
            </a:avLst>
          </a:prstGeom>
          <a:solidFill>
            <a:srgbClr val="FFF6D8"/>
          </a:solidFill>
          <a:ln cap="flat" cmpd="sng" w="9525">
            <a:solidFill>
              <a:srgbClr val="FFF6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4" name="Google Shape;724;p12"/>
          <p:cNvSpPr/>
          <p:nvPr/>
        </p:nvSpPr>
        <p:spPr>
          <a:xfrm>
            <a:off x="1343025" y="2207419"/>
            <a:ext cx="6457950" cy="200025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rPr>
              <a:t>Do not A/B-test baseline privacy protection. Test UX clarity, education copy, and retention choices.</a:t>
            </a:r>
            <a:endParaRPr sz="1100"/>
          </a:p>
        </p:txBody>
      </p:sp>
      <p:sp>
        <p:nvSpPr>
          <p:cNvPr id="725" name="Google Shape;725;p12"/>
          <p:cNvSpPr/>
          <p:nvPr/>
        </p:nvSpPr>
        <p:spPr>
          <a:xfrm>
            <a:off x="385763" y="2543175"/>
            <a:ext cx="5429250" cy="1314450"/>
          </a:xfrm>
          <a:prstGeom prst="roundRect">
            <a:avLst>
              <a:gd fmla="val 6522" name="adj"/>
            </a:avLst>
          </a:prstGeom>
          <a:solidFill>
            <a:srgbClr val="FFFFFF"/>
          </a:solidFill>
          <a:ln cap="flat" cmpd="sng" w="9525">
            <a:solidFill>
              <a:srgbClr val="DCE4EC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dir="5400000" dist="9525">
              <a:srgbClr val="000000">
                <a:alpha val="5882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6" name="Google Shape;726;p12"/>
          <p:cNvSpPr/>
          <p:nvPr/>
        </p:nvSpPr>
        <p:spPr>
          <a:xfrm>
            <a:off x="600075" y="2700338"/>
            <a:ext cx="1785937" cy="200025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rgbClr val="075E4C"/>
                </a:solidFill>
                <a:latin typeface="Arial"/>
                <a:ea typeface="Arial"/>
                <a:cs typeface="Arial"/>
                <a:sym typeface="Arial"/>
              </a:rPr>
              <a:t>Risks and trade-offs</a:t>
            </a:r>
            <a:endParaRPr sz="1100"/>
          </a:p>
        </p:txBody>
      </p:sp>
      <p:sp>
        <p:nvSpPr>
          <p:cNvPr id="727" name="Google Shape;727;p12"/>
          <p:cNvSpPr/>
          <p:nvPr/>
        </p:nvSpPr>
        <p:spPr>
          <a:xfrm>
            <a:off x="600075" y="2928938"/>
            <a:ext cx="785813" cy="157163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>
                <a:solidFill>
                  <a:srgbClr val="075E4C"/>
                </a:solidFill>
                <a:latin typeface="Arial"/>
                <a:ea typeface="Arial"/>
                <a:cs typeface="Arial"/>
                <a:sym typeface="Arial"/>
              </a:rPr>
              <a:t>Dimension</a:t>
            </a:r>
            <a:endParaRPr sz="1100"/>
          </a:p>
        </p:txBody>
      </p:sp>
      <p:sp>
        <p:nvSpPr>
          <p:cNvPr id="728" name="Google Shape;728;p12"/>
          <p:cNvSpPr/>
          <p:nvPr/>
        </p:nvSpPr>
        <p:spPr>
          <a:xfrm>
            <a:off x="1557338" y="2928938"/>
            <a:ext cx="1285875" cy="157163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>
                <a:solidFill>
                  <a:srgbClr val="075E4C"/>
                </a:solidFill>
                <a:latin typeface="Arial"/>
                <a:ea typeface="Arial"/>
                <a:cs typeface="Arial"/>
                <a:sym typeface="Arial"/>
              </a:rPr>
              <a:t>Risk</a:t>
            </a:r>
            <a:endParaRPr sz="1100"/>
          </a:p>
        </p:txBody>
      </p:sp>
      <p:sp>
        <p:nvSpPr>
          <p:cNvPr id="729" name="Google Shape;729;p12"/>
          <p:cNvSpPr/>
          <p:nvPr/>
        </p:nvSpPr>
        <p:spPr>
          <a:xfrm>
            <a:off x="3071813" y="2928938"/>
            <a:ext cx="1285875" cy="157163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>
                <a:solidFill>
                  <a:srgbClr val="075E4C"/>
                </a:solidFill>
                <a:latin typeface="Arial"/>
                <a:ea typeface="Arial"/>
                <a:cs typeface="Arial"/>
                <a:sym typeface="Arial"/>
              </a:rPr>
              <a:t>Mitigation</a:t>
            </a:r>
            <a:endParaRPr sz="1100"/>
          </a:p>
        </p:txBody>
      </p:sp>
      <p:sp>
        <p:nvSpPr>
          <p:cNvPr id="730" name="Google Shape;730;p12"/>
          <p:cNvSpPr/>
          <p:nvPr/>
        </p:nvSpPr>
        <p:spPr>
          <a:xfrm>
            <a:off x="4357688" y="2928938"/>
            <a:ext cx="1285875" cy="157163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>
                <a:solidFill>
                  <a:srgbClr val="075E4C"/>
                </a:solidFill>
                <a:latin typeface="Arial"/>
                <a:ea typeface="Arial"/>
                <a:cs typeface="Arial"/>
                <a:sym typeface="Arial"/>
              </a:rPr>
              <a:t>Trade-off</a:t>
            </a:r>
            <a:endParaRPr sz="1100"/>
          </a:p>
        </p:txBody>
      </p:sp>
      <p:sp>
        <p:nvSpPr>
          <p:cNvPr id="731" name="Google Shape;731;p12"/>
          <p:cNvSpPr/>
          <p:nvPr/>
        </p:nvSpPr>
        <p:spPr>
          <a:xfrm>
            <a:off x="600075" y="3043238"/>
            <a:ext cx="800100" cy="157163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700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rPr>
              <a:t>Engineering</a:t>
            </a:r>
            <a:endParaRPr sz="1100"/>
          </a:p>
        </p:txBody>
      </p:sp>
      <p:sp>
        <p:nvSpPr>
          <p:cNvPr id="732" name="Google Shape;732;p12"/>
          <p:cNvSpPr/>
          <p:nvPr/>
        </p:nvSpPr>
        <p:spPr>
          <a:xfrm>
            <a:off x="1557350" y="3043250"/>
            <a:ext cx="1183200" cy="1287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700">
                <a:solidFill>
                  <a:srgbClr val="536170"/>
                </a:solidFill>
                <a:latin typeface="Arial"/>
                <a:ea typeface="Arial"/>
                <a:cs typeface="Arial"/>
                <a:sym typeface="Arial"/>
              </a:rPr>
              <a:t>Masking and expiry </a:t>
            </a:r>
            <a:r>
              <a:rPr lang="en-GB" sz="700">
                <a:solidFill>
                  <a:srgbClr val="536170"/>
                </a:solidFill>
              </a:rPr>
              <a:t>orchestration</a:t>
            </a:r>
            <a:endParaRPr sz="1100"/>
          </a:p>
        </p:txBody>
      </p:sp>
      <p:sp>
        <p:nvSpPr>
          <p:cNvPr id="733" name="Google Shape;733;p12"/>
          <p:cNvSpPr/>
          <p:nvPr/>
        </p:nvSpPr>
        <p:spPr>
          <a:xfrm>
            <a:off x="3071813" y="3043238"/>
            <a:ext cx="1285875" cy="157163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700">
                <a:solidFill>
                  <a:srgbClr val="536170"/>
                </a:solidFill>
                <a:latin typeface="Arial"/>
                <a:ea typeface="Arial"/>
                <a:cs typeface="Arial"/>
                <a:sym typeface="Arial"/>
              </a:rPr>
              <a:t>Modular services, flags</a:t>
            </a:r>
            <a:endParaRPr sz="1100"/>
          </a:p>
        </p:txBody>
      </p:sp>
      <p:sp>
        <p:nvSpPr>
          <p:cNvPr id="734" name="Google Shape;734;p12"/>
          <p:cNvSpPr/>
          <p:nvPr/>
        </p:nvSpPr>
        <p:spPr>
          <a:xfrm>
            <a:off x="4357688" y="3043238"/>
            <a:ext cx="1285875" cy="157163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700">
                <a:solidFill>
                  <a:srgbClr val="536170"/>
                </a:solidFill>
                <a:latin typeface="Arial"/>
                <a:ea typeface="Arial"/>
                <a:cs typeface="Arial"/>
                <a:sym typeface="Arial"/>
              </a:rPr>
              <a:t>More build effort</a:t>
            </a:r>
            <a:endParaRPr sz="1100"/>
          </a:p>
        </p:txBody>
      </p:sp>
      <p:sp>
        <p:nvSpPr>
          <p:cNvPr id="735" name="Google Shape;735;p12"/>
          <p:cNvSpPr/>
          <p:nvPr/>
        </p:nvSpPr>
        <p:spPr>
          <a:xfrm>
            <a:off x="600075" y="3243263"/>
            <a:ext cx="800100" cy="157163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700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rPr>
              <a:t>Business</a:t>
            </a:r>
            <a:endParaRPr sz="1100"/>
          </a:p>
        </p:txBody>
      </p:sp>
      <p:sp>
        <p:nvSpPr>
          <p:cNvPr id="736" name="Google Shape;736;p12"/>
          <p:cNvSpPr/>
          <p:nvPr/>
        </p:nvSpPr>
        <p:spPr>
          <a:xfrm>
            <a:off x="1557338" y="3243263"/>
            <a:ext cx="1285875" cy="157163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700">
                <a:solidFill>
                  <a:srgbClr val="536170"/>
                </a:solidFill>
                <a:latin typeface="Arial"/>
                <a:ea typeface="Arial"/>
                <a:cs typeface="Arial"/>
                <a:sym typeface="Arial"/>
              </a:rPr>
              <a:t>Extra steps may affect conversion</a:t>
            </a:r>
            <a:endParaRPr sz="1100"/>
          </a:p>
        </p:txBody>
      </p:sp>
      <p:sp>
        <p:nvSpPr>
          <p:cNvPr id="737" name="Google Shape;737;p12"/>
          <p:cNvSpPr/>
          <p:nvPr/>
        </p:nvSpPr>
        <p:spPr>
          <a:xfrm>
            <a:off x="3071813" y="3243263"/>
            <a:ext cx="1285875" cy="157163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700">
                <a:solidFill>
                  <a:srgbClr val="536170"/>
                </a:solidFill>
                <a:latin typeface="Arial"/>
                <a:ea typeface="Arial"/>
                <a:cs typeface="Arial"/>
                <a:sym typeface="Arial"/>
              </a:rPr>
              <a:t>Plain copy and soft nudges</a:t>
            </a:r>
            <a:endParaRPr sz="1100"/>
          </a:p>
        </p:txBody>
      </p:sp>
      <p:sp>
        <p:nvSpPr>
          <p:cNvPr id="738" name="Google Shape;738;p12"/>
          <p:cNvSpPr/>
          <p:nvPr/>
        </p:nvSpPr>
        <p:spPr>
          <a:xfrm>
            <a:off x="4357688" y="3243263"/>
            <a:ext cx="1285875" cy="157163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700">
                <a:solidFill>
                  <a:srgbClr val="536170"/>
                </a:solidFill>
                <a:latin typeface="Arial"/>
                <a:ea typeface="Arial"/>
                <a:cs typeface="Arial"/>
                <a:sym typeface="Arial"/>
              </a:rPr>
              <a:t>Near-term friction</a:t>
            </a:r>
            <a:endParaRPr sz="1100"/>
          </a:p>
        </p:txBody>
      </p:sp>
      <p:sp>
        <p:nvSpPr>
          <p:cNvPr id="739" name="Google Shape;739;p12"/>
          <p:cNvSpPr/>
          <p:nvPr/>
        </p:nvSpPr>
        <p:spPr>
          <a:xfrm>
            <a:off x="600075" y="3443288"/>
            <a:ext cx="800100" cy="157163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700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rPr>
              <a:t>User</a:t>
            </a:r>
            <a:endParaRPr sz="1100"/>
          </a:p>
        </p:txBody>
      </p:sp>
      <p:sp>
        <p:nvSpPr>
          <p:cNvPr id="740" name="Google Shape;740;p12"/>
          <p:cNvSpPr/>
          <p:nvPr/>
        </p:nvSpPr>
        <p:spPr>
          <a:xfrm>
            <a:off x="1557338" y="3443288"/>
            <a:ext cx="1285875" cy="157163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700">
                <a:solidFill>
                  <a:srgbClr val="536170"/>
                </a:solidFill>
                <a:latin typeface="Arial"/>
                <a:ea typeface="Arial"/>
                <a:cs typeface="Arial"/>
                <a:sym typeface="Arial"/>
              </a:rPr>
              <a:t>Confusion around leases</a:t>
            </a:r>
            <a:endParaRPr sz="1100"/>
          </a:p>
        </p:txBody>
      </p:sp>
      <p:sp>
        <p:nvSpPr>
          <p:cNvPr id="741" name="Google Shape;741;p12"/>
          <p:cNvSpPr/>
          <p:nvPr/>
        </p:nvSpPr>
        <p:spPr>
          <a:xfrm>
            <a:off x="3071813" y="3443288"/>
            <a:ext cx="1285875" cy="157163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700">
                <a:solidFill>
                  <a:srgbClr val="536170"/>
                </a:solidFill>
                <a:latin typeface="Arial"/>
                <a:ea typeface="Arial"/>
                <a:cs typeface="Arial"/>
                <a:sym typeface="Arial"/>
              </a:rPr>
              <a:t>In-app education</a:t>
            </a:r>
            <a:endParaRPr sz="1100"/>
          </a:p>
        </p:txBody>
      </p:sp>
      <p:sp>
        <p:nvSpPr>
          <p:cNvPr id="742" name="Google Shape;742;p12"/>
          <p:cNvSpPr/>
          <p:nvPr/>
        </p:nvSpPr>
        <p:spPr>
          <a:xfrm>
            <a:off x="4357688" y="3443288"/>
            <a:ext cx="1285875" cy="157163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700">
                <a:solidFill>
                  <a:srgbClr val="536170"/>
                </a:solidFill>
                <a:latin typeface="Arial"/>
                <a:ea typeface="Arial"/>
                <a:cs typeface="Arial"/>
                <a:sym typeface="Arial"/>
              </a:rPr>
              <a:t>Support effort</a:t>
            </a:r>
            <a:endParaRPr sz="1100"/>
          </a:p>
        </p:txBody>
      </p:sp>
      <p:sp>
        <p:nvSpPr>
          <p:cNvPr id="743" name="Google Shape;743;p12"/>
          <p:cNvSpPr/>
          <p:nvPr/>
        </p:nvSpPr>
        <p:spPr>
          <a:xfrm>
            <a:off x="600075" y="3643313"/>
            <a:ext cx="800100" cy="157163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700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rPr>
              <a:t>Legal</a:t>
            </a:r>
            <a:endParaRPr sz="1100"/>
          </a:p>
        </p:txBody>
      </p:sp>
      <p:sp>
        <p:nvSpPr>
          <p:cNvPr id="744" name="Google Shape;744;p12"/>
          <p:cNvSpPr/>
          <p:nvPr/>
        </p:nvSpPr>
        <p:spPr>
          <a:xfrm>
            <a:off x="1557338" y="3643313"/>
            <a:ext cx="1285875" cy="157163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700">
                <a:solidFill>
                  <a:srgbClr val="536170"/>
                </a:solidFill>
                <a:latin typeface="Arial"/>
                <a:ea typeface="Arial"/>
                <a:cs typeface="Arial"/>
                <a:sym typeface="Arial"/>
              </a:rPr>
              <a:t>DPDP interpretation evolves</a:t>
            </a:r>
            <a:endParaRPr sz="1100"/>
          </a:p>
        </p:txBody>
      </p:sp>
      <p:sp>
        <p:nvSpPr>
          <p:cNvPr id="745" name="Google Shape;745;p12"/>
          <p:cNvSpPr/>
          <p:nvPr/>
        </p:nvSpPr>
        <p:spPr>
          <a:xfrm>
            <a:off x="3071813" y="3643313"/>
            <a:ext cx="1285875" cy="157163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700">
                <a:solidFill>
                  <a:srgbClr val="536170"/>
                </a:solidFill>
                <a:latin typeface="Arial"/>
                <a:ea typeface="Arial"/>
                <a:cs typeface="Arial"/>
                <a:sym typeface="Arial"/>
              </a:rPr>
              <a:t>Regular reviews</a:t>
            </a:r>
            <a:endParaRPr sz="1100"/>
          </a:p>
        </p:txBody>
      </p:sp>
      <p:sp>
        <p:nvSpPr>
          <p:cNvPr id="746" name="Google Shape;746;p12"/>
          <p:cNvSpPr/>
          <p:nvPr/>
        </p:nvSpPr>
        <p:spPr>
          <a:xfrm>
            <a:off x="4357688" y="3643313"/>
            <a:ext cx="1285875" cy="157163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700">
                <a:solidFill>
                  <a:srgbClr val="536170"/>
                </a:solidFill>
                <a:latin typeface="Arial"/>
                <a:ea typeface="Arial"/>
                <a:cs typeface="Arial"/>
                <a:sym typeface="Arial"/>
              </a:rPr>
              <a:t>Conservative defaults</a:t>
            </a:r>
            <a:endParaRPr sz="1100"/>
          </a:p>
        </p:txBody>
      </p:sp>
      <p:sp>
        <p:nvSpPr>
          <p:cNvPr id="747" name="Google Shape;747;p12"/>
          <p:cNvSpPr/>
          <p:nvPr/>
        </p:nvSpPr>
        <p:spPr>
          <a:xfrm>
            <a:off x="6029325" y="2543175"/>
            <a:ext cx="2714625" cy="1314450"/>
          </a:xfrm>
          <a:prstGeom prst="roundRect">
            <a:avLst>
              <a:gd fmla="val 6522" name="adj"/>
            </a:avLst>
          </a:prstGeom>
          <a:solidFill>
            <a:srgbClr val="FFFFFF"/>
          </a:solidFill>
          <a:ln cap="flat" cmpd="sng" w="9525">
            <a:solidFill>
              <a:srgbClr val="DCE4EC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dir="5400000" dist="9525">
              <a:srgbClr val="000000">
                <a:alpha val="5882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8" name="Google Shape;748;p12"/>
          <p:cNvSpPr/>
          <p:nvPr/>
        </p:nvSpPr>
        <p:spPr>
          <a:xfrm>
            <a:off x="6243638" y="2700338"/>
            <a:ext cx="1643063" cy="200025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rgbClr val="D97706"/>
                </a:solidFill>
                <a:latin typeface="Arial"/>
                <a:ea typeface="Arial"/>
                <a:cs typeface="Arial"/>
                <a:sym typeface="Arial"/>
              </a:rPr>
              <a:t>Named edge cases</a:t>
            </a:r>
            <a:endParaRPr sz="1100"/>
          </a:p>
        </p:txBody>
      </p:sp>
      <p:sp>
        <p:nvSpPr>
          <p:cNvPr id="749" name="Google Shape;749;p12"/>
          <p:cNvSpPr/>
          <p:nvPr/>
        </p:nvSpPr>
        <p:spPr>
          <a:xfrm>
            <a:off x="6243638" y="3000375"/>
            <a:ext cx="885825" cy="200025"/>
          </a:xfrm>
          <a:prstGeom prst="roundRect">
            <a:avLst>
              <a:gd fmla="val 28571" name="adj"/>
            </a:avLst>
          </a:prstGeom>
          <a:solidFill>
            <a:srgbClr val="EAF2FF"/>
          </a:solidFill>
          <a:ln cap="flat" cmpd="sng" w="9525">
            <a:solidFill>
              <a:srgbClr val="EAF2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0" name="Google Shape;750;p12"/>
          <p:cNvSpPr/>
          <p:nvPr/>
        </p:nvSpPr>
        <p:spPr>
          <a:xfrm>
            <a:off x="6329363" y="3036094"/>
            <a:ext cx="714375" cy="142875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700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Consent decline</a:t>
            </a:r>
            <a:endParaRPr sz="1100"/>
          </a:p>
        </p:txBody>
      </p:sp>
      <p:sp>
        <p:nvSpPr>
          <p:cNvPr id="751" name="Google Shape;751;p12"/>
          <p:cNvSpPr/>
          <p:nvPr/>
        </p:nvSpPr>
        <p:spPr>
          <a:xfrm>
            <a:off x="7215188" y="3007519"/>
            <a:ext cx="1243013" cy="200025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700">
                <a:solidFill>
                  <a:srgbClr val="536170"/>
                </a:solidFill>
                <a:latin typeface="Arial"/>
                <a:ea typeface="Arial"/>
                <a:cs typeface="Arial"/>
                <a:sym typeface="Arial"/>
              </a:rPr>
              <a:t>Optional uses stop; necessary ride processing continues.</a:t>
            </a:r>
            <a:endParaRPr sz="1100"/>
          </a:p>
        </p:txBody>
      </p:sp>
      <p:sp>
        <p:nvSpPr>
          <p:cNvPr id="752" name="Google Shape;752;p12"/>
          <p:cNvSpPr/>
          <p:nvPr/>
        </p:nvSpPr>
        <p:spPr>
          <a:xfrm>
            <a:off x="6243638" y="3271838"/>
            <a:ext cx="885825" cy="200025"/>
          </a:xfrm>
          <a:prstGeom prst="roundRect">
            <a:avLst>
              <a:gd fmla="val 28571" name="adj"/>
            </a:avLst>
          </a:prstGeom>
          <a:solidFill>
            <a:srgbClr val="E7F6EF"/>
          </a:solidFill>
          <a:ln cap="flat" cmpd="sng" w="9525">
            <a:solidFill>
              <a:srgbClr val="E7F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3" name="Google Shape;753;p12"/>
          <p:cNvSpPr/>
          <p:nvPr/>
        </p:nvSpPr>
        <p:spPr>
          <a:xfrm>
            <a:off x="6329363" y="3307556"/>
            <a:ext cx="714375" cy="142875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700">
                <a:solidFill>
                  <a:srgbClr val="075E4C"/>
                </a:solidFill>
                <a:latin typeface="Arial"/>
                <a:ea typeface="Arial"/>
                <a:cs typeface="Arial"/>
                <a:sym typeface="Arial"/>
              </a:rPr>
              <a:t>Child users</a:t>
            </a:r>
            <a:endParaRPr sz="1100"/>
          </a:p>
        </p:txBody>
      </p:sp>
      <p:sp>
        <p:nvSpPr>
          <p:cNvPr id="754" name="Google Shape;754;p12"/>
          <p:cNvSpPr/>
          <p:nvPr/>
        </p:nvSpPr>
        <p:spPr>
          <a:xfrm>
            <a:off x="7215188" y="3278981"/>
            <a:ext cx="1243013" cy="200025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700">
                <a:solidFill>
                  <a:srgbClr val="536170"/>
                </a:solidFill>
                <a:latin typeface="Arial"/>
                <a:ea typeface="Arial"/>
                <a:cs typeface="Arial"/>
                <a:sym typeface="Arial"/>
              </a:rPr>
              <a:t>Out of v1. Add age signals and parent consent later.</a:t>
            </a:r>
            <a:endParaRPr sz="1100"/>
          </a:p>
        </p:txBody>
      </p:sp>
      <p:sp>
        <p:nvSpPr>
          <p:cNvPr id="755" name="Google Shape;755;p12"/>
          <p:cNvSpPr/>
          <p:nvPr/>
        </p:nvSpPr>
        <p:spPr>
          <a:xfrm>
            <a:off x="6243650" y="3543300"/>
            <a:ext cx="885900" cy="271500"/>
          </a:xfrm>
          <a:prstGeom prst="roundRect">
            <a:avLst>
              <a:gd fmla="val 28571" name="adj"/>
            </a:avLst>
          </a:prstGeom>
          <a:solidFill>
            <a:srgbClr val="F1EAFF"/>
          </a:solidFill>
          <a:ln cap="flat" cmpd="sng" w="9525">
            <a:solidFill>
              <a:srgbClr val="F1EA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6" name="Google Shape;756;p12"/>
          <p:cNvSpPr/>
          <p:nvPr/>
        </p:nvSpPr>
        <p:spPr>
          <a:xfrm>
            <a:off x="6329363" y="3579019"/>
            <a:ext cx="714375" cy="142875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700">
                <a:solidFill>
                  <a:srgbClr val="7C3AED"/>
                </a:solidFill>
                <a:latin typeface="Arial"/>
                <a:ea typeface="Arial"/>
                <a:cs typeface="Arial"/>
                <a:sym typeface="Arial"/>
              </a:rPr>
              <a:t>Deletion requests</a:t>
            </a:r>
            <a:endParaRPr sz="1100"/>
          </a:p>
        </p:txBody>
      </p:sp>
      <p:sp>
        <p:nvSpPr>
          <p:cNvPr id="757" name="Google Shape;757;p12"/>
          <p:cNvSpPr/>
          <p:nvPr/>
        </p:nvSpPr>
        <p:spPr>
          <a:xfrm>
            <a:off x="7215188" y="3550444"/>
            <a:ext cx="1243013" cy="200025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700">
                <a:solidFill>
                  <a:srgbClr val="536170"/>
                </a:solidFill>
                <a:latin typeface="Arial"/>
                <a:ea typeface="Arial"/>
                <a:cs typeface="Arial"/>
                <a:sym typeface="Arial"/>
              </a:rPr>
              <a:t>Delete non-required data; keep legal and safety records.</a:t>
            </a:r>
            <a:endParaRPr sz="1100"/>
          </a:p>
        </p:txBody>
      </p:sp>
      <p:sp>
        <p:nvSpPr>
          <p:cNvPr id="758" name="Google Shape;758;p12"/>
          <p:cNvSpPr/>
          <p:nvPr/>
        </p:nvSpPr>
        <p:spPr>
          <a:xfrm>
            <a:off x="385763" y="4057650"/>
            <a:ext cx="8358188" cy="428625"/>
          </a:xfrm>
          <a:prstGeom prst="roundRect">
            <a:avLst>
              <a:gd fmla="val 20000" name="adj"/>
            </a:avLst>
          </a:prstGeom>
          <a:solidFill>
            <a:srgbClr val="E7F6EF"/>
          </a:solidFill>
          <a:ln cap="flat" cmpd="sng" w="9525">
            <a:solidFill>
              <a:srgbClr val="9DD8C2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dir="5400000" dist="9525">
              <a:srgbClr val="000000">
                <a:alpha val="5882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9" name="Google Shape;759;p12"/>
          <p:cNvSpPr/>
          <p:nvPr/>
        </p:nvSpPr>
        <p:spPr>
          <a:xfrm>
            <a:off x="657225" y="4171950"/>
            <a:ext cx="1500188" cy="214313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400">
                <a:solidFill>
                  <a:srgbClr val="075E4C"/>
                </a:solidFill>
                <a:latin typeface="Arial"/>
                <a:ea typeface="Arial"/>
                <a:cs typeface="Arial"/>
                <a:sym typeface="Arial"/>
              </a:rPr>
              <a:t>Recommendation</a:t>
            </a:r>
            <a:endParaRPr sz="1100"/>
          </a:p>
        </p:txBody>
      </p:sp>
      <p:sp>
        <p:nvSpPr>
          <p:cNvPr id="760" name="Google Shape;760;p12"/>
          <p:cNvSpPr/>
          <p:nvPr/>
        </p:nvSpPr>
        <p:spPr>
          <a:xfrm>
            <a:off x="2314575" y="4171950"/>
            <a:ext cx="5857875" cy="214313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rgbClr val="075E4C"/>
                </a:solidFill>
                <a:latin typeface="Arial"/>
                <a:ea typeface="Arial"/>
                <a:cs typeface="Arial"/>
                <a:sym typeface="Arial"/>
              </a:rPr>
              <a:t>Build Rapido Privacy Shield as default ride infrastructure. It should be invisible when everything works and obvious when users need proof or recourse.</a:t>
            </a:r>
            <a:endParaRPr sz="1100"/>
          </a:p>
        </p:txBody>
      </p:sp>
      <p:sp>
        <p:nvSpPr>
          <p:cNvPr id="761" name="Google Shape;761;p12"/>
          <p:cNvSpPr/>
          <p:nvPr/>
        </p:nvSpPr>
        <p:spPr>
          <a:xfrm>
            <a:off x="600075" y="4629150"/>
            <a:ext cx="6858000" cy="128588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600">
                <a:solidFill>
                  <a:srgbClr val="536170"/>
                </a:solidFill>
                <a:latin typeface="Arial"/>
                <a:ea typeface="Arial"/>
                <a:cs typeface="Arial"/>
                <a:sym typeface="Arial"/>
              </a:rPr>
              <a:t>Sources: MeitY DPDP Act 2023 and DPDP Rules 2025; product details are public-observation assumptions.</a:t>
            </a:r>
            <a:endParaRPr sz="1100"/>
          </a:p>
        </p:txBody>
      </p:sp>
      <p:sp>
        <p:nvSpPr>
          <p:cNvPr id="762" name="Google Shape;762;p12"/>
          <p:cNvSpPr/>
          <p:nvPr/>
        </p:nvSpPr>
        <p:spPr>
          <a:xfrm>
            <a:off x="300038" y="4750594"/>
            <a:ext cx="8543925" cy="7144"/>
          </a:xfrm>
          <a:prstGeom prst="rect">
            <a:avLst/>
          </a:prstGeom>
          <a:solidFill>
            <a:srgbClr val="EEF2F6"/>
          </a:solidFill>
          <a:ln cap="flat" cmpd="sng" w="9525">
            <a:solidFill>
              <a:srgbClr val="EEF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3" name="Google Shape;763;p12"/>
          <p:cNvSpPr/>
          <p:nvPr/>
        </p:nvSpPr>
        <p:spPr>
          <a:xfrm>
            <a:off x="314325" y="4843463"/>
            <a:ext cx="400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700">
                <a:solidFill>
                  <a:srgbClr val="536170"/>
                </a:solidFill>
                <a:latin typeface="Arial"/>
                <a:ea typeface="Arial"/>
                <a:cs typeface="Arial"/>
                <a:sym typeface="Arial"/>
              </a:rPr>
              <a:t>Purpose-bound ride data  |  DPDP product thinking case</a:t>
            </a:r>
            <a:endParaRPr sz="1100"/>
          </a:p>
        </p:txBody>
      </p:sp>
      <p:sp>
        <p:nvSpPr>
          <p:cNvPr id="764" name="Google Shape;764;p12"/>
          <p:cNvSpPr/>
          <p:nvPr/>
        </p:nvSpPr>
        <p:spPr>
          <a:xfrm>
            <a:off x="8572500" y="4843463"/>
            <a:ext cx="285750" cy="157163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700">
                <a:solidFill>
                  <a:srgbClr val="53617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